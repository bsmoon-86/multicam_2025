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8"/>
  </p:notesMasterIdLst>
  <p:sldIdLst>
    <p:sldId id="334" r:id="rId2"/>
    <p:sldId id="322" r:id="rId3"/>
    <p:sldId id="287" r:id="rId4"/>
    <p:sldId id="369" r:id="rId5"/>
    <p:sldId id="370" r:id="rId6"/>
    <p:sldId id="371" r:id="rId7"/>
    <p:sldId id="373" r:id="rId8"/>
    <p:sldId id="402" r:id="rId9"/>
    <p:sldId id="384" r:id="rId10"/>
    <p:sldId id="385" r:id="rId11"/>
    <p:sldId id="383" r:id="rId12"/>
    <p:sldId id="374" r:id="rId13"/>
    <p:sldId id="398" r:id="rId14"/>
    <p:sldId id="375" r:id="rId15"/>
    <p:sldId id="399" r:id="rId16"/>
    <p:sldId id="376" r:id="rId17"/>
    <p:sldId id="401" r:id="rId18"/>
    <p:sldId id="377" r:id="rId19"/>
    <p:sldId id="400" r:id="rId20"/>
    <p:sldId id="378" r:id="rId21"/>
    <p:sldId id="380" r:id="rId22"/>
    <p:sldId id="379" r:id="rId23"/>
    <p:sldId id="381" r:id="rId24"/>
    <p:sldId id="386" r:id="rId25"/>
    <p:sldId id="387" r:id="rId26"/>
    <p:sldId id="388" r:id="rId27"/>
    <p:sldId id="389" r:id="rId28"/>
    <p:sldId id="390" r:id="rId29"/>
    <p:sldId id="391" r:id="rId30"/>
    <p:sldId id="392" r:id="rId31"/>
    <p:sldId id="395" r:id="rId32"/>
    <p:sldId id="396" r:id="rId33"/>
    <p:sldId id="394" r:id="rId34"/>
    <p:sldId id="393" r:id="rId35"/>
    <p:sldId id="397" r:id="rId36"/>
    <p:sldId id="321" r:id="rId37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793D81CF-94F2-401A-BA57-92F5A7B2D0C5}" styleName="보통 스타일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A111915-BE36-4E01-A7E5-04B1672EAD32}" styleName="밝은 스타일 2 - 강조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58" autoAdjust="0"/>
    <p:restoredTop sz="93810" autoAdjust="0"/>
  </p:normalViewPr>
  <p:slideViewPr>
    <p:cSldViewPr>
      <p:cViewPr varScale="1">
        <p:scale>
          <a:sx n="101" d="100"/>
          <a:sy n="101" d="100"/>
        </p:scale>
        <p:origin x="126" y="121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64" d="100"/>
          <a:sy n="64" d="100"/>
        </p:scale>
        <p:origin x="3192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5771C21-3757-4199-83DE-22960358A2A5}" type="datetimeFigureOut">
              <a:rPr lang="ko-KR" altLang="en-US" smtClean="0"/>
              <a:pPr/>
              <a:t>2026-05-08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4A4E647-5A0F-41E6-A0EF-B58D8C1C6CD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920371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54762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166590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08325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610840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68060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8819729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505577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453759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148840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2487454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762352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604144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6654711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486085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428011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813534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4062711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826463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1294083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771726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1884487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3871936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834788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431026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704173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504830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249325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229915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556550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142301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756298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445694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797886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1456650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73938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2FE722-38C7-4231-8BB5-7A27D4E5977D}" type="datetimeFigureOut">
              <a:rPr lang="ko-KR" altLang="en-US" smtClean="0"/>
              <a:pPr/>
              <a:t>2026-05-08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CD0F7-B239-41DD-B89C-138EEA1D13E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2FE722-38C7-4231-8BB5-7A27D4E5977D}" type="datetimeFigureOut">
              <a:rPr lang="ko-KR" altLang="en-US" smtClean="0"/>
              <a:pPr/>
              <a:t>2026-05-08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CD0F7-B239-41DD-B89C-138EEA1D13E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2FE722-38C7-4231-8BB5-7A27D4E5977D}" type="datetimeFigureOut">
              <a:rPr lang="ko-KR" altLang="en-US" smtClean="0"/>
              <a:pPr/>
              <a:t>2026-05-08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CD0F7-B239-41DD-B89C-138EEA1D13E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2FE722-38C7-4231-8BB5-7A27D4E5977D}" type="datetimeFigureOut">
              <a:rPr lang="ko-KR" altLang="en-US" smtClean="0"/>
              <a:pPr/>
              <a:t>2026-05-08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CD0F7-B239-41DD-B89C-138EEA1D13E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2FE722-38C7-4231-8BB5-7A27D4E5977D}" type="datetimeFigureOut">
              <a:rPr lang="ko-KR" altLang="en-US" smtClean="0"/>
              <a:pPr/>
              <a:t>2026-05-08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CD0F7-B239-41DD-B89C-138EEA1D13E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2FE722-38C7-4231-8BB5-7A27D4E5977D}" type="datetimeFigureOut">
              <a:rPr lang="ko-KR" altLang="en-US" smtClean="0"/>
              <a:pPr/>
              <a:t>2026-05-08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CD0F7-B239-41DD-B89C-138EEA1D13E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1520" y="620688"/>
            <a:ext cx="8640960" cy="59766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타원 9"/>
          <p:cNvSpPr/>
          <p:nvPr userDrawn="1"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2FE722-38C7-4231-8BB5-7A27D4E5977D}" type="datetimeFigureOut">
              <a:rPr lang="ko-KR" altLang="en-US" smtClean="0"/>
              <a:pPr/>
              <a:t>2026-05-08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CD0F7-B239-41DD-B89C-138EEA1D13E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2FE722-38C7-4231-8BB5-7A27D4E5977D}" type="datetimeFigureOut">
              <a:rPr lang="ko-KR" altLang="en-US" smtClean="0"/>
              <a:pPr/>
              <a:t>2026-05-08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CD0F7-B239-41DD-B89C-138EEA1D13E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2FE722-38C7-4231-8BB5-7A27D4E5977D}" type="datetimeFigureOut">
              <a:rPr lang="ko-KR" altLang="en-US" smtClean="0"/>
              <a:pPr/>
              <a:t>2026-05-08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CD0F7-B239-41DD-B89C-138EEA1D13E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2FE722-38C7-4231-8BB5-7A27D4E5977D}" type="datetimeFigureOut">
              <a:rPr lang="ko-KR" altLang="en-US" smtClean="0"/>
              <a:pPr/>
              <a:t>2026-05-08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CD0F7-B239-41DD-B89C-138EEA1D13E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2FE722-38C7-4231-8BB5-7A27D4E5977D}" type="datetimeFigureOut">
              <a:rPr lang="ko-KR" altLang="en-US" smtClean="0"/>
              <a:pPr/>
              <a:t>2026-05-08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77CD0F7-B239-41DD-B89C-138EEA1D13E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835696" y="2708920"/>
            <a:ext cx="547260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400" b="1" spc="-150" dirty="0" err="1">
                <a:solidFill>
                  <a:schemeClr val="bg1"/>
                </a:solidFill>
              </a:rPr>
              <a:t>머신러닝</a:t>
            </a:r>
            <a:endParaRPr lang="ko-KR" altLang="en-US" sz="4400" b="1" spc="-150" dirty="0">
              <a:solidFill>
                <a:schemeClr val="bg1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483768" y="2276872"/>
            <a:ext cx="4256473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dist"/>
            <a:r>
              <a:rPr lang="ko-KR" altLang="en-US" sz="1400" b="1" dirty="0" err="1">
                <a:solidFill>
                  <a:schemeClr val="tx2">
                    <a:lumMod val="50000"/>
                  </a:schemeClr>
                </a:solidFill>
              </a:rPr>
              <a:t>머신러닝</a:t>
            </a:r>
            <a:r>
              <a:rPr lang="ko-KR" altLang="en-US" sz="1400" b="1"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lang="en-US" altLang="ko-KR" sz="1400" b="1" dirty="0">
                <a:solidFill>
                  <a:schemeClr val="tx2">
                    <a:lumMod val="50000"/>
                  </a:schemeClr>
                </a:solidFill>
              </a:rPr>
              <a:t>/ </a:t>
            </a:r>
            <a:r>
              <a:rPr lang="ko-KR" altLang="en-US" sz="1400" b="1" dirty="0">
                <a:solidFill>
                  <a:schemeClr val="tx2">
                    <a:lumMod val="50000"/>
                  </a:schemeClr>
                </a:solidFill>
              </a:rPr>
              <a:t>딥러닝</a:t>
            </a:r>
          </a:p>
        </p:txBody>
      </p:sp>
    </p:spTree>
    <p:extLst>
      <p:ext uri="{BB962C8B-B14F-4D97-AF65-F5344CB8AC3E}">
        <p14:creationId xmlns:p14="http://schemas.microsoft.com/office/powerpoint/2010/main" val="34868732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2627784" y="1298236"/>
            <a:ext cx="3858956" cy="3858956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/>
          <p:cNvSpPr txBox="1"/>
          <p:nvPr/>
        </p:nvSpPr>
        <p:spPr>
          <a:xfrm>
            <a:off x="2627784" y="2971550"/>
            <a:ext cx="3858956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500" b="1" dirty="0" err="1">
                <a:solidFill>
                  <a:schemeClr val="bg1"/>
                </a:solidFill>
              </a:rPr>
              <a:t>머신러닝</a:t>
            </a:r>
            <a:endParaRPr lang="ko-KR" altLang="en-US" sz="3500" b="1" dirty="0">
              <a:solidFill>
                <a:schemeClr val="bg1"/>
              </a:solidFill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19598" y="271681"/>
            <a:ext cx="83548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깃</a:t>
            </a:r>
            <a:r>
              <a:rPr lang="en-US" altLang="ko-KR" sz="1200" b="1" spc="-150" dirty="0">
                <a:solidFill>
                  <a:schemeClr val="bg1"/>
                </a:solidFill>
              </a:rPr>
              <a:t>&amp;</a:t>
            </a:r>
            <a:r>
              <a:rPr lang="ko-KR" altLang="en-US" sz="1200" b="1" spc="-150" dirty="0" err="1">
                <a:solidFill>
                  <a:schemeClr val="bg1"/>
                </a:solidFill>
              </a:rPr>
              <a:t>깃허브</a:t>
            </a:r>
            <a:endParaRPr lang="ko-KR" altLang="en-US" sz="1200" b="1" spc="-15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927766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75705" y="271681"/>
            <a:ext cx="72327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 err="1">
                <a:solidFill>
                  <a:schemeClr val="bg1"/>
                </a:solidFill>
              </a:rPr>
              <a:t>머신러닝</a:t>
            </a:r>
            <a:endParaRPr lang="ko-KR" altLang="en-US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데이터로부터 스스로의 규칙을 학습해서 예측이나 판단을 수행하는 기술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데이터를 통해 규칙을 사람이 직접 코딩을 하지 않아도 스스로 학습을 통해 규칙을 찾아가는 과정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300" dirty="0" err="1"/>
              <a:t>머신러닝이란</a:t>
            </a:r>
            <a:r>
              <a:rPr lang="en-US" altLang="ko-KR" sz="2300" dirty="0"/>
              <a:t>?</a:t>
            </a:r>
            <a:endParaRPr lang="ko-KR" altLang="en-US" sz="2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75704" y="271681"/>
            <a:ext cx="72327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 err="1">
                <a:solidFill>
                  <a:schemeClr val="bg1"/>
                </a:solidFill>
              </a:rPr>
              <a:t>머신러닝</a:t>
            </a:r>
            <a:endParaRPr lang="ko-KR" altLang="en-US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데이터의 수집 </a:t>
            </a:r>
            <a:r>
              <a:rPr lang="en-US" altLang="ko-KR" dirty="0"/>
              <a:t>-&gt; </a:t>
            </a:r>
            <a:r>
              <a:rPr lang="ko-KR" altLang="en-US" dirty="0"/>
              <a:t>학습할 자료를 수집 </a:t>
            </a:r>
            <a:r>
              <a:rPr lang="en-US" altLang="ko-KR" dirty="0"/>
              <a:t>(</a:t>
            </a:r>
            <a:r>
              <a:rPr lang="en-US" altLang="ko-KR" dirty="0" err="1"/>
              <a:t>DataBase</a:t>
            </a:r>
            <a:r>
              <a:rPr lang="en-US" altLang="ko-KR" dirty="0"/>
              <a:t>, </a:t>
            </a:r>
            <a:r>
              <a:rPr lang="en-US" altLang="ko-KR" dirty="0" err="1"/>
              <a:t>OpenAPI</a:t>
            </a:r>
            <a:r>
              <a:rPr lang="en-US" altLang="ko-KR" dirty="0"/>
              <a:t>, </a:t>
            </a:r>
            <a:r>
              <a:rPr lang="ko-KR" altLang="en-US" dirty="0" err="1"/>
              <a:t>크롤링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r>
              <a:rPr lang="ko-KR" altLang="en-US" dirty="0"/>
              <a:t>데이터 </a:t>
            </a:r>
            <a:r>
              <a:rPr lang="ko-KR" altLang="en-US" dirty="0" err="1"/>
              <a:t>전처리</a:t>
            </a:r>
            <a:r>
              <a:rPr lang="ko-KR" altLang="en-US" dirty="0"/>
              <a:t> </a:t>
            </a:r>
            <a:r>
              <a:rPr lang="en-US" altLang="ko-KR" dirty="0"/>
              <a:t>-&gt; </a:t>
            </a:r>
            <a:r>
              <a:rPr lang="ko-KR" altLang="en-US" dirty="0" err="1"/>
              <a:t>결측치</a:t>
            </a:r>
            <a:r>
              <a:rPr lang="en-US" altLang="ko-KR" dirty="0"/>
              <a:t>, </a:t>
            </a:r>
            <a:r>
              <a:rPr lang="ko-KR" altLang="en-US" dirty="0"/>
              <a:t>이상치</a:t>
            </a:r>
            <a:r>
              <a:rPr lang="en-US" altLang="ko-KR" dirty="0"/>
              <a:t>, </a:t>
            </a:r>
            <a:r>
              <a:rPr lang="ko-KR" altLang="en-US" dirty="0" err="1"/>
              <a:t>정규화등</a:t>
            </a:r>
            <a:r>
              <a:rPr lang="ko-KR" altLang="en-US" dirty="0"/>
              <a:t> 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모델 선택 </a:t>
            </a:r>
            <a:r>
              <a:rPr lang="en-US" altLang="ko-KR" dirty="0"/>
              <a:t>-&gt; </a:t>
            </a:r>
            <a:r>
              <a:rPr lang="ko-KR" altLang="en-US" dirty="0"/>
              <a:t>회귀</a:t>
            </a:r>
            <a:r>
              <a:rPr lang="en-US" altLang="ko-KR" dirty="0"/>
              <a:t>, </a:t>
            </a:r>
            <a:r>
              <a:rPr lang="ko-KR" altLang="en-US" dirty="0"/>
              <a:t>분류</a:t>
            </a:r>
            <a:r>
              <a:rPr lang="en-US" altLang="ko-KR" dirty="0"/>
              <a:t>, </a:t>
            </a:r>
            <a:r>
              <a:rPr lang="ko-KR" altLang="en-US" dirty="0"/>
              <a:t>트리</a:t>
            </a:r>
            <a:r>
              <a:rPr lang="en-US" altLang="ko-KR" dirty="0"/>
              <a:t>, </a:t>
            </a:r>
            <a:r>
              <a:rPr lang="ko-KR" altLang="en-US" dirty="0"/>
              <a:t>신경망 등 데이터에 맞게 선택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훈련 </a:t>
            </a:r>
            <a:r>
              <a:rPr lang="en-US" altLang="ko-KR" dirty="0"/>
              <a:t>-&gt; Train </a:t>
            </a:r>
            <a:r>
              <a:rPr lang="ko-KR" altLang="en-US" dirty="0"/>
              <a:t>데이터를 이용한 학습 </a:t>
            </a:r>
            <a:r>
              <a:rPr lang="en-US" altLang="ko-KR" dirty="0"/>
              <a:t>( </a:t>
            </a:r>
            <a:r>
              <a:rPr lang="ko-KR" altLang="en-US" dirty="0"/>
              <a:t>기기가 스스로 규칙 발견</a:t>
            </a:r>
            <a:r>
              <a:rPr lang="en-US" altLang="ko-KR" dirty="0"/>
              <a:t> )</a:t>
            </a:r>
          </a:p>
          <a:p>
            <a:endParaRPr lang="en-US" altLang="ko-KR" dirty="0"/>
          </a:p>
          <a:p>
            <a:r>
              <a:rPr lang="ko-KR" altLang="en-US" dirty="0"/>
              <a:t>평가 </a:t>
            </a:r>
            <a:r>
              <a:rPr lang="en-US" altLang="ko-KR" dirty="0"/>
              <a:t>-&gt; </a:t>
            </a:r>
            <a:r>
              <a:rPr lang="ko-KR" altLang="en-US" dirty="0"/>
              <a:t>새로운 데이터를 이용하여 성능을 검증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예측 </a:t>
            </a:r>
            <a:r>
              <a:rPr lang="en-US" altLang="ko-KR" dirty="0"/>
              <a:t>-&gt; </a:t>
            </a:r>
            <a:r>
              <a:rPr lang="ko-KR" altLang="en-US" dirty="0"/>
              <a:t>실제 상황에서 적용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300" dirty="0"/>
              <a:t>머신 러닝의 기본과정</a:t>
            </a:r>
          </a:p>
        </p:txBody>
      </p:sp>
    </p:spTree>
    <p:extLst>
      <p:ext uri="{BB962C8B-B14F-4D97-AF65-F5344CB8AC3E}">
        <p14:creationId xmlns:p14="http://schemas.microsoft.com/office/powerpoint/2010/main" val="27899712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75704" y="271681"/>
            <a:ext cx="72327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 err="1">
                <a:solidFill>
                  <a:schemeClr val="bg1"/>
                </a:solidFill>
              </a:rPr>
              <a:t>머신러닝</a:t>
            </a:r>
            <a:endParaRPr lang="ko-KR" altLang="en-US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/>
              <a:t>지도 학습 </a:t>
            </a:r>
            <a:r>
              <a:rPr lang="en-US" altLang="ko-KR" dirty="0"/>
              <a:t>	</a:t>
            </a:r>
          </a:p>
          <a:p>
            <a:pPr marL="742950" lvl="1" indent="-285750">
              <a:buFontTx/>
              <a:buChar char="-"/>
            </a:pPr>
            <a:r>
              <a:rPr lang="ko-KR" altLang="en-US" dirty="0"/>
              <a:t>정답이 있는 데이터를 학습 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회귀</a:t>
            </a:r>
            <a:r>
              <a:rPr lang="en-US" altLang="ko-KR" dirty="0"/>
              <a:t>, </a:t>
            </a:r>
            <a:r>
              <a:rPr lang="ko-KR" altLang="en-US" dirty="0"/>
              <a:t>분류</a:t>
            </a:r>
            <a:endParaRPr lang="en-US" altLang="ko-KR" dirty="0"/>
          </a:p>
          <a:p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비지도 학습 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정답이 없는 데이터에서 패턴을 찾음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군집화</a:t>
            </a:r>
            <a:r>
              <a:rPr lang="en-US" altLang="ko-KR" dirty="0"/>
              <a:t>, </a:t>
            </a:r>
            <a:r>
              <a:rPr lang="ko-KR" altLang="en-US" dirty="0"/>
              <a:t>이상치 감지</a:t>
            </a:r>
            <a:r>
              <a:rPr lang="en-US" altLang="ko-KR" dirty="0"/>
              <a:t>, </a:t>
            </a:r>
            <a:r>
              <a:rPr lang="ko-KR" altLang="en-US" dirty="0"/>
              <a:t>차원 축소</a:t>
            </a:r>
            <a:endParaRPr lang="en-US" altLang="ko-KR" dirty="0"/>
          </a:p>
          <a:p>
            <a:pPr marL="285750" indent="-285750">
              <a:buFontTx/>
              <a:buChar char="-"/>
            </a:pP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강화 학습 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보상을 통해 행동을 학습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로봇 제어</a:t>
            </a:r>
            <a:r>
              <a:rPr lang="en-US" altLang="ko-KR" dirty="0"/>
              <a:t>, </a:t>
            </a:r>
            <a:r>
              <a:rPr lang="ko-KR" altLang="en-US" dirty="0"/>
              <a:t>게임 플레이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300" dirty="0"/>
              <a:t>머신 러닝의 종류</a:t>
            </a:r>
          </a:p>
        </p:txBody>
      </p:sp>
    </p:spTree>
    <p:extLst>
      <p:ext uri="{BB962C8B-B14F-4D97-AF65-F5344CB8AC3E}">
        <p14:creationId xmlns:p14="http://schemas.microsoft.com/office/powerpoint/2010/main" val="41298776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75704" y="271681"/>
            <a:ext cx="72327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 err="1">
                <a:solidFill>
                  <a:schemeClr val="bg1"/>
                </a:solidFill>
              </a:rPr>
              <a:t>머신러닝</a:t>
            </a:r>
            <a:endParaRPr lang="ko-KR" altLang="en-US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altLang="ko-KR" dirty="0"/>
              <a:t>MAE</a:t>
            </a:r>
          </a:p>
          <a:p>
            <a:pPr marL="742950" lvl="1" indent="-285750">
              <a:buFontTx/>
              <a:buChar char="-"/>
            </a:pPr>
            <a:r>
              <a:rPr lang="ko-KR" altLang="en-US" dirty="0"/>
              <a:t>실제의 값과 예측 값의 차이를 절댓값으로 변환하여 평균을 구한 값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에러의 크기가 그대로 반영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en-US" altLang="ko-KR" dirty="0"/>
              <a:t>MSE</a:t>
            </a:r>
          </a:p>
          <a:p>
            <a:pPr marL="742950" lvl="1" indent="-285750">
              <a:buFontTx/>
              <a:buChar char="-"/>
            </a:pPr>
            <a:r>
              <a:rPr lang="ko-KR" altLang="en-US" dirty="0"/>
              <a:t>실제의 값과 예측의 값의 차이에 제곱을 하여 평균을 구한 값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 err="1"/>
              <a:t>실젯값과</a:t>
            </a:r>
            <a:r>
              <a:rPr lang="ko-KR" altLang="en-US" dirty="0"/>
              <a:t> </a:t>
            </a:r>
            <a:r>
              <a:rPr lang="ko-KR" altLang="en-US" dirty="0" err="1"/>
              <a:t>예측값의</a:t>
            </a:r>
            <a:r>
              <a:rPr lang="ko-KR" altLang="en-US" dirty="0"/>
              <a:t> 면적의 합을 의미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이상치에 민감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en-US" altLang="ko-KR" dirty="0"/>
              <a:t>RMSE</a:t>
            </a:r>
          </a:p>
          <a:p>
            <a:pPr marL="742950" lvl="1" indent="-285750">
              <a:buFontTx/>
              <a:buChar char="-"/>
            </a:pPr>
            <a:r>
              <a:rPr lang="en-US" altLang="ko-KR" dirty="0"/>
              <a:t>MSE </a:t>
            </a:r>
            <a:r>
              <a:rPr lang="ko-KR" altLang="en-US" dirty="0"/>
              <a:t>값에 루트를 씌운 값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에러에 제곱을 하면 에러가 클수록 그에 따른 가중치가 높이 반영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손실이 기하급수적으로 증가하는 상황에서 실제 오류의 평균보다 값이 커지는 현상을 상쇄하기 위해 사용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300" dirty="0"/>
              <a:t>회귀 분석의 성능 평가 지표</a:t>
            </a:r>
          </a:p>
        </p:txBody>
      </p:sp>
    </p:spTree>
    <p:extLst>
      <p:ext uri="{BB962C8B-B14F-4D97-AF65-F5344CB8AC3E}">
        <p14:creationId xmlns:p14="http://schemas.microsoft.com/office/powerpoint/2010/main" val="23964469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75704" y="271681"/>
            <a:ext cx="72327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 err="1">
                <a:solidFill>
                  <a:schemeClr val="bg1"/>
                </a:solidFill>
              </a:rPr>
              <a:t>머신러닝</a:t>
            </a:r>
            <a:endParaRPr lang="ko-KR" altLang="en-US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altLang="ko-KR" dirty="0"/>
              <a:t>MSLE</a:t>
            </a:r>
          </a:p>
          <a:p>
            <a:pPr marL="742950" lvl="1" indent="-285750">
              <a:buFontTx/>
              <a:buChar char="-"/>
            </a:pPr>
            <a:r>
              <a:rPr lang="en-US" altLang="ko-KR" dirty="0"/>
              <a:t>MSE</a:t>
            </a:r>
            <a:r>
              <a:rPr lang="ko-KR" altLang="en-US" dirty="0"/>
              <a:t>에 로그를 적용한 값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en-US" altLang="ko-KR" dirty="0"/>
              <a:t>RMSE</a:t>
            </a:r>
            <a:r>
              <a:rPr lang="ko-KR" altLang="en-US" dirty="0"/>
              <a:t>와 마찬가지로 손실이 기하급수적으로 증가하는 상황에서 실제 오류 평균보다 값이 커지는 현상을 상쇄하기 위해 사용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en-US" altLang="ko-KR" dirty="0"/>
              <a:t>MAPE</a:t>
            </a:r>
          </a:p>
          <a:p>
            <a:pPr marL="742950" lvl="1" indent="-285750">
              <a:buFontTx/>
              <a:buChar char="-"/>
            </a:pPr>
            <a:r>
              <a:rPr lang="en-US" altLang="ko-KR" dirty="0"/>
              <a:t>MAE</a:t>
            </a:r>
            <a:r>
              <a:rPr lang="ko-KR" altLang="en-US" dirty="0"/>
              <a:t>를 퍼센트로 표시 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오차가 예측 값에서 차지하는 정도를 나타냄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300" dirty="0"/>
              <a:t>회귀 분석의 성능 평가 지표</a:t>
            </a:r>
          </a:p>
        </p:txBody>
      </p:sp>
    </p:spTree>
    <p:extLst>
      <p:ext uri="{BB962C8B-B14F-4D97-AF65-F5344CB8AC3E}">
        <p14:creationId xmlns:p14="http://schemas.microsoft.com/office/powerpoint/2010/main" val="15571810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75704" y="271681"/>
            <a:ext cx="72327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 err="1">
                <a:solidFill>
                  <a:schemeClr val="bg1"/>
                </a:solidFill>
              </a:rPr>
              <a:t>머신러닝</a:t>
            </a:r>
            <a:endParaRPr lang="ko-KR" altLang="en-US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/>
              <p:cNvSpPr txBox="1"/>
              <p:nvPr/>
            </p:nvSpPr>
            <p:spPr>
              <a:xfrm>
                <a:off x="971600" y="1700808"/>
                <a:ext cx="7200800" cy="374814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Tx/>
                  <a:buChar char="-"/>
                </a:pPr>
                <a:r>
                  <a:rPr lang="en-US" altLang="ko-KR" dirty="0"/>
                  <a:t>R2</a:t>
                </a:r>
                <a:r>
                  <a:rPr lang="ko-KR" altLang="en-US" dirty="0"/>
                  <a:t> </a:t>
                </a:r>
                <a:r>
                  <a:rPr lang="en-US" altLang="ko-KR" dirty="0"/>
                  <a:t>score</a:t>
                </a:r>
              </a:p>
              <a:p>
                <a:pPr algn="just" latinLnBrk="1"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ko-KR" altLang="ko-KR" sz="18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ko-KR" sz="1800" kern="100">
                              <a:effectLst/>
                              <a:latin typeface="Cambria Math" panose="02040503050406030204" pitchFamily="18" charset="0"/>
                              <a:ea typeface="맑은 고딕" panose="020B0503020000020004" pitchFamily="50" charset="-127"/>
                              <a:cs typeface="Times New Roman" panose="02020603050405020304" pitchFamily="18" charset="0"/>
                            </a:rPr>
                            <m:t>R</m:t>
                          </m:r>
                        </m:e>
                        <m:sup>
                          <m:r>
                            <a:rPr lang="en-US" altLang="ko-KR" sz="1800" kern="100">
                              <a:effectLst/>
                              <a:latin typeface="Cambria Math" panose="02040503050406030204" pitchFamily="18" charset="0"/>
                              <a:ea typeface="맑은 고딕" panose="020B0503020000020004" pitchFamily="50" charset="-127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ko-KR" sz="1800" kern="100">
                          <a:effectLst/>
                          <a:latin typeface="Cambria Math" panose="02040503050406030204" pitchFamily="18" charset="0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m:t>=1</m:t>
                      </m:r>
                      <m:r>
                        <a:rPr lang="en-US" altLang="ko-KR" sz="1800" i="1" kern="100">
                          <a:effectLst/>
                          <a:latin typeface="Cambria Math" panose="02040503050406030204" pitchFamily="18" charset="0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m:t>−</m:t>
                      </m:r>
                      <m:f>
                        <m:fPr>
                          <m:ctrlPr>
                            <a:rPr lang="ko-KR" altLang="ko-KR" sz="1800" i="1" kern="10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ctrlPr>
                                <a:rPr lang="ko-KR" altLang="ko-KR" sz="1800" i="1" kern="10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p"/>
                                </m:rPr>
                                <a:rPr lang="en-US" altLang="ko-KR" sz="1800" kern="100">
                                  <a:effectLst/>
                                  <a:latin typeface="Cambria Math" panose="02040503050406030204" pitchFamily="18" charset="0"/>
                                  <a:ea typeface="맑은 고딕" panose="020B0503020000020004" pitchFamily="50" charset="-127"/>
                                  <a:cs typeface="Times New Roman" panose="02020603050405020304" pitchFamily="18" charset="0"/>
                                </a:rPr>
                                <m:t>i</m:t>
                              </m:r>
                              <m:r>
                                <a:rPr lang="en-US" altLang="ko-KR" sz="1800" kern="100">
                                  <a:effectLst/>
                                  <a:latin typeface="Cambria Math" panose="02040503050406030204" pitchFamily="18" charset="0"/>
                                  <a:ea typeface="맑은 고딕" panose="020B0503020000020004" pitchFamily="50" charset="-127"/>
                                  <a:cs typeface="Times New Roman" panose="020206030504050203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altLang="ko-KR" sz="1800" kern="100">
                                  <a:effectLst/>
                                  <a:latin typeface="Cambria Math" panose="02040503050406030204" pitchFamily="18" charset="0"/>
                                  <a:ea typeface="맑은 고딕" panose="020B0503020000020004" pitchFamily="50" charset="-127"/>
                                  <a:cs typeface="Times New Roman" panose="02020603050405020304" pitchFamily="18" charset="0"/>
                                </a:rPr>
                                <m:t>n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ko-KR" altLang="ko-KR" sz="1800" i="1" kern="10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ko-KR" altLang="ko-KR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ko-KR" altLang="ko-KR" sz="1800" i="1" kern="100">
                                              <a:effectLst/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ko-KR" sz="1800" kern="100">
                                              <a:effectLst/>
                                              <a:latin typeface="Cambria Math" panose="02040503050406030204" pitchFamily="18" charset="0"/>
                                              <a:ea typeface="맑은 고딕" panose="020B0503020000020004" pitchFamily="50" charset="-127"/>
                                              <a:cs typeface="Times New Roman" panose="02020603050405020304" pitchFamily="18" charset="0"/>
                                            </a:rP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ko-KR" sz="1800" kern="100">
                                              <a:effectLst/>
                                              <a:latin typeface="Cambria Math" panose="02040503050406030204" pitchFamily="18" charset="0"/>
                                              <a:ea typeface="맑은 고딕" panose="020B0503020000020004" pitchFamily="50" charset="-127"/>
                                              <a:cs typeface="Times New Roman" panose="02020603050405020304" pitchFamily="18" charset="0"/>
                                            </a:rP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a:rPr lang="en-US" altLang="ko-KR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맑은 고딕" panose="020B0503020000020004" pitchFamily="50" charset="-127"/>
                                          <a:cs typeface="Times New Roman" panose="02020603050405020304" pitchFamily="18" charset="0"/>
                                        </a:rPr>
                                        <m:t>−</m:t>
                                      </m:r>
                                      <m:acc>
                                        <m:accPr>
                                          <m:chr m:val="̂"/>
                                          <m:ctrlPr>
                                            <a:rPr lang="ko-KR" altLang="ko-KR" sz="1800" i="1" kern="100">
                                              <a:effectLst/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ko-KR" altLang="ko-KR" sz="1800" i="1" kern="100">
                                                  <a:effectLst/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  <a:cs typeface="Times New Roman" panose="020206030504050203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ko-KR" sz="1800" kern="100">
                                                  <a:effectLst/>
                                                  <a:latin typeface="Cambria Math" panose="02040503050406030204" pitchFamily="18" charset="0"/>
                                                  <a:ea typeface="맑은 고딕" panose="020B0503020000020004" pitchFamily="50" charset="-127"/>
                                                  <a:cs typeface="Times New Roman" panose="02020603050405020304" pitchFamily="18" charset="0"/>
                                                </a:rP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ko-KR" sz="1800" kern="100">
                                                  <a:effectLst/>
                                                  <a:latin typeface="Cambria Math" panose="02040503050406030204" pitchFamily="18" charset="0"/>
                                                  <a:ea typeface="맑은 고딕" panose="020B0503020000020004" pitchFamily="50" charset="-127"/>
                                                  <a:cs typeface="Times New Roman" panose="02020603050405020304" pitchFamily="18" charset="0"/>
                                                </a:rPr>
                                                <m:t>i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a:rPr lang="en-US" altLang="ko-KR" sz="1800" kern="100">
                                      <a:effectLst/>
                                      <a:latin typeface="Cambria Math" panose="02040503050406030204" pitchFamily="18" charset="0"/>
                                      <a:ea typeface="맑은 고딕" panose="020B0503020000020004" pitchFamily="50" charset="-127"/>
                                      <a:cs typeface="Times New Roman" panose="020206030504050203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nary>
                            <m:naryPr>
                              <m:chr m:val="∑"/>
                              <m:ctrlPr>
                                <a:rPr lang="ko-KR" altLang="ko-KR" sz="1800" i="1" kern="10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p"/>
                                </m:rPr>
                                <a:rPr lang="en-US" altLang="ko-KR" sz="1800" kern="100">
                                  <a:effectLst/>
                                  <a:latin typeface="Cambria Math" panose="02040503050406030204" pitchFamily="18" charset="0"/>
                                  <a:ea typeface="맑은 고딕" panose="020B0503020000020004" pitchFamily="50" charset="-127"/>
                                  <a:cs typeface="Times New Roman" panose="02020603050405020304" pitchFamily="18" charset="0"/>
                                </a:rPr>
                                <m:t>i</m:t>
                              </m:r>
                              <m:r>
                                <a:rPr lang="en-US" altLang="ko-KR" sz="1800" kern="100">
                                  <a:effectLst/>
                                  <a:latin typeface="Cambria Math" panose="02040503050406030204" pitchFamily="18" charset="0"/>
                                  <a:ea typeface="맑은 고딕" panose="020B0503020000020004" pitchFamily="50" charset="-127"/>
                                  <a:cs typeface="Times New Roman" panose="020206030504050203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altLang="ko-KR" sz="1800" kern="100">
                                  <a:effectLst/>
                                  <a:latin typeface="Cambria Math" panose="02040503050406030204" pitchFamily="18" charset="0"/>
                                  <a:ea typeface="맑은 고딕" panose="020B0503020000020004" pitchFamily="50" charset="-127"/>
                                  <a:cs typeface="Times New Roman" panose="02020603050405020304" pitchFamily="18" charset="0"/>
                                </a:rPr>
                                <m:t>n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ko-KR" altLang="ko-KR" sz="1800" i="1" kern="10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ko-KR" altLang="ko-KR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ko-KR" altLang="ko-KR" sz="1800" i="1" kern="100">
                                              <a:effectLst/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ko-KR" sz="1800" kern="100">
                                              <a:effectLst/>
                                              <a:latin typeface="Cambria Math" panose="02040503050406030204" pitchFamily="18" charset="0"/>
                                              <a:ea typeface="맑은 고딕" panose="020B0503020000020004" pitchFamily="50" charset="-127"/>
                                              <a:cs typeface="Times New Roman" panose="02020603050405020304" pitchFamily="18" charset="0"/>
                                            </a:rP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ko-KR" sz="1800" kern="100">
                                              <a:effectLst/>
                                              <a:latin typeface="Cambria Math" panose="02040503050406030204" pitchFamily="18" charset="0"/>
                                              <a:ea typeface="맑은 고딕" panose="020B0503020000020004" pitchFamily="50" charset="-127"/>
                                              <a:cs typeface="Times New Roman" panose="02020603050405020304" pitchFamily="18" charset="0"/>
                                            </a:rP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a:rPr lang="en-US" altLang="ko-KR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맑은 고딕" panose="020B0503020000020004" pitchFamily="50" charset="-127"/>
                                          <a:cs typeface="Times New Roman" panose="02020603050405020304" pitchFamily="18" charset="0"/>
                                        </a:rPr>
                                        <m:t>−</m:t>
                                      </m:r>
                                      <m:acc>
                                        <m:accPr>
                                          <m:chr m:val="̅"/>
                                          <m:ctrlPr>
                                            <a:rPr lang="ko-KR" altLang="ko-KR" sz="1800" i="1" kern="100">
                                              <a:effectLst/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ko-KR" sz="1800" kern="100">
                                              <a:effectLst/>
                                              <a:latin typeface="Cambria Math" panose="02040503050406030204" pitchFamily="18" charset="0"/>
                                              <a:ea typeface="맑은 고딕" panose="020B0503020000020004" pitchFamily="50" charset="-127"/>
                                              <a:cs typeface="Times New Roman" panose="02020603050405020304" pitchFamily="18" charset="0"/>
                                            </a:rPr>
                                            <m:t>y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a:rPr lang="en-US" altLang="ko-KR" sz="1800" kern="100">
                                      <a:effectLst/>
                                      <a:latin typeface="Cambria Math" panose="02040503050406030204" pitchFamily="18" charset="0"/>
                                      <a:ea typeface="맑은 고딕" panose="020B0503020000020004" pitchFamily="50" charset="-127"/>
                                      <a:cs typeface="Times New Roman" panose="020206030504050203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den>
                      </m:f>
                      <m:r>
                        <a:rPr lang="en-US" altLang="ko-KR" sz="1800" kern="100" smtClean="0">
                          <a:effectLst/>
                          <a:latin typeface="Cambria Math" panose="02040503050406030204" pitchFamily="18" charset="0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m:t>=1</m:t>
                      </m:r>
                      <m:r>
                        <a:rPr lang="en-US" altLang="ko-KR" sz="1800" i="1" kern="100">
                          <a:effectLst/>
                          <a:latin typeface="Cambria Math" panose="02040503050406030204" pitchFamily="18" charset="0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m:t>−</m:t>
                      </m:r>
                      <m:f>
                        <m:fPr>
                          <m:ctrlPr>
                            <a:rPr lang="ko-KR" altLang="ko-KR" sz="1800" i="1" kern="10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altLang="ko-KR" sz="1800" kern="100">
                              <a:effectLst/>
                              <a:latin typeface="Cambria Math" panose="02040503050406030204" pitchFamily="18" charset="0"/>
                              <a:ea typeface="맑은 고딕" panose="020B0503020000020004" pitchFamily="50" charset="-127"/>
                              <a:cs typeface="Times New Roman" panose="02020603050405020304" pitchFamily="18" charset="0"/>
                            </a:rPr>
                            <m:t>SSE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altLang="ko-KR" sz="1800" kern="100">
                              <a:effectLst/>
                              <a:latin typeface="Cambria Math" panose="02040503050406030204" pitchFamily="18" charset="0"/>
                              <a:ea typeface="맑은 고딕" panose="020B0503020000020004" pitchFamily="50" charset="-127"/>
                              <a:cs typeface="Times New Roman" panose="02020603050405020304" pitchFamily="18" charset="0"/>
                            </a:rPr>
                            <m:t>SST</m:t>
                          </m:r>
                        </m:den>
                      </m:f>
                    </m:oMath>
                  </m:oMathPara>
                </a14:m>
                <a:endParaRPr lang="ko-KR" altLang="ko-KR" sz="1800" kern="100" dirty="0">
                  <a:effectLst/>
                  <a:latin typeface="맑은 고딕" panose="020B0503020000020004" pitchFamily="50" charset="-127"/>
                  <a:ea typeface="맑은 고딕" panose="020B0503020000020004" pitchFamily="50" charset="-127"/>
                  <a:cs typeface="Times New Roman" panose="02020603050405020304" pitchFamily="18" charset="0"/>
                </a:endParaRPr>
              </a:p>
              <a:p>
                <a:pPr algn="just" latinLnBrk="1"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en-US" altLang="ko-KR" sz="1800" kern="100" dirty="0">
                    <a:effectLst/>
                    <a:latin typeface="맑은 고딕" panose="020B0503020000020004" pitchFamily="50" charset="-127"/>
                    <a:ea typeface="맑은 고딕" panose="020B0503020000020004" pitchFamily="50" charset="-127"/>
                    <a:cs typeface="Times New Roman" panose="02020603050405020304" pitchFamily="18" charset="0"/>
                  </a:rPr>
                  <a:t> </a:t>
                </a:r>
                <a:endParaRPr lang="ko-KR" altLang="ko-KR" sz="1800" kern="100" dirty="0">
                  <a:effectLst/>
                  <a:latin typeface="맑은 고딕" panose="020B0503020000020004" pitchFamily="50" charset="-127"/>
                  <a:ea typeface="맑은 고딕" panose="020B0503020000020004" pitchFamily="50" charset="-127"/>
                  <a:cs typeface="Times New Roman" panose="02020603050405020304" pitchFamily="18" charset="0"/>
                </a:endParaRPr>
              </a:p>
              <a:p>
                <a:pPr marL="285750" indent="-285750">
                  <a:buFontTx/>
                  <a:buChar char="-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ko-KR" altLang="ko-KR" i="1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800">
                            <a:effectLst/>
                            <a:latin typeface="Cambria Math" panose="02040503050406030204" pitchFamily="18" charset="0"/>
                            <a:ea typeface="맑은 고딕" panose="020B0503020000020004" pitchFamily="50" charset="-127"/>
                            <a:cs typeface="Times New Roman" panose="02020603050405020304" pitchFamily="18" charset="0"/>
                          </a:rPr>
                          <m:t>y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800">
                            <a:effectLst/>
                            <a:latin typeface="Cambria Math" panose="02040503050406030204" pitchFamily="18" charset="0"/>
                            <a:ea typeface="맑은 고딕" panose="020B0503020000020004" pitchFamily="50" charset="-127"/>
                            <a:cs typeface="Times New Roman" panose="020206030504050203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en-US" altLang="ko-KR" dirty="0"/>
                  <a:t> : </a:t>
                </a:r>
                <a:r>
                  <a:rPr lang="ko-KR" altLang="en-US" dirty="0"/>
                  <a:t>실제 정답</a:t>
                </a:r>
                <a:endParaRPr lang="en-US" altLang="ko-KR" dirty="0"/>
              </a:p>
              <a:p>
                <a:pPr marL="285750" indent="-285750">
                  <a:buFontTx/>
                  <a:buChar char="-"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ko-KR" altLang="ko-KR" i="1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en-US" altLang="ko-KR" sz="1800">
                            <a:effectLst/>
                            <a:latin typeface="Cambria Math" panose="02040503050406030204" pitchFamily="18" charset="0"/>
                            <a:ea typeface="맑은 고딕" panose="020B0503020000020004" pitchFamily="50" charset="-127"/>
                            <a:cs typeface="Times New Roman" panose="02020603050405020304" pitchFamily="18" charset="0"/>
                          </a:rPr>
                          <m:t>y</m:t>
                        </m:r>
                      </m:e>
                    </m:acc>
                  </m:oMath>
                </a14:m>
                <a:r>
                  <a:rPr lang="en-US" altLang="ko-KR" dirty="0"/>
                  <a:t> : </a:t>
                </a:r>
                <a:r>
                  <a:rPr lang="ko-KR" altLang="en-US" dirty="0"/>
                  <a:t>정답들의 평균값 </a:t>
                </a:r>
                <a:endParaRPr lang="en-US" altLang="ko-KR" dirty="0"/>
              </a:p>
              <a:p>
                <a:pPr marL="285750" indent="-285750">
                  <a:buFontTx/>
                  <a:buChar char="-"/>
                </a:pP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ko-KR" i="1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ko-KR" altLang="ko-KR" i="1"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800">
                                <a:effectLst/>
                                <a:latin typeface="Cambria Math" panose="02040503050406030204" pitchFamily="18" charset="0"/>
                                <a:ea typeface="맑은 고딕" panose="020B0503020000020004" pitchFamily="50" charset="-127"/>
                                <a:cs typeface="Times New Roman" panose="020206030504050203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800">
                                <a:effectLst/>
                                <a:latin typeface="Cambria Math" panose="02040503050406030204" pitchFamily="18" charset="0"/>
                                <a:ea typeface="맑은 고딕" panose="020B0503020000020004" pitchFamily="50" charset="-127"/>
                                <a:cs typeface="Times New Roman" panose="02020603050405020304" pitchFamily="18" charset="0"/>
                              </a:rPr>
                              <m:t>i</m:t>
                            </m:r>
                          </m:sub>
                        </m:sSub>
                      </m:e>
                    </m:acc>
                  </m:oMath>
                </a14:m>
                <a:r>
                  <a:rPr lang="en-US" altLang="ko-KR" dirty="0"/>
                  <a:t> : </a:t>
                </a:r>
                <a:r>
                  <a:rPr lang="ko-KR" altLang="en-US" dirty="0"/>
                  <a:t>모델이 예측한 값</a:t>
                </a:r>
                <a:endParaRPr lang="en-US" altLang="ko-KR" dirty="0"/>
              </a:p>
              <a:p>
                <a:pPr marL="285750" indent="-285750">
                  <a:buFontTx/>
                  <a:buChar char="-"/>
                </a:pPr>
                <a:r>
                  <a:rPr lang="en-US" altLang="ko-KR" dirty="0"/>
                  <a:t>SSE</a:t>
                </a:r>
                <a:r>
                  <a:rPr lang="ko-KR" altLang="en-US" dirty="0"/>
                  <a:t> </a:t>
                </a:r>
                <a:r>
                  <a:rPr lang="en-US" altLang="ko-KR" dirty="0"/>
                  <a:t>:</a:t>
                </a:r>
                <a:r>
                  <a:rPr lang="ko-KR" altLang="en-US" dirty="0"/>
                  <a:t> 설명하지 못하고 남은 에러</a:t>
                </a:r>
                <a:endParaRPr lang="en-US" altLang="ko-KR" dirty="0"/>
              </a:p>
              <a:p>
                <a:pPr marL="285750" indent="-285750">
                  <a:buFontTx/>
                  <a:buChar char="-"/>
                </a:pPr>
                <a:r>
                  <a:rPr lang="en-US" altLang="ko-KR" dirty="0"/>
                  <a:t>SST : </a:t>
                </a:r>
                <a:r>
                  <a:rPr lang="ko-KR" altLang="en-US" dirty="0"/>
                  <a:t>전체 분산</a:t>
                </a:r>
                <a:endParaRPr lang="en-US" altLang="ko-KR" dirty="0"/>
              </a:p>
              <a:p>
                <a:pPr marL="285750" indent="-285750">
                  <a:buFontTx/>
                  <a:buChar char="-"/>
                </a:pPr>
                <a:endParaRPr lang="en-US" altLang="ko-KR" dirty="0"/>
              </a:p>
              <a:p>
                <a:pPr marL="285750" indent="-285750">
                  <a:buFontTx/>
                  <a:buChar char="-"/>
                </a:pPr>
                <a:endParaRPr lang="en-US" altLang="ko-KR" dirty="0"/>
              </a:p>
              <a:p>
                <a:pPr marL="285750" indent="-285750">
                  <a:buFontTx/>
                  <a:buChar char="-"/>
                </a:pPr>
                <a:endParaRPr lang="en-US" altLang="ko-KR" dirty="0"/>
              </a:p>
            </p:txBody>
          </p:sp>
        </mc:Choice>
        <mc:Fallback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600" y="1700808"/>
                <a:ext cx="7200800" cy="3748142"/>
              </a:xfrm>
              <a:prstGeom prst="rect">
                <a:avLst/>
              </a:prstGeom>
              <a:blipFill>
                <a:blip r:embed="rId3"/>
                <a:stretch>
                  <a:fillRect l="-846" t="-146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300" dirty="0"/>
              <a:t>회귀 분석의 성능 평가 지표</a:t>
            </a:r>
          </a:p>
        </p:txBody>
      </p:sp>
    </p:spTree>
    <p:extLst>
      <p:ext uri="{BB962C8B-B14F-4D97-AF65-F5344CB8AC3E}">
        <p14:creationId xmlns:p14="http://schemas.microsoft.com/office/powerpoint/2010/main" val="354250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75704" y="271681"/>
            <a:ext cx="72327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 err="1">
                <a:solidFill>
                  <a:schemeClr val="bg1"/>
                </a:solidFill>
              </a:rPr>
              <a:t>머신러닝</a:t>
            </a:r>
            <a:endParaRPr lang="ko-KR" altLang="en-US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/>
              <a:t>혼동 행렬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이진 분류에서 예측 오류가 얼마인가 어떠한 유형의 오류가 발생하는지를 나타내는 지표</a:t>
            </a:r>
            <a:endParaRPr lang="en-US" altLang="ko-KR" dirty="0"/>
          </a:p>
          <a:p>
            <a:pPr marL="1200150" lvl="2" indent="-285750">
              <a:buFontTx/>
              <a:buChar char="-"/>
            </a:pPr>
            <a:r>
              <a:rPr lang="en-US" altLang="ko-KR" dirty="0"/>
              <a:t>TN : </a:t>
            </a:r>
            <a:r>
              <a:rPr lang="ko-KR" altLang="en-US" dirty="0"/>
              <a:t>예측이 부정</a:t>
            </a:r>
            <a:r>
              <a:rPr lang="en-US" altLang="ko-KR" dirty="0"/>
              <a:t>, </a:t>
            </a:r>
            <a:r>
              <a:rPr lang="ko-KR" altLang="en-US" dirty="0"/>
              <a:t>실제가 부정</a:t>
            </a:r>
            <a:endParaRPr lang="en-US" altLang="ko-KR" dirty="0"/>
          </a:p>
          <a:p>
            <a:pPr marL="1200150" lvl="2" indent="-285750">
              <a:buFontTx/>
              <a:buChar char="-"/>
            </a:pPr>
            <a:r>
              <a:rPr lang="en-US" altLang="ko-KR" dirty="0"/>
              <a:t>FP : </a:t>
            </a:r>
            <a:r>
              <a:rPr lang="ko-KR" altLang="en-US" dirty="0"/>
              <a:t>예측이 긍정</a:t>
            </a:r>
            <a:r>
              <a:rPr lang="en-US" altLang="ko-KR" dirty="0"/>
              <a:t>, </a:t>
            </a:r>
            <a:r>
              <a:rPr lang="ko-KR" altLang="en-US" dirty="0"/>
              <a:t>실제가 부정</a:t>
            </a:r>
            <a:endParaRPr lang="en-US" altLang="ko-KR" dirty="0"/>
          </a:p>
          <a:p>
            <a:pPr marL="1200150" lvl="2" indent="-285750">
              <a:buFontTx/>
              <a:buChar char="-"/>
            </a:pPr>
            <a:r>
              <a:rPr lang="en-US" altLang="ko-KR" dirty="0"/>
              <a:t>FN : </a:t>
            </a:r>
            <a:r>
              <a:rPr lang="ko-KR" altLang="en-US" dirty="0"/>
              <a:t>예측이 부정</a:t>
            </a:r>
            <a:r>
              <a:rPr lang="en-US" altLang="ko-KR" dirty="0"/>
              <a:t>, </a:t>
            </a:r>
            <a:r>
              <a:rPr lang="ko-KR" altLang="en-US" dirty="0"/>
              <a:t>실제가 긍정</a:t>
            </a:r>
            <a:endParaRPr lang="en-US" altLang="ko-KR" dirty="0"/>
          </a:p>
          <a:p>
            <a:pPr marL="1200150" lvl="2" indent="-285750">
              <a:buFontTx/>
              <a:buChar char="-"/>
            </a:pPr>
            <a:r>
              <a:rPr lang="en-US" altLang="ko-KR" dirty="0"/>
              <a:t>TP : </a:t>
            </a:r>
            <a:r>
              <a:rPr lang="ko-KR" altLang="en-US" dirty="0"/>
              <a:t>예측이 긍정</a:t>
            </a:r>
            <a:r>
              <a:rPr lang="en-US" altLang="ko-KR" dirty="0"/>
              <a:t>, </a:t>
            </a:r>
            <a:r>
              <a:rPr lang="ko-KR" altLang="en-US" dirty="0"/>
              <a:t>실제가 긍정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정확도 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실제의 데이터에서 예측 데이터가 얼마나 같은가 판단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en-US" altLang="ko-KR" dirty="0"/>
              <a:t>TN + TP / TN + TP + FP + FN</a:t>
            </a:r>
          </a:p>
          <a:p>
            <a:pPr marL="285750" indent="-285750">
              <a:buFontTx/>
              <a:buChar char="-"/>
            </a:pPr>
            <a:r>
              <a:rPr lang="ko-KR" altLang="en-US" dirty="0"/>
              <a:t>정밀도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긍정으로 예측한 것들 중 실제가 긍정인 비율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en-US" altLang="ko-KR" dirty="0"/>
              <a:t>TP / TP + FP</a:t>
            </a:r>
          </a:p>
          <a:p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300" dirty="0"/>
              <a:t>분류 분석의 성능 평가 지표</a:t>
            </a:r>
          </a:p>
        </p:txBody>
      </p:sp>
    </p:spTree>
    <p:extLst>
      <p:ext uri="{BB962C8B-B14F-4D97-AF65-F5344CB8AC3E}">
        <p14:creationId xmlns:p14="http://schemas.microsoft.com/office/powerpoint/2010/main" val="8268153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75704" y="271681"/>
            <a:ext cx="72327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 err="1">
                <a:solidFill>
                  <a:schemeClr val="bg1"/>
                </a:solidFill>
              </a:rPr>
              <a:t>머신러닝</a:t>
            </a:r>
            <a:endParaRPr lang="ko-KR" altLang="en-US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 err="1"/>
              <a:t>재현율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실제 긍정인 것들 중 예측이 긍정인 경우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en-US" altLang="ko-KR" dirty="0"/>
              <a:t>TP / TP + FN</a:t>
            </a:r>
          </a:p>
          <a:p>
            <a:pPr marL="285750" indent="-285750">
              <a:buFontTx/>
              <a:buChar char="-"/>
            </a:pPr>
            <a:r>
              <a:rPr lang="en-US" altLang="ko-KR" dirty="0"/>
              <a:t>F1</a:t>
            </a:r>
            <a:r>
              <a:rPr lang="ko-KR" altLang="en-US" dirty="0"/>
              <a:t> </a:t>
            </a:r>
            <a:r>
              <a:rPr lang="en-US" altLang="ko-KR" dirty="0"/>
              <a:t>score</a:t>
            </a:r>
          </a:p>
          <a:p>
            <a:pPr marL="742950" lvl="1" indent="-285750">
              <a:buFontTx/>
              <a:buChar char="-"/>
            </a:pPr>
            <a:r>
              <a:rPr lang="ko-KR" altLang="en-US" dirty="0"/>
              <a:t>정밀도와 재현율을 결합한 분류 성능 지표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정밀도와 </a:t>
            </a:r>
            <a:r>
              <a:rPr lang="ko-KR" altLang="en-US" dirty="0" err="1"/>
              <a:t>재현율</a:t>
            </a:r>
            <a:r>
              <a:rPr lang="ko-KR" altLang="en-US" dirty="0"/>
              <a:t> 어느 한쪽으로 치우치지 않고 적절하게 조화를 이룬 경우 높은 수치를 나타냄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en-US" altLang="ko-KR" dirty="0"/>
              <a:t>2 * TP / 2 * TP + FP + FN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300" dirty="0"/>
              <a:t>분류 분석의 성능 평가 지표</a:t>
            </a:r>
          </a:p>
        </p:txBody>
      </p:sp>
    </p:spTree>
    <p:extLst>
      <p:ext uri="{BB962C8B-B14F-4D97-AF65-F5344CB8AC3E}">
        <p14:creationId xmlns:p14="http://schemas.microsoft.com/office/powerpoint/2010/main" val="16469782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75704" y="271681"/>
            <a:ext cx="72327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 err="1">
                <a:solidFill>
                  <a:schemeClr val="bg1"/>
                </a:solidFill>
              </a:rPr>
              <a:t>머신러닝</a:t>
            </a:r>
            <a:endParaRPr lang="ko-KR" altLang="en-US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altLang="ko-KR" dirty="0"/>
              <a:t>MSLE</a:t>
            </a:r>
          </a:p>
          <a:p>
            <a:pPr marL="742950" lvl="1" indent="-285750">
              <a:buFontTx/>
              <a:buChar char="-"/>
            </a:pPr>
            <a:r>
              <a:rPr lang="en-US" altLang="ko-KR" dirty="0"/>
              <a:t>MSE</a:t>
            </a:r>
            <a:r>
              <a:rPr lang="ko-KR" altLang="en-US" dirty="0"/>
              <a:t>에 로그를 적용한 값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en-US" altLang="ko-KR" dirty="0"/>
              <a:t>RMSE</a:t>
            </a:r>
            <a:r>
              <a:rPr lang="ko-KR" altLang="en-US" dirty="0"/>
              <a:t>와 마찬가지로 손실이 기하급수적으로 증가하는 상황에서 실제 오류 평균보다 값이 커지는 현상을 상쇄하기 위해 사용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en-US" altLang="ko-KR" dirty="0"/>
              <a:t>MAPE</a:t>
            </a:r>
          </a:p>
          <a:p>
            <a:pPr marL="742950" lvl="1" indent="-285750">
              <a:buFontTx/>
              <a:buChar char="-"/>
            </a:pPr>
            <a:r>
              <a:rPr lang="en-US" altLang="ko-KR" dirty="0"/>
              <a:t>MAE</a:t>
            </a:r>
            <a:r>
              <a:rPr lang="ko-KR" altLang="en-US" dirty="0"/>
              <a:t>를 퍼센트로 표시 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오차가 예측 값에서 차지하는 정도를 나타냄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300" dirty="0"/>
              <a:t>회귀 분석의 성능 평가 지표</a:t>
            </a:r>
          </a:p>
        </p:txBody>
      </p:sp>
    </p:spTree>
    <p:extLst>
      <p:ext uri="{BB962C8B-B14F-4D97-AF65-F5344CB8AC3E}">
        <p14:creationId xmlns:p14="http://schemas.microsoft.com/office/powerpoint/2010/main" val="21762664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75704" y="271681"/>
            <a:ext cx="72327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 err="1">
                <a:solidFill>
                  <a:schemeClr val="bg1"/>
                </a:solidFill>
              </a:rPr>
              <a:t>머신러닝</a:t>
            </a:r>
            <a:endParaRPr lang="ko-KR" altLang="en-US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971600" y="1700955"/>
                <a:ext cx="7200800" cy="31393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Tx/>
                  <a:buChar char="-"/>
                </a:pPr>
                <a:r>
                  <a:rPr lang="ko-KR" altLang="en-US" dirty="0"/>
                  <a:t>단순 선형 회귀 모델</a:t>
                </a:r>
                <a:endParaRPr lang="en-US" altLang="ko-KR" dirty="0"/>
              </a:p>
              <a:p>
                <a:pPr marL="285750" indent="-285750">
                  <a:buFontTx/>
                  <a:buChar char="-"/>
                </a:pPr>
                <a:r>
                  <a:rPr lang="ko-KR" altLang="en-US" dirty="0"/>
                  <a:t>입력의 특성에 따라 선형 함수를 만들어서 예측을 하는 알고리즘</a:t>
                </a:r>
                <a:endParaRPr lang="en-US" altLang="ko-KR" dirty="0"/>
              </a:p>
              <a:p>
                <a:pPr marL="285750" indent="-285750">
                  <a:buFontTx/>
                  <a:buChar char="-"/>
                </a:pPr>
                <a:r>
                  <a:rPr lang="ko-KR" altLang="en-US" dirty="0"/>
                  <a:t>독립 변수가 하나인 경우 특정 직선을 학습하는 방법</a:t>
                </a:r>
                <a:endParaRPr lang="en-US" altLang="ko-KR" dirty="0"/>
              </a:p>
              <a:p>
                <a:pPr marL="285750" indent="-285750">
                  <a:buFontTx/>
                  <a:buChar char="-"/>
                </a:pPr>
                <a:endParaRPr lang="en-US" altLang="ko-KR" dirty="0"/>
              </a:p>
              <a:p>
                <a:pPr marL="285750" indent="-285750">
                  <a:buFontTx/>
                  <a:buChar char="-"/>
                </a:pPr>
                <a:endParaRPr lang="en-US" altLang="ko-KR" dirty="0"/>
              </a:p>
              <a:p>
                <a:pPr marL="285750" indent="-285750">
                  <a:buFontTx/>
                  <a:buChar char="-"/>
                </a:pPr>
                <a:endParaRPr lang="en-US" altLang="ko-KR" dirty="0"/>
              </a:p>
              <a:p>
                <a:pPr marL="285750" indent="-285750">
                  <a:buFontTx/>
                  <a:buChar char="-"/>
                </a:pPr>
                <a14:m>
                  <m:oMath xmlns:m="http://schemas.openxmlformats.org/officeDocument/2006/math"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ko-KR" dirty="0"/>
                  <a:t> : </a:t>
                </a:r>
                <a:r>
                  <a:rPr lang="ko-KR" altLang="en-US" dirty="0"/>
                  <a:t>입력 데이터</a:t>
                </a:r>
                <a:r>
                  <a:rPr lang="en-US" altLang="ko-KR" dirty="0"/>
                  <a:t>(</a:t>
                </a:r>
                <a:r>
                  <a:rPr lang="ko-KR" altLang="en-US" dirty="0"/>
                  <a:t>독립 변수</a:t>
                </a:r>
                <a:r>
                  <a:rPr lang="en-US" altLang="ko-KR" dirty="0"/>
                  <a:t>)</a:t>
                </a:r>
              </a:p>
              <a:p>
                <a:pPr marL="285750" indent="-285750">
                  <a:buFontTx/>
                  <a:buChar char="-"/>
                </a:pPr>
                <a14:m>
                  <m:oMath xmlns:m="http://schemas.openxmlformats.org/officeDocument/2006/math"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ko-KR" dirty="0"/>
                  <a:t> : </a:t>
                </a:r>
                <a:r>
                  <a:rPr lang="ko-KR" altLang="en-US" dirty="0"/>
                  <a:t>예측하려는 정답</a:t>
                </a:r>
                <a:r>
                  <a:rPr lang="en-US" altLang="ko-KR" dirty="0"/>
                  <a:t>(</a:t>
                </a:r>
                <a:r>
                  <a:rPr lang="ko-KR" altLang="en-US" dirty="0"/>
                  <a:t>종속 변수</a:t>
                </a:r>
                <a:r>
                  <a:rPr lang="en-US" altLang="ko-KR" dirty="0"/>
                  <a:t>)</a:t>
                </a:r>
              </a:p>
              <a:p>
                <a:pPr marL="285750" indent="-285750">
                  <a:buFontTx/>
                  <a:buChar char="-"/>
                </a:pPr>
                <a14:m>
                  <m:oMath xmlns:m="http://schemas.openxmlformats.org/officeDocument/2006/math"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US" altLang="ko-KR" dirty="0"/>
                  <a:t> : </a:t>
                </a:r>
                <a:r>
                  <a:rPr lang="ko-KR" altLang="en-US" dirty="0"/>
                  <a:t>가중치</a:t>
                </a:r>
                <a:endParaRPr lang="en-US" altLang="ko-KR" dirty="0"/>
              </a:p>
              <a:p>
                <a:pPr marL="285750" indent="-285750">
                  <a:buFontTx/>
                  <a:buChar char="-"/>
                </a:pPr>
                <a14:m>
                  <m:oMath xmlns:m="http://schemas.openxmlformats.org/officeDocument/2006/math"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altLang="ko-KR" dirty="0"/>
                  <a:t> : </a:t>
                </a:r>
                <a:r>
                  <a:rPr lang="ko-KR" altLang="en-US" dirty="0"/>
                  <a:t>직선의 </a:t>
                </a:r>
                <a:r>
                  <a:rPr lang="en-US" altLang="ko-KR" dirty="0"/>
                  <a:t>y </a:t>
                </a:r>
                <a:r>
                  <a:rPr lang="ko-KR" altLang="en-US" dirty="0"/>
                  <a:t>절편</a:t>
                </a:r>
                <a:r>
                  <a:rPr lang="en-US" altLang="ko-KR" dirty="0"/>
                  <a:t>. X</a:t>
                </a:r>
                <a:r>
                  <a:rPr lang="ko-KR" altLang="en-US" dirty="0"/>
                  <a:t>가 </a:t>
                </a:r>
                <a:r>
                  <a:rPr lang="en-US" altLang="ko-KR" dirty="0"/>
                  <a:t>0</a:t>
                </a:r>
                <a:r>
                  <a:rPr lang="ko-KR" altLang="en-US" dirty="0"/>
                  <a:t>인 경우 기본값</a:t>
                </a:r>
                <a:endParaRPr lang="en-US" altLang="ko-KR" dirty="0"/>
              </a:p>
              <a:p>
                <a:pPr marL="285750" indent="-285750">
                  <a:buFontTx/>
                  <a:buChar char="-"/>
                </a:pPr>
                <a:endParaRPr lang="en-US" altLang="ko-KR" dirty="0"/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600" y="1700955"/>
                <a:ext cx="7200800" cy="3139321"/>
              </a:xfrm>
              <a:prstGeom prst="rect">
                <a:avLst/>
              </a:prstGeom>
              <a:blipFill>
                <a:blip r:embed="rId3"/>
                <a:stretch>
                  <a:fillRect l="-846" t="-174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300" dirty="0"/>
              <a:t>단순 선형 회귀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4F71470-8848-403B-AACD-99156C0E2A39}"/>
                  </a:ext>
                </a:extLst>
              </p:cNvPr>
              <p:cNvSpPr txBox="1"/>
              <p:nvPr/>
            </p:nvSpPr>
            <p:spPr>
              <a:xfrm>
                <a:off x="3456398" y="2996952"/>
                <a:ext cx="1907690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ko-KR" altLang="en-US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𝑤𝑥</m:t>
                      </m:r>
                      <m:r>
                        <a:rPr lang="ko-KR" altLang="en-US" i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4F71470-8848-403B-AACD-99156C0E2A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6398" y="2996952"/>
                <a:ext cx="1907690" cy="276999"/>
              </a:xfrm>
              <a:prstGeom prst="rect">
                <a:avLst/>
              </a:prstGeom>
              <a:blipFill>
                <a:blip r:embed="rId4"/>
                <a:stretch>
                  <a:fillRect b="-3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718227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75704" y="271681"/>
            <a:ext cx="72327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 err="1">
                <a:solidFill>
                  <a:schemeClr val="bg1"/>
                </a:solidFill>
              </a:rPr>
              <a:t>머신러닝</a:t>
            </a:r>
            <a:endParaRPr lang="ko-KR" altLang="en-US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971600" y="1700955"/>
                <a:ext cx="7200800" cy="28623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Tx/>
                  <a:buChar char="-"/>
                </a:pPr>
                <a:r>
                  <a:rPr lang="ko-KR" altLang="en-US" dirty="0"/>
                  <a:t>선형 회귀 모델을 잘 학습하기 위해서는 </a:t>
                </a:r>
                <a:r>
                  <a:rPr lang="en-US" altLang="ko-KR" dirty="0"/>
                  <a:t>MSE </a:t>
                </a:r>
                <a:r>
                  <a:rPr lang="ko-KR" altLang="en-US" dirty="0"/>
                  <a:t>값을 최소화 할 수 있는 매개변수를 선택</a:t>
                </a:r>
                <a:endParaRPr lang="en-US" altLang="ko-KR" dirty="0"/>
              </a:p>
              <a:p>
                <a:pPr marL="285750" indent="-285750">
                  <a:buFontTx/>
                  <a:buChar char="-"/>
                </a:pPr>
                <a:r>
                  <a:rPr lang="ko-KR" altLang="en-US" dirty="0"/>
                  <a:t>통계적 방식의 회귀 분석은 </a:t>
                </a:r>
                <a:r>
                  <a:rPr lang="ko-KR" altLang="en-US" dirty="0" err="1"/>
                  <a:t>정규화방식을</a:t>
                </a:r>
                <a:r>
                  <a:rPr lang="ko-KR" altLang="en-US" dirty="0"/>
                  <a:t> 사용하여 문제를 해결</a:t>
                </a:r>
                <a:endParaRPr lang="en-US" altLang="ko-KR" dirty="0"/>
              </a:p>
              <a:p>
                <a:pPr marL="285750" indent="-285750">
                  <a:buFontTx/>
                  <a:buChar char="-"/>
                </a:pPr>
                <a:endParaRPr lang="en-US" altLang="ko-KR" dirty="0"/>
              </a:p>
              <a:p>
                <a:pPr marL="285750" indent="-285750">
                  <a:buFontTx/>
                  <a:buChar char="-"/>
                </a:pPr>
                <a:endParaRPr lang="en-US" altLang="ko-KR" dirty="0"/>
              </a:p>
              <a:p>
                <a:pPr marL="285750" indent="-285750">
                  <a:buFontTx/>
                  <a:buChar char="-"/>
                </a:pPr>
                <a:endParaRPr lang="en-US" altLang="ko-KR" dirty="0"/>
              </a:p>
              <a:p>
                <a:pPr marL="285750" indent="-285750">
                  <a:buFontTx/>
                  <a:buChar char="-"/>
                </a:pPr>
                <a:endParaRPr lang="en-US" altLang="ko-KR" dirty="0"/>
              </a:p>
              <a:p>
                <a:pPr marL="285750" indent="-285750">
                  <a:buFontTx/>
                  <a:buChar char="-"/>
                </a:pPr>
                <a:endParaRPr lang="en-US" altLang="ko-KR" dirty="0"/>
              </a:p>
              <a:p>
                <a:pPr marL="285750" indent="-285750">
                  <a:buFontTx/>
                  <a:buChar char="-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i="1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ko-KR" alt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ko-KR" dirty="0"/>
                  <a:t> : </a:t>
                </a:r>
                <a:r>
                  <a:rPr lang="ko-KR" altLang="en-US" dirty="0"/>
                  <a:t>실제 데이터</a:t>
                </a:r>
                <a:endParaRPr lang="en-US" altLang="ko-KR" dirty="0"/>
              </a:p>
              <a:p>
                <a:pPr marL="285750" indent="-285750">
                  <a:buFontTx/>
                  <a:buChar char="-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i="1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ko-KR" altLang="en-US" i="1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ko-KR" alt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ko-KR" alt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 :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모</m:t>
                    </m:r>
                  </m:oMath>
                </a14:m>
                <a:r>
                  <a:rPr lang="ko-KR" altLang="en-US" dirty="0"/>
                  <a:t>델이 예측한 값</a:t>
                </a:r>
                <a:endParaRPr lang="en-US" altLang="ko-KR" dirty="0"/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600" y="1700955"/>
                <a:ext cx="7200800" cy="2862322"/>
              </a:xfrm>
              <a:prstGeom prst="rect">
                <a:avLst/>
              </a:prstGeom>
              <a:blipFill>
                <a:blip r:embed="rId3"/>
                <a:stretch>
                  <a:fillRect l="-846" t="-1915" b="-234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300" dirty="0"/>
              <a:t>단순 선형 회귀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84AA5AD-C144-4995-987C-4E4D29FA945E}"/>
                  </a:ext>
                </a:extLst>
              </p:cNvPr>
              <p:cNvSpPr txBox="1"/>
              <p:nvPr/>
            </p:nvSpPr>
            <p:spPr>
              <a:xfrm>
                <a:off x="3382731" y="2996952"/>
                <a:ext cx="2306529" cy="7562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𝑀𝑆𝐸</m:t>
                      </m:r>
                      <m:r>
                        <a:rPr lang="ko-KR" altLang="en-US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ko-KR" altLang="en-US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o-KR" altLang="en-US" i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ko-KR" alt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grow m:val="on"/>
                          <m:ctrlPr>
                            <a:rPr lang="ko-KR" alt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ko-KR" alt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ko-KR" altLang="en-US" i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ko-KR" alt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p>
                            <m:sSupPr>
                              <m:ctrlPr>
                                <a:rPr lang="ko-KR" altLang="en-US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ko-KR" altLang="en-US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ko-KR" altLang="en-US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ko-KR" altLang="en-US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ko-KR" alt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ko-KR" altLang="en-US" i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ko-KR" altLang="en-US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ko-KR" altLang="en-US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ko-KR" altLang="en-US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ko-KR" alt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ko-KR" altLang="en-US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84AA5AD-C144-4995-987C-4E4D29FA94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2731" y="2996952"/>
                <a:ext cx="2306529" cy="75623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869400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75704" y="271681"/>
            <a:ext cx="72327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 err="1">
                <a:solidFill>
                  <a:schemeClr val="bg1"/>
                </a:solidFill>
              </a:rPr>
              <a:t>머신러닝</a:t>
            </a:r>
            <a:endParaRPr lang="ko-KR" altLang="en-US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/>
              <a:t>다중의 독립 변수가 존재하는 회귀 분석 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여러 개의 독립 변수가 복합적으로 종속 변수에 영향을 미치는 경우 다중 회귀 모형으로 예측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300" dirty="0"/>
              <a:t>다중 회귀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4BB84D3-4EFA-451F-BF51-73BB9EAB3FCE}"/>
                  </a:ext>
                </a:extLst>
              </p:cNvPr>
              <p:cNvSpPr txBox="1"/>
              <p:nvPr/>
            </p:nvSpPr>
            <p:spPr>
              <a:xfrm>
                <a:off x="2286000" y="3048809"/>
                <a:ext cx="4572000" cy="76392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 latinLnBrk="1"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ko-KR" altLang="ko-KR" sz="18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lang="en-US" altLang="ko-KR" sz="1800" i="1" kern="100">
                              <a:effectLst/>
                              <a:latin typeface="Cambria Math" panose="02040503050406030204" pitchFamily="18" charset="0"/>
                              <a:ea typeface="맑은 고딕" panose="020B0503020000020004" pitchFamily="50" charset="-127"/>
                              <a:cs typeface="Times New Roman" panose="02020603050405020304" pitchFamily="18" charset="0"/>
                            </a:rPr>
                            <m:t>𝑦</m:t>
                          </m:r>
                        </m:e>
                      </m:acc>
                      <m:r>
                        <a:rPr lang="en-US" altLang="ko-KR" sz="1800" i="1" kern="100">
                          <a:effectLst/>
                          <a:latin typeface="Cambria Math" panose="02040503050406030204" pitchFamily="18" charset="0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m:t>=</m:t>
                      </m:r>
                      <m:sSub>
                        <m:sSubPr>
                          <m:ctrlPr>
                            <a:rPr lang="ko-KR" altLang="ko-KR" sz="1800" i="1" kern="10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ko-KR" sz="1800" i="1" kern="100">
                              <a:effectLst/>
                              <a:latin typeface="Cambria Math" panose="02040503050406030204" pitchFamily="18" charset="0"/>
                              <a:ea typeface="맑은 고딕" panose="020B0503020000020004" pitchFamily="50" charset="-127"/>
                              <a:cs typeface="Times New Roman" panose="020206030504050203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ko-KR" sz="1800" i="1" kern="100">
                              <a:effectLst/>
                              <a:latin typeface="Cambria Math" panose="02040503050406030204" pitchFamily="18" charset="0"/>
                              <a:ea typeface="맑은 고딕" panose="020B0503020000020004" pitchFamily="50" charset="-127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ko-KR" altLang="ko-KR" sz="1800" i="1" kern="10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ko-KR" sz="1800" i="1" kern="100">
                              <a:effectLst/>
                              <a:latin typeface="Cambria Math" panose="02040503050406030204" pitchFamily="18" charset="0"/>
                              <a:ea typeface="맑은 고딕" panose="020B0503020000020004" pitchFamily="50" charset="-127"/>
                              <a:cs typeface="Times New Roman" panose="020206030504050203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ko-KR" sz="1800" i="1" kern="100">
                              <a:effectLst/>
                              <a:latin typeface="Cambria Math" panose="02040503050406030204" pitchFamily="18" charset="0"/>
                              <a:ea typeface="맑은 고딕" panose="020B0503020000020004" pitchFamily="50" charset="-127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ko-KR" sz="1800" i="1" kern="100">
                          <a:effectLst/>
                          <a:latin typeface="Cambria Math" panose="02040503050406030204" pitchFamily="18" charset="0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m:t>+</m:t>
                      </m:r>
                      <m:sSub>
                        <m:sSubPr>
                          <m:ctrlPr>
                            <a:rPr lang="ko-KR" altLang="ko-KR" sz="1800" i="1" kern="10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ko-KR" sz="1800" i="1" kern="100">
                              <a:effectLst/>
                              <a:latin typeface="Cambria Math" panose="02040503050406030204" pitchFamily="18" charset="0"/>
                              <a:ea typeface="맑은 고딕" panose="020B0503020000020004" pitchFamily="50" charset="-127"/>
                              <a:cs typeface="Times New Roman" panose="020206030504050203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ko-KR" sz="1800" i="1" kern="100">
                              <a:effectLst/>
                              <a:latin typeface="Cambria Math" panose="02040503050406030204" pitchFamily="18" charset="0"/>
                              <a:ea typeface="맑은 고딕" panose="020B0503020000020004" pitchFamily="50" charset="-127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ko-KR" altLang="ko-KR" sz="1800" i="1" kern="10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ko-KR" sz="1800" i="1" kern="100">
                              <a:effectLst/>
                              <a:latin typeface="Cambria Math" panose="02040503050406030204" pitchFamily="18" charset="0"/>
                              <a:ea typeface="맑은 고딕" panose="020B0503020000020004" pitchFamily="50" charset="-127"/>
                              <a:cs typeface="Times New Roman" panose="020206030504050203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ko-KR" sz="1800" i="1" kern="100">
                              <a:effectLst/>
                              <a:latin typeface="Cambria Math" panose="02040503050406030204" pitchFamily="18" charset="0"/>
                              <a:ea typeface="맑은 고딕" panose="020B0503020000020004" pitchFamily="50" charset="-127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ko-KR" sz="1800" i="1" kern="100">
                          <a:effectLst/>
                          <a:latin typeface="Cambria Math" panose="02040503050406030204" pitchFamily="18" charset="0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m:t>+</m:t>
                      </m:r>
                      <m:r>
                        <a:rPr lang="ko-KR" altLang="ko-KR" sz="1800" kern="100">
                          <a:effectLst/>
                          <a:latin typeface="Cambria Math" panose="02040503050406030204" pitchFamily="18" charset="0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m:t>…</m:t>
                      </m:r>
                      <m:r>
                        <a:rPr lang="en-US" altLang="ko-KR" sz="1800" i="1" kern="100">
                          <a:effectLst/>
                          <a:latin typeface="Cambria Math" panose="02040503050406030204" pitchFamily="18" charset="0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m:t>+</m:t>
                      </m:r>
                      <m:sSub>
                        <m:sSubPr>
                          <m:ctrlPr>
                            <a:rPr lang="ko-KR" altLang="ko-KR" sz="1800" i="1" kern="10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ko-KR" sz="1800" i="1" kern="100">
                              <a:effectLst/>
                              <a:latin typeface="Cambria Math" panose="02040503050406030204" pitchFamily="18" charset="0"/>
                              <a:ea typeface="맑은 고딕" panose="020B0503020000020004" pitchFamily="50" charset="-127"/>
                              <a:cs typeface="Times New Roman" panose="020206030504050203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ko-KR" sz="1800" i="1" kern="100">
                              <a:effectLst/>
                              <a:latin typeface="Cambria Math" panose="02040503050406030204" pitchFamily="18" charset="0"/>
                              <a:ea typeface="맑은 고딕" panose="020B0503020000020004" pitchFamily="50" charset="-127"/>
                              <a:cs typeface="Times New Roman" panose="02020603050405020304" pitchFamily="18" charset="0"/>
                            </a:rPr>
                            <m:t>𝑛</m:t>
                          </m:r>
                        </m:sub>
                      </m:sSub>
                      <m:sSub>
                        <m:sSubPr>
                          <m:ctrlPr>
                            <a:rPr lang="ko-KR" altLang="ko-KR" sz="1800" i="1" kern="10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ko-KR" sz="1800" i="1" kern="100">
                              <a:effectLst/>
                              <a:latin typeface="Cambria Math" panose="02040503050406030204" pitchFamily="18" charset="0"/>
                              <a:ea typeface="맑은 고딕" panose="020B0503020000020004" pitchFamily="50" charset="-127"/>
                              <a:cs typeface="Times New Roman" panose="020206030504050203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ko-KR" sz="1800" i="1" kern="100">
                              <a:effectLst/>
                              <a:latin typeface="Cambria Math" panose="02040503050406030204" pitchFamily="18" charset="0"/>
                              <a:ea typeface="맑은 고딕" panose="020B0503020000020004" pitchFamily="50" charset="-127"/>
                              <a:cs typeface="Times New Roman" panose="020206030504050203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altLang="ko-KR" sz="1800" i="1" kern="100">
                          <a:effectLst/>
                          <a:latin typeface="Cambria Math" panose="02040503050406030204" pitchFamily="18" charset="0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m:t>+</m:t>
                      </m:r>
                      <m:r>
                        <a:rPr lang="en-US" altLang="ko-KR" sz="1800" i="1" kern="100">
                          <a:effectLst/>
                          <a:latin typeface="Cambria Math" panose="02040503050406030204" pitchFamily="18" charset="0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m:t>𝑏</m:t>
                      </m:r>
                    </m:oMath>
                  </m:oMathPara>
                </a14:m>
                <a:endParaRPr lang="ko-KR" altLang="ko-KR" sz="1800" kern="100" dirty="0">
                  <a:effectLst/>
                  <a:latin typeface="맑은 고딕" panose="020B0503020000020004" pitchFamily="50" charset="-127"/>
                  <a:ea typeface="맑은 고딕" panose="020B0503020000020004" pitchFamily="50" charset="-127"/>
                  <a:cs typeface="Times New Roman" panose="02020603050405020304" pitchFamily="18" charset="0"/>
                </a:endParaRPr>
              </a:p>
              <a:p>
                <a:pPr algn="just" latinLnBrk="1"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en-US" altLang="ko-KR" sz="1800" kern="100" dirty="0">
                    <a:effectLst/>
                    <a:latin typeface="맑은 고딕" panose="020B0503020000020004" pitchFamily="50" charset="-127"/>
                    <a:ea typeface="맑은 고딕" panose="020B0503020000020004" pitchFamily="50" charset="-127"/>
                    <a:cs typeface="Times New Roman" panose="02020603050405020304" pitchFamily="18" charset="0"/>
                  </a:rPr>
                  <a:t> </a:t>
                </a:r>
                <a:endParaRPr lang="ko-KR" altLang="ko-KR" sz="1800" kern="100" dirty="0">
                  <a:effectLst/>
                  <a:latin typeface="맑은 고딕" panose="020B0503020000020004" pitchFamily="50" charset="-127"/>
                  <a:ea typeface="맑은 고딕" panose="020B0503020000020004" pitchFamily="50" charset="-127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4BB84D3-4EFA-451F-BF51-73BB9EAB3F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6000" y="3048809"/>
                <a:ext cx="4572000" cy="76392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485123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75704" y="271681"/>
            <a:ext cx="72327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 err="1">
                <a:solidFill>
                  <a:schemeClr val="bg1"/>
                </a:solidFill>
              </a:rPr>
              <a:t>머신러닝</a:t>
            </a:r>
            <a:endParaRPr lang="ko-KR" altLang="en-US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/>
              <a:t>모델이 복잡해지면</a:t>
            </a:r>
            <a:r>
              <a:rPr lang="en-US" altLang="ko-KR" dirty="0"/>
              <a:t>(</a:t>
            </a:r>
            <a:r>
              <a:rPr lang="ko-KR" altLang="en-US" dirty="0" err="1"/>
              <a:t>피쳐의</a:t>
            </a:r>
            <a:r>
              <a:rPr lang="ko-KR" altLang="en-US" dirty="0"/>
              <a:t> 개수가 많은 경우</a:t>
            </a:r>
            <a:r>
              <a:rPr lang="en-US" altLang="ko-KR" dirty="0"/>
              <a:t>) </a:t>
            </a:r>
            <a:r>
              <a:rPr lang="ko-KR" altLang="en-US" dirty="0"/>
              <a:t>과대적합이 발생할 가능성이 있기 때문에 이를 방지하기 위해 다양한 규제 방식이 존재하고 이러한 규제 방식에 따른 모델들이 존재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모델에서 규제 방식에 따라 가중치</a:t>
            </a:r>
            <a:r>
              <a:rPr lang="en-US" altLang="ko-KR" dirty="0"/>
              <a:t>(</a:t>
            </a:r>
            <a:r>
              <a:rPr lang="ko-KR" altLang="en-US" dirty="0"/>
              <a:t>규칙</a:t>
            </a:r>
            <a:r>
              <a:rPr lang="en-US" altLang="ko-KR" dirty="0"/>
              <a:t>)</a:t>
            </a:r>
            <a:r>
              <a:rPr lang="ko-KR" altLang="en-US" dirty="0"/>
              <a:t>의 제한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규제를 강하게 거는 경우 가중치의 절대치가 줄어들고 </a:t>
            </a:r>
            <a:r>
              <a:rPr lang="en-US" altLang="ko-KR" dirty="0"/>
              <a:t>0</a:t>
            </a:r>
            <a:r>
              <a:rPr lang="ko-KR" altLang="en-US" dirty="0"/>
              <a:t>에 </a:t>
            </a:r>
            <a:r>
              <a:rPr lang="ko-KR" altLang="en-US" dirty="0" err="1"/>
              <a:t>가까워짐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가중치가 </a:t>
            </a:r>
            <a:r>
              <a:rPr lang="en-US" altLang="ko-KR" dirty="0"/>
              <a:t>0</a:t>
            </a:r>
            <a:r>
              <a:rPr lang="ko-KR" altLang="en-US" dirty="0"/>
              <a:t>이 되는 </a:t>
            </a:r>
            <a:r>
              <a:rPr lang="ko-KR" altLang="en-US" dirty="0" err="1"/>
              <a:t>피쳐들이</a:t>
            </a:r>
            <a:r>
              <a:rPr lang="ko-KR" altLang="en-US" dirty="0"/>
              <a:t> 생성</a:t>
            </a:r>
            <a:r>
              <a:rPr lang="en-US" altLang="ko-KR" dirty="0"/>
              <a:t>(</a:t>
            </a:r>
            <a:r>
              <a:rPr lang="ko-KR" altLang="en-US" dirty="0"/>
              <a:t>해당 </a:t>
            </a:r>
            <a:r>
              <a:rPr lang="ko-KR" altLang="en-US" dirty="0" err="1"/>
              <a:t>피쳐는</a:t>
            </a:r>
            <a:r>
              <a:rPr lang="ko-KR" altLang="en-US" dirty="0"/>
              <a:t> 예측 값에 영향</a:t>
            </a:r>
            <a:r>
              <a:rPr lang="en-US" altLang="ko-KR" dirty="0"/>
              <a:t>X)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300" dirty="0"/>
              <a:t>다중 회귀</a:t>
            </a:r>
          </a:p>
        </p:txBody>
      </p:sp>
    </p:spTree>
    <p:extLst>
      <p:ext uri="{BB962C8B-B14F-4D97-AF65-F5344CB8AC3E}">
        <p14:creationId xmlns:p14="http://schemas.microsoft.com/office/powerpoint/2010/main" val="41366363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75704" y="271681"/>
            <a:ext cx="72327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 err="1">
                <a:solidFill>
                  <a:schemeClr val="bg1"/>
                </a:solidFill>
              </a:rPr>
              <a:t>머신러닝</a:t>
            </a:r>
            <a:endParaRPr lang="ko-KR" altLang="en-US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/>
              <a:t>선형 회귀 모델 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데이터 사이의 관계를 직선으로 표현해서 예측을 하는 방법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입력 데이터와 결과 데이터 사이에 일정한 비율로 변하는 관계가 있다고 가정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해당 관계를 가장 설명을 잘 하는 직선을 찾는 과정 </a:t>
            </a:r>
            <a:endParaRPr lang="en-US" altLang="ko-KR" dirty="0"/>
          </a:p>
          <a:p>
            <a:pPr marL="285750" indent="-285750">
              <a:buFontTx/>
              <a:buChar char="-"/>
            </a:pP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공부의 시간이 늘어나는 경우 점수가 일정하게 증가할 것이다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300" dirty="0" err="1"/>
              <a:t>LinearRegression</a:t>
            </a:r>
            <a:endParaRPr lang="ko-KR" altLang="en-US" sz="2300" dirty="0"/>
          </a:p>
        </p:txBody>
      </p:sp>
    </p:spTree>
    <p:extLst>
      <p:ext uri="{BB962C8B-B14F-4D97-AF65-F5344CB8AC3E}">
        <p14:creationId xmlns:p14="http://schemas.microsoft.com/office/powerpoint/2010/main" val="79576772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75704" y="271681"/>
            <a:ext cx="72327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 err="1">
                <a:solidFill>
                  <a:schemeClr val="bg1"/>
                </a:solidFill>
              </a:rPr>
              <a:t>머신러닝</a:t>
            </a:r>
            <a:endParaRPr lang="ko-KR" altLang="en-US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/>
              <p:cNvSpPr txBox="1"/>
              <p:nvPr/>
            </p:nvSpPr>
            <p:spPr>
              <a:xfrm>
                <a:off x="971600" y="1700955"/>
                <a:ext cx="7200800" cy="419467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Tx/>
                  <a:buChar char="-"/>
                </a:pPr>
                <a:r>
                  <a:rPr lang="ko-KR" altLang="en-US" b="0" i="0" dirty="0">
                    <a:solidFill>
                      <a:srgbClr val="141414"/>
                    </a:solidFill>
                    <a:effectLst/>
                    <a:latin typeface="Noto Sans KR" panose="020B0200000000000000" pitchFamily="50" charset="-127"/>
                    <a:ea typeface="Noto Sans KR" panose="020B0200000000000000" pitchFamily="50" charset="-127"/>
                  </a:rPr>
                  <a:t>나무 구조로 </a:t>
                </a:r>
                <a:r>
                  <a:rPr lang="ko-KR" altLang="en-US" b="0" i="0" dirty="0" err="1">
                    <a:solidFill>
                      <a:srgbClr val="141414"/>
                    </a:solidFill>
                    <a:effectLst/>
                    <a:latin typeface="Noto Sans KR" panose="020B0200000000000000" pitchFamily="50" charset="-127"/>
                    <a:ea typeface="Noto Sans KR" panose="020B0200000000000000" pitchFamily="50" charset="-127"/>
                  </a:rPr>
                  <a:t>도표화하여</a:t>
                </a:r>
                <a:r>
                  <a:rPr lang="ko-KR" altLang="en-US" b="0" i="0" dirty="0">
                    <a:solidFill>
                      <a:srgbClr val="141414"/>
                    </a:solidFill>
                    <a:effectLst/>
                    <a:latin typeface="Noto Sans KR" panose="020B0200000000000000" pitchFamily="50" charset="-127"/>
                    <a:ea typeface="Noto Sans KR" panose="020B0200000000000000" pitchFamily="50" charset="-127"/>
                  </a:rPr>
                  <a:t> 분류</a:t>
                </a:r>
                <a:r>
                  <a:rPr lang="en-US" altLang="ko-KR" b="0" i="0" dirty="0">
                    <a:solidFill>
                      <a:srgbClr val="141414"/>
                    </a:solidFill>
                    <a:effectLst/>
                    <a:latin typeface="Noto Sans KR" panose="020B0200000000000000" pitchFamily="50" charset="-127"/>
                    <a:ea typeface="Noto Sans KR" panose="020B0200000000000000" pitchFamily="50" charset="-127"/>
                  </a:rPr>
                  <a:t>(Classification)</a:t>
                </a:r>
                <a:r>
                  <a:rPr lang="ko-KR" altLang="en-US" b="0" i="0" dirty="0">
                    <a:solidFill>
                      <a:srgbClr val="141414"/>
                    </a:solidFill>
                    <a:effectLst/>
                    <a:latin typeface="Noto Sans KR" panose="020B0200000000000000" pitchFamily="50" charset="-127"/>
                    <a:ea typeface="Noto Sans KR" panose="020B0200000000000000" pitchFamily="50" charset="-127"/>
                  </a:rPr>
                  <a:t>와 예측</a:t>
                </a:r>
                <a:r>
                  <a:rPr lang="en-US" altLang="ko-KR" b="0" i="0" dirty="0">
                    <a:solidFill>
                      <a:srgbClr val="141414"/>
                    </a:solidFill>
                    <a:effectLst/>
                    <a:latin typeface="Noto Sans KR" panose="020B0200000000000000" pitchFamily="50" charset="-127"/>
                    <a:ea typeface="Noto Sans KR" panose="020B0200000000000000" pitchFamily="50" charset="-127"/>
                  </a:rPr>
                  <a:t>(Prediction)</a:t>
                </a:r>
                <a:r>
                  <a:rPr lang="ko-KR" altLang="en-US" b="0" i="0" dirty="0">
                    <a:solidFill>
                      <a:srgbClr val="141414"/>
                    </a:solidFill>
                    <a:effectLst/>
                    <a:latin typeface="Noto Sans KR" panose="020B0200000000000000" pitchFamily="50" charset="-127"/>
                    <a:ea typeface="Noto Sans KR" panose="020B0200000000000000" pitchFamily="50" charset="-127"/>
                  </a:rPr>
                  <a:t>을 수행하는 분석 방법</a:t>
                </a:r>
                <a:endParaRPr lang="en-US" altLang="ko-KR" b="0" i="0" dirty="0">
                  <a:solidFill>
                    <a:srgbClr val="141414"/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endParaRPr>
              </a:p>
              <a:p>
                <a:pPr marL="285750" indent="-285750">
                  <a:buFontTx/>
                  <a:buChar char="-"/>
                </a:pPr>
                <a:r>
                  <a:rPr lang="ko-KR" altLang="en-US" b="0" i="0" dirty="0">
                    <a:solidFill>
                      <a:srgbClr val="141414"/>
                    </a:solidFill>
                    <a:effectLst/>
                    <a:latin typeface="Noto Sans KR" panose="020B0200000000000000" pitchFamily="50" charset="-127"/>
                    <a:ea typeface="Noto Sans KR" panose="020B0200000000000000" pitchFamily="50" charset="-127"/>
                  </a:rPr>
                  <a:t>분석 목적에 따라 적절한 분리 규칙</a:t>
                </a:r>
                <a:r>
                  <a:rPr lang="en-US" altLang="ko-KR" b="0" i="0" dirty="0">
                    <a:solidFill>
                      <a:srgbClr val="141414"/>
                    </a:solidFill>
                    <a:effectLst/>
                    <a:latin typeface="Noto Sans KR" panose="020B0200000000000000" pitchFamily="50" charset="-127"/>
                    <a:ea typeface="Noto Sans KR" panose="020B0200000000000000" pitchFamily="50" charset="-127"/>
                  </a:rPr>
                  <a:t>(Splitting rule)</a:t>
                </a:r>
                <a:r>
                  <a:rPr lang="ko-KR" altLang="en-US" b="0" i="0" dirty="0">
                    <a:solidFill>
                      <a:srgbClr val="141414"/>
                    </a:solidFill>
                    <a:effectLst/>
                    <a:latin typeface="Noto Sans KR" panose="020B0200000000000000" pitchFamily="50" charset="-127"/>
                    <a:ea typeface="Noto Sans KR" panose="020B0200000000000000" pitchFamily="50" charset="-127"/>
                  </a:rPr>
                  <a:t>을 찾아 나무를 성장시키는 과정</a:t>
                </a:r>
                <a:endParaRPr lang="en-US" altLang="ko-KR" dirty="0">
                  <a:solidFill>
                    <a:srgbClr val="141414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endParaRPr>
              </a:p>
              <a:p>
                <a:pPr marL="285750" indent="-285750">
                  <a:buFontTx/>
                  <a:buChar char="-"/>
                </a:pPr>
                <a:r>
                  <a:rPr lang="ko-KR" altLang="en-US" dirty="0"/>
                  <a:t>목표 변수 </a:t>
                </a:r>
                <a:r>
                  <a:rPr lang="en-US" altLang="ko-KR" dirty="0"/>
                  <a:t>(y)</a:t>
                </a:r>
                <a:r>
                  <a:rPr lang="ko-KR" altLang="en-US" dirty="0"/>
                  <a:t>가 범주형 변수인 경우 불순도를 측정하여 불순도가 적은 방향으로 자식 가지를 형성</a:t>
                </a:r>
                <a:endParaRPr lang="en-US" altLang="ko-KR" dirty="0"/>
              </a:p>
              <a:p>
                <a:pPr marL="285750" indent="-285750">
                  <a:buFontTx/>
                  <a:buChar char="-"/>
                </a:pPr>
                <a:r>
                  <a:rPr lang="ko-KR" altLang="en-US" dirty="0"/>
                  <a:t>의사결정나무에서 불순도를 측정할 수 있는 지표로는 지니 지수</a:t>
                </a:r>
                <a:r>
                  <a:rPr lang="en-US" altLang="ko-KR" dirty="0"/>
                  <a:t>, </a:t>
                </a:r>
                <a:r>
                  <a:rPr lang="ko-KR" altLang="en-US" dirty="0"/>
                  <a:t>엔트로피 지수</a:t>
                </a:r>
                <a:r>
                  <a:rPr lang="en-US" altLang="ko-KR" dirty="0"/>
                  <a:t>, </a:t>
                </a:r>
                <a:r>
                  <a:rPr lang="ko-KR" altLang="en-US" dirty="0" err="1"/>
                  <a:t>카이제곱</a:t>
                </a:r>
                <a:r>
                  <a:rPr lang="ko-KR" altLang="en-US" dirty="0"/>
                  <a:t> 통계량</a:t>
                </a:r>
                <a:endParaRPr lang="en-US" altLang="ko-KR" dirty="0"/>
              </a:p>
              <a:p>
                <a:pPr marL="285750" indent="-285750">
                  <a:buFontTx/>
                  <a:buChar char="-"/>
                </a:pPr>
                <a:endParaRPr lang="en-US" altLang="ko-KR" dirty="0"/>
              </a:p>
              <a:p>
                <a:pPr algn="just" latinLnBrk="1"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i="1" kern="100" smtClean="0">
                          <a:effectLst/>
                          <a:latin typeface="Cambria Math" panose="02040503050406030204" pitchFamily="18" charset="0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m:t>𝐺𝑖𝑛𝑖</m:t>
                      </m:r>
                      <m:r>
                        <a:rPr lang="en-US" altLang="ko-KR" sz="1800" i="1" kern="100" smtClean="0">
                          <a:effectLst/>
                          <a:latin typeface="Cambria Math" panose="02040503050406030204" pitchFamily="18" charset="0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m:t>=1−</m:t>
                      </m:r>
                      <m:nary>
                        <m:naryPr>
                          <m:chr m:val="∑"/>
                          <m:ctrlPr>
                            <a:rPr lang="ko-KR" altLang="ko-KR" sz="1800" i="1" kern="10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naryPr>
                        <m:sub>
                          <m:r>
                            <a:rPr lang="en-US" altLang="ko-KR" sz="1800" i="1" kern="100">
                              <a:effectLst/>
                              <a:latin typeface="Cambria Math" panose="02040503050406030204" pitchFamily="18" charset="0"/>
                              <a:ea typeface="맑은 고딕" panose="020B0503020000020004" pitchFamily="50" charset="-127"/>
                              <a:cs typeface="Times New Roman" panose="02020603050405020304" pitchFamily="18" charset="0"/>
                            </a:rPr>
                            <m:t>𝑖</m:t>
                          </m:r>
                          <m:r>
                            <a:rPr lang="en-US" altLang="ko-KR" sz="1800" i="1" kern="100">
                              <a:effectLst/>
                              <a:latin typeface="Cambria Math" panose="02040503050406030204" pitchFamily="18" charset="0"/>
                              <a:ea typeface="맑은 고딕" panose="020B0503020000020004" pitchFamily="50" charset="-127"/>
                              <a:cs typeface="Times New Roman" panose="020206030504050203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ko-KR" sz="1800" i="1" kern="100">
                              <a:effectLst/>
                              <a:latin typeface="Cambria Math" panose="02040503050406030204" pitchFamily="18" charset="0"/>
                              <a:ea typeface="맑은 고딕" panose="020B0503020000020004" pitchFamily="50" charset="-127"/>
                              <a:cs typeface="Times New Roman" panose="02020603050405020304" pitchFamily="18" charset="0"/>
                            </a:rPr>
                            <m:t>𝐶</m:t>
                          </m:r>
                        </m:sup>
                        <m:e>
                          <m:sSubSup>
                            <m:sSubSupPr>
                              <m:ctrlPr>
                                <a:rPr lang="ko-KR" altLang="ko-KR" sz="1800" i="1" kern="10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ko-KR" sz="1800" i="1" kern="100">
                                  <a:effectLst/>
                                  <a:latin typeface="Cambria Math" panose="02040503050406030204" pitchFamily="18" charset="0"/>
                                  <a:ea typeface="맑은 고딕" panose="020B0503020000020004" pitchFamily="50" charset="-127"/>
                                  <a:cs typeface="Times New Roman" panose="020206030504050203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ko-KR" sz="1800" i="1" kern="100">
                                  <a:effectLst/>
                                  <a:latin typeface="Cambria Math" panose="02040503050406030204" pitchFamily="18" charset="0"/>
                                  <a:ea typeface="맑은 고딕" panose="020B0503020000020004" pitchFamily="50" charset="-127"/>
                                  <a:cs typeface="Times New Roman" panose="020206030504050203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altLang="ko-KR" sz="1800" i="1" kern="100">
                                  <a:effectLst/>
                                  <a:latin typeface="Cambria Math" panose="02040503050406030204" pitchFamily="18" charset="0"/>
                                  <a:ea typeface="맑은 고딕" panose="020B0503020000020004" pitchFamily="50" charset="-127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nary>
                    </m:oMath>
                  </m:oMathPara>
                </a14:m>
                <a:endParaRPr lang="ko-KR" altLang="ko-KR" sz="1800" kern="100" dirty="0">
                  <a:effectLst/>
                  <a:latin typeface="맑은 고딕" panose="020B0503020000020004" pitchFamily="50" charset="-127"/>
                  <a:ea typeface="맑은 고딕" panose="020B0503020000020004" pitchFamily="50" charset="-127"/>
                  <a:cs typeface="Times New Roman" panose="02020603050405020304" pitchFamily="18" charset="0"/>
                </a:endParaRPr>
              </a:p>
              <a:p>
                <a:pPr algn="just"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en-US" altLang="ko-KR" sz="1800" kern="100" dirty="0">
                    <a:effectLst/>
                    <a:latin typeface="맑은 고딕" panose="020B0503020000020004" pitchFamily="50" charset="-127"/>
                    <a:ea typeface="맑은 고딕" panose="020B0503020000020004" pitchFamily="50" charset="-127"/>
                    <a:cs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r>
                      <a:rPr lang="en-US" altLang="ko-KR" sz="1800" i="1" smtClean="0">
                        <a:effectLst/>
                        <a:latin typeface="Cambria Math" panose="02040503050406030204" pitchFamily="18" charset="0"/>
                        <a:ea typeface="맑은 고딕" panose="020B0503020000020004" pitchFamily="50" charset="-127"/>
                        <a:cs typeface="Times New Roman" panose="02020603050405020304" pitchFamily="18" charset="0"/>
                      </a:rPr>
                      <m:t>𝐶</m:t>
                    </m:r>
                  </m:oMath>
                </a14:m>
                <a:r>
                  <a:rPr lang="en-US" altLang="ko-KR" sz="1800" kern="100" dirty="0">
                    <a:effectLst/>
                    <a:latin typeface="맑은 고딕" panose="020B0503020000020004" pitchFamily="50" charset="-127"/>
                    <a:ea typeface="맑은 고딕" panose="020B0503020000020004" pitchFamily="50" charset="-127"/>
                    <a:cs typeface="Times New Roman" panose="02020603050405020304" pitchFamily="18" charset="0"/>
                  </a:rPr>
                  <a:t> : </a:t>
                </a:r>
                <a:r>
                  <a:rPr lang="ko-KR" altLang="en-US" sz="1800" kern="100" dirty="0">
                    <a:effectLst/>
                    <a:latin typeface="맑은 고딕" panose="020B0503020000020004" pitchFamily="50" charset="-127"/>
                    <a:ea typeface="맑은 고딕" panose="020B0503020000020004" pitchFamily="50" charset="-127"/>
                    <a:cs typeface="Times New Roman" panose="02020603050405020304" pitchFamily="18" charset="0"/>
                  </a:rPr>
                  <a:t>분류해야 할 종속변수의 개수 </a:t>
                </a:r>
                <a:r>
                  <a:rPr lang="en-US" altLang="ko-KR" kern="100" dirty="0">
                    <a:latin typeface="맑은 고딕" panose="020B0503020000020004" pitchFamily="50" charset="-127"/>
                    <a:cs typeface="Times New Roman" panose="02020603050405020304" pitchFamily="18" charset="0"/>
                  </a:rPr>
                  <a:t>(</a:t>
                </a:r>
                <a:r>
                  <a:rPr lang="ko-KR" altLang="en-US" kern="100" dirty="0">
                    <a:latin typeface="맑은 고딕" panose="020B0503020000020004" pitchFamily="50" charset="-127"/>
                    <a:cs typeface="Times New Roman" panose="02020603050405020304" pitchFamily="18" charset="0"/>
                  </a:rPr>
                  <a:t>예</a:t>
                </a:r>
                <a:r>
                  <a:rPr lang="en-US" altLang="ko-KR" kern="100" dirty="0">
                    <a:latin typeface="맑은 고딕" panose="020B0503020000020004" pitchFamily="50" charset="-127"/>
                    <a:cs typeface="Times New Roman" panose="02020603050405020304" pitchFamily="18" charset="0"/>
                  </a:rPr>
                  <a:t>: </a:t>
                </a:r>
                <a:r>
                  <a:rPr lang="ko-KR" altLang="en-US" kern="100" dirty="0">
                    <a:latin typeface="맑은 고딕" panose="020B0503020000020004" pitchFamily="50" charset="-127"/>
                    <a:cs typeface="Times New Roman" panose="02020603050405020304" pitchFamily="18" charset="0"/>
                  </a:rPr>
                  <a:t>합격</a:t>
                </a:r>
                <a:r>
                  <a:rPr lang="en-US" altLang="ko-KR" kern="100" dirty="0">
                    <a:latin typeface="맑은 고딕" panose="020B0503020000020004" pitchFamily="50" charset="-127"/>
                    <a:cs typeface="Times New Roman" panose="02020603050405020304" pitchFamily="18" charset="0"/>
                  </a:rPr>
                  <a:t>/</a:t>
                </a:r>
                <a:r>
                  <a:rPr lang="ko-KR" altLang="en-US" kern="100" dirty="0">
                    <a:latin typeface="맑은 고딕" panose="020B0503020000020004" pitchFamily="50" charset="-127"/>
                    <a:cs typeface="Times New Roman" panose="02020603050405020304" pitchFamily="18" charset="0"/>
                  </a:rPr>
                  <a:t>불합격이면 </a:t>
                </a:r>
                <a:r>
                  <a:rPr lang="en-US" altLang="ko-KR" kern="100" dirty="0">
                    <a:latin typeface="맑은 고딕" panose="020B0503020000020004" pitchFamily="50" charset="-127"/>
                    <a:cs typeface="Times New Roman" panose="02020603050405020304" pitchFamily="18" charset="0"/>
                  </a:rPr>
                  <a:t>2)</a:t>
                </a:r>
                <a:endParaRPr lang="en-US" altLang="ko-KR" sz="1800" kern="100" dirty="0">
                  <a:effectLst/>
                  <a:latin typeface="맑은 고딕" panose="020B0503020000020004" pitchFamily="50" charset="-127"/>
                  <a:ea typeface="맑은 고딕" panose="020B0503020000020004" pitchFamily="50" charset="-127"/>
                  <a:cs typeface="Times New Roman" panose="02020603050405020304" pitchFamily="18" charset="0"/>
                </a:endParaRPr>
              </a:p>
              <a:p>
                <a:pPr algn="just" latinLnBrk="1"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en-US" altLang="ko-KR" kern="100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Times New Roman" panose="02020603050405020304" pitchFamily="18" charset="0"/>
                  </a:rPr>
                  <a:t>-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ko-KR" i="1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altLang="ko-KR" sz="1800" i="1">
                            <a:effectLst/>
                            <a:latin typeface="Cambria Math" panose="02040503050406030204" pitchFamily="18" charset="0"/>
                            <a:ea typeface="맑은 고딕" panose="020B0503020000020004" pitchFamily="50" charset="-127"/>
                            <a:cs typeface="Times New Roman" panose="020206030504050203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sz="1800" i="1">
                            <a:effectLst/>
                            <a:latin typeface="Cambria Math" panose="02040503050406030204" pitchFamily="18" charset="0"/>
                            <a:ea typeface="맑은 고딕" panose="020B0503020000020004" pitchFamily="50" charset="-127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ko-KR" sz="1800" kern="100" dirty="0">
                    <a:effectLst/>
                    <a:latin typeface="맑은 고딕" panose="020B0503020000020004" pitchFamily="50" charset="-127"/>
                    <a:ea typeface="맑은 고딕" panose="020B0503020000020004" pitchFamily="50" charset="-127"/>
                    <a:cs typeface="Times New Roman" panose="02020603050405020304" pitchFamily="18" charset="0"/>
                  </a:rPr>
                  <a:t> : </a:t>
                </a:r>
                <a:r>
                  <a:rPr lang="ko-KR" altLang="en-US" sz="1800" kern="100" dirty="0">
                    <a:effectLst/>
                    <a:latin typeface="맑은 고딕" panose="020B0503020000020004" pitchFamily="50" charset="-127"/>
                    <a:ea typeface="맑은 고딕" panose="020B0503020000020004" pitchFamily="50" charset="-127"/>
                    <a:cs typeface="Times New Roman" panose="02020603050405020304" pitchFamily="18" charset="0"/>
                  </a:rPr>
                  <a:t>특정 구역 안에 </a:t>
                </a:r>
                <a:r>
                  <a:rPr lang="en-US" altLang="ko-KR" sz="1800" kern="100" dirty="0" err="1">
                    <a:effectLst/>
                    <a:latin typeface="맑은 고딕" panose="020B0503020000020004" pitchFamily="50" charset="-127"/>
                    <a:ea typeface="맑은 고딕" panose="020B0503020000020004" pitchFamily="50" charset="-127"/>
                    <a:cs typeface="Times New Roman" panose="02020603050405020304" pitchFamily="18" charset="0"/>
                  </a:rPr>
                  <a:t>i</a:t>
                </a:r>
                <a:r>
                  <a:rPr lang="ko-KR" altLang="en-US" sz="1800" kern="100" dirty="0">
                    <a:effectLst/>
                    <a:latin typeface="맑은 고딕" panose="020B0503020000020004" pitchFamily="50" charset="-127"/>
                    <a:ea typeface="맑은 고딕" panose="020B0503020000020004" pitchFamily="50" charset="-127"/>
                    <a:cs typeface="Times New Roman" panose="02020603050405020304" pitchFamily="18" charset="0"/>
                  </a:rPr>
                  <a:t>번째 정답이 차지하는 비율</a:t>
                </a:r>
                <a:endParaRPr lang="ko-KR" altLang="ko-KR" sz="1800" kern="100" dirty="0">
                  <a:effectLst/>
                  <a:latin typeface="맑은 고딕" panose="020B0503020000020004" pitchFamily="50" charset="-127"/>
                  <a:ea typeface="맑은 고딕" panose="020B0503020000020004" pitchFamily="50" charset="-127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600" y="1700955"/>
                <a:ext cx="7200800" cy="4194674"/>
              </a:xfrm>
              <a:prstGeom prst="rect">
                <a:avLst/>
              </a:prstGeom>
              <a:blipFill>
                <a:blip r:embed="rId3"/>
                <a:stretch>
                  <a:fillRect l="-1100" t="-2180" b="-130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300" dirty="0"/>
              <a:t>Decision Tree</a:t>
            </a:r>
            <a:endParaRPr lang="ko-KR" altLang="en-US" sz="2300" dirty="0"/>
          </a:p>
        </p:txBody>
      </p:sp>
    </p:spTree>
    <p:extLst>
      <p:ext uri="{BB962C8B-B14F-4D97-AF65-F5344CB8AC3E}">
        <p14:creationId xmlns:p14="http://schemas.microsoft.com/office/powerpoint/2010/main" val="218468056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75704" y="271681"/>
            <a:ext cx="72327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 err="1">
                <a:solidFill>
                  <a:schemeClr val="bg1"/>
                </a:solidFill>
              </a:rPr>
              <a:t>머신러닝</a:t>
            </a:r>
            <a:endParaRPr lang="ko-KR" altLang="en-US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/>
              <a:t>선형 회귀 모델에서 규제를 포함한 모델 중 하나 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너무 극단적인 가중치를 억제하여 모델의 과대적합이 되지 않도록 막는 방법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선형 회귀에서는 데이터는 정확하게 맞추기 위해 가중치가 너무 높게 설정이 되는 문제가 발생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이러한 경우 훈련 모델에서 </a:t>
            </a:r>
            <a:r>
              <a:rPr lang="ko-KR" altLang="en-US" dirty="0" err="1"/>
              <a:t>예측값이</a:t>
            </a:r>
            <a:r>
              <a:rPr lang="ko-KR" altLang="en-US" dirty="0"/>
              <a:t> 잘 맞지만 새로운 데이터에 대한 예측은 틀리는 경우가 발생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300" dirty="0"/>
              <a:t>Ridge</a:t>
            </a:r>
            <a:endParaRPr lang="ko-KR" altLang="en-US" sz="2300" dirty="0"/>
          </a:p>
        </p:txBody>
      </p:sp>
    </p:spTree>
    <p:extLst>
      <p:ext uri="{BB962C8B-B14F-4D97-AF65-F5344CB8AC3E}">
        <p14:creationId xmlns:p14="http://schemas.microsoft.com/office/powerpoint/2010/main" val="310064241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75704" y="271681"/>
            <a:ext cx="72327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 err="1">
                <a:solidFill>
                  <a:schemeClr val="bg1"/>
                </a:solidFill>
              </a:rPr>
              <a:t>머신러닝</a:t>
            </a:r>
            <a:endParaRPr lang="ko-KR" altLang="en-US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/>
              <p:cNvSpPr txBox="1"/>
              <p:nvPr/>
            </p:nvSpPr>
            <p:spPr>
              <a:xfrm>
                <a:off x="971600" y="1700955"/>
                <a:ext cx="7200800" cy="31228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Tx/>
                  <a:buChar char="-"/>
                </a:pPr>
                <a:r>
                  <a:rPr lang="ko-KR" altLang="en-US" dirty="0"/>
                  <a:t>이러한 문제를 해결하기 위한 </a:t>
                </a:r>
                <a:r>
                  <a:rPr lang="en-US" altLang="ko-KR" dirty="0"/>
                  <a:t>L2 </a:t>
                </a:r>
                <a:r>
                  <a:rPr lang="ko-KR" altLang="en-US" dirty="0" err="1"/>
                  <a:t>패널티를</a:t>
                </a:r>
                <a:r>
                  <a:rPr lang="ko-KR" altLang="en-US" dirty="0"/>
                  <a:t> 추가하여 높은 가중치를 줄여서 예측을 정확하지는 않지만 새로운 데이터에서 예측의 오차를 줄여가는 과정</a:t>
                </a:r>
                <a:r>
                  <a:rPr lang="en-US" altLang="ko-KR" dirty="0"/>
                  <a:t>(</a:t>
                </a:r>
                <a:r>
                  <a:rPr lang="ko-KR" altLang="en-US" dirty="0" err="1"/>
                  <a:t>피쳐들의</a:t>
                </a:r>
                <a:r>
                  <a:rPr lang="ko-KR" altLang="en-US" dirty="0"/>
                  <a:t> 일반화</a:t>
                </a:r>
                <a:r>
                  <a:rPr lang="en-US" altLang="ko-KR" dirty="0"/>
                  <a:t>)</a:t>
                </a:r>
              </a:p>
              <a:p>
                <a:pPr marL="285750" indent="-285750">
                  <a:buFontTx/>
                  <a:buChar char="-"/>
                </a:pPr>
                <a:endParaRPr lang="en-US" altLang="ko-KR" dirty="0"/>
              </a:p>
              <a:p>
                <a:pPr algn="just" latinLnBrk="1"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i="1" kern="100" smtClean="0">
                          <a:effectLst/>
                          <a:latin typeface="Cambria Math" panose="02040503050406030204" pitchFamily="18" charset="0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m:t>𝐶𝑜𝑠𝑡</m:t>
                      </m:r>
                      <m:r>
                        <a:rPr lang="en-US" altLang="ko-KR" sz="1800" i="1" kern="100" smtClean="0">
                          <a:effectLst/>
                          <a:latin typeface="Cambria Math" panose="02040503050406030204" pitchFamily="18" charset="0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ko-KR" altLang="ko-KR" sz="1800" i="1" kern="10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altLang="ko-KR" sz="1800" i="1" kern="100">
                              <a:effectLst/>
                              <a:latin typeface="Cambria Math" panose="02040503050406030204" pitchFamily="18" charset="0"/>
                              <a:ea typeface="맑은 고딕" panose="020B0503020000020004" pitchFamily="50" charset="-127"/>
                              <a:cs typeface="Times New Roman" panose="020206030504050203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ko-KR" sz="1800" i="1" kern="100">
                              <a:effectLst/>
                              <a:latin typeface="Cambria Math" panose="02040503050406030204" pitchFamily="18" charset="0"/>
                              <a:ea typeface="맑은 고딕" panose="020B0503020000020004" pitchFamily="50" charset="-127"/>
                              <a:cs typeface="Times New Roman" panose="020206030504050203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ko-KR" altLang="ko-KR" sz="1800" i="1" kern="10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naryPr>
                        <m:sub>
                          <m:r>
                            <a:rPr lang="en-US" altLang="ko-KR" sz="1800" i="1" kern="100">
                              <a:effectLst/>
                              <a:latin typeface="Cambria Math" panose="02040503050406030204" pitchFamily="18" charset="0"/>
                              <a:ea typeface="맑은 고딕" panose="020B0503020000020004" pitchFamily="50" charset="-127"/>
                              <a:cs typeface="Times New Roman" panose="02020603050405020304" pitchFamily="18" charset="0"/>
                            </a:rPr>
                            <m:t>𝑖</m:t>
                          </m:r>
                          <m:r>
                            <a:rPr lang="en-US" altLang="ko-KR" sz="1800" i="1" kern="100">
                              <a:effectLst/>
                              <a:latin typeface="Cambria Math" panose="02040503050406030204" pitchFamily="18" charset="0"/>
                              <a:ea typeface="맑은 고딕" panose="020B0503020000020004" pitchFamily="50" charset="-127"/>
                              <a:cs typeface="Times New Roman" panose="020206030504050203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ko-KR" sz="1800" i="1" kern="100">
                              <a:effectLst/>
                              <a:latin typeface="Cambria Math" panose="02040503050406030204" pitchFamily="18" charset="0"/>
                              <a:ea typeface="맑은 고딕" panose="020B0503020000020004" pitchFamily="50" charset="-127"/>
                              <a:cs typeface="Times New Roman" panose="02020603050405020304" pitchFamily="18" charset="0"/>
                            </a:rPr>
                            <m:t>𝑁</m:t>
                          </m:r>
                        </m:sup>
                        <m:e>
                          <m:sSup>
                            <m:sSupPr>
                              <m:ctrlPr>
                                <a:rPr lang="ko-KR" altLang="ko-KR" sz="1800" i="1" kern="10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ko-KR" altLang="ko-KR" sz="1800" i="1" kern="10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ko-KR" altLang="ko-KR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ko-KR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맑은 고딕" panose="020B0503020000020004" pitchFamily="50" charset="-127"/>
                                          <a:cs typeface="Times New Roman" panose="020206030504050203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altLang="ko-KR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맑은 고딕" panose="020B0503020000020004" pitchFamily="50" charset="-127"/>
                                          <a:cs typeface="Times New Roman" panose="020206030504050203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altLang="ko-KR" sz="1800" i="1" kern="100">
                                      <a:effectLst/>
                                      <a:latin typeface="Cambria Math" panose="02040503050406030204" pitchFamily="18" charset="0"/>
                                      <a:ea typeface="맑은 고딕" panose="020B0503020000020004" pitchFamily="50" charset="-127"/>
                                      <a:cs typeface="Times New Roman" panose="02020603050405020304" pitchFamily="18" charset="0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ko-KR" altLang="ko-KR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ko-KR" altLang="ko-KR" sz="1800" i="1" kern="100">
                                              <a:effectLst/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ko-KR" sz="1800" i="1" kern="100">
                                              <a:effectLst/>
                                              <a:latin typeface="Cambria Math" panose="02040503050406030204" pitchFamily="18" charset="0"/>
                                              <a:ea typeface="맑은 고딕" panose="020B0503020000020004" pitchFamily="50" charset="-127"/>
                                              <a:cs typeface="Times New Roman" panose="020206030504050203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US" altLang="ko-KR" sz="1800" i="1" kern="100">
                                              <a:effectLst/>
                                              <a:latin typeface="Cambria Math" panose="02040503050406030204" pitchFamily="18" charset="0"/>
                                              <a:ea typeface="맑은 고딕" panose="020B0503020000020004" pitchFamily="50" charset="-127"/>
                                              <a:cs typeface="Times New Roman" panose="020206030504050203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acc>
                                </m:e>
                              </m:d>
                            </m:e>
                            <m:sup>
                              <m:r>
                                <a:rPr lang="en-US" altLang="ko-KR" sz="1800" i="1" kern="100">
                                  <a:effectLst/>
                                  <a:latin typeface="Cambria Math" panose="02040503050406030204" pitchFamily="18" charset="0"/>
                                  <a:ea typeface="맑은 고딕" panose="020B0503020000020004" pitchFamily="50" charset="-127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  <m:r>
                        <a:rPr lang="en-US" altLang="ko-KR" sz="1800" i="1" kern="100">
                          <a:effectLst/>
                          <a:latin typeface="Cambria Math" panose="02040503050406030204" pitchFamily="18" charset="0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ko-KR" sz="1800" kern="100">
                          <a:effectLst/>
                          <a:latin typeface="Cambria Math" panose="02040503050406030204" pitchFamily="18" charset="0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m:t>α</m:t>
                      </m:r>
                      <m:nary>
                        <m:naryPr>
                          <m:chr m:val="∑"/>
                          <m:ctrlPr>
                            <a:rPr lang="ko-KR" altLang="ko-KR" sz="1800" i="1" kern="10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naryPr>
                        <m:sub>
                          <m:r>
                            <a:rPr lang="en-US" altLang="ko-KR" sz="1800" i="1" kern="100">
                              <a:effectLst/>
                              <a:latin typeface="Cambria Math" panose="02040503050406030204" pitchFamily="18" charset="0"/>
                              <a:ea typeface="맑은 고딕" panose="020B0503020000020004" pitchFamily="50" charset="-127"/>
                              <a:cs typeface="Times New Roman" panose="02020603050405020304" pitchFamily="18" charset="0"/>
                            </a:rPr>
                            <m:t>𝑗</m:t>
                          </m:r>
                          <m:r>
                            <a:rPr lang="en-US" altLang="ko-KR" sz="1800" i="1" kern="100">
                              <a:effectLst/>
                              <a:latin typeface="Cambria Math" panose="02040503050406030204" pitchFamily="18" charset="0"/>
                              <a:ea typeface="맑은 고딕" panose="020B0503020000020004" pitchFamily="50" charset="-127"/>
                              <a:cs typeface="Times New Roman" panose="020206030504050203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ko-KR" sz="1800" i="1" kern="100">
                              <a:effectLst/>
                              <a:latin typeface="Cambria Math" panose="02040503050406030204" pitchFamily="18" charset="0"/>
                              <a:ea typeface="맑은 고딕" panose="020B0503020000020004" pitchFamily="50" charset="-127"/>
                              <a:cs typeface="Times New Roman" panose="02020603050405020304" pitchFamily="18" charset="0"/>
                            </a:rPr>
                            <m:t>𝑝</m:t>
                          </m:r>
                        </m:sup>
                        <m:e>
                          <m:sSubSup>
                            <m:sSubSupPr>
                              <m:ctrlPr>
                                <a:rPr lang="ko-KR" altLang="ko-KR" sz="1800" i="1" kern="10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ko-KR" sz="1800" i="1" kern="100">
                                  <a:effectLst/>
                                  <a:latin typeface="Cambria Math" panose="02040503050406030204" pitchFamily="18" charset="0"/>
                                  <a:ea typeface="맑은 고딕" panose="020B0503020000020004" pitchFamily="50" charset="-127"/>
                                  <a:cs typeface="Times New Roman" panose="020206030504050203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ko-KR" sz="1800" i="1" kern="100">
                                  <a:effectLst/>
                                  <a:latin typeface="Cambria Math" panose="02040503050406030204" pitchFamily="18" charset="0"/>
                                  <a:ea typeface="맑은 고딕" panose="020B0503020000020004" pitchFamily="50" charset="-127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en-US" altLang="ko-KR" sz="1800" i="1" kern="100">
                                  <a:effectLst/>
                                  <a:latin typeface="Cambria Math" panose="02040503050406030204" pitchFamily="18" charset="0"/>
                                  <a:ea typeface="맑은 고딕" panose="020B0503020000020004" pitchFamily="50" charset="-127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nary>
                    </m:oMath>
                  </m:oMathPara>
                </a14:m>
                <a:endParaRPr lang="ko-KR" altLang="ko-KR" sz="1800" kern="100" dirty="0">
                  <a:effectLst/>
                  <a:latin typeface="맑은 고딕" panose="020B0503020000020004" pitchFamily="50" charset="-127"/>
                  <a:ea typeface="맑은 고딕" panose="020B0503020000020004" pitchFamily="50" charset="-127"/>
                  <a:cs typeface="Times New Roman" panose="02020603050405020304" pitchFamily="18" charset="0"/>
                </a:endParaRPr>
              </a:p>
              <a:p>
                <a:pPr algn="just" latinLnBrk="1"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en-US" altLang="ko-KR" sz="1800" kern="100" dirty="0">
                    <a:effectLst/>
                    <a:latin typeface="맑은 고딕" panose="020B0503020000020004" pitchFamily="50" charset="-127"/>
                    <a:ea typeface="맑은 고딕" panose="020B0503020000020004" pitchFamily="50" charset="-127"/>
                    <a:cs typeface="Times New Roman" panose="02020603050405020304" pitchFamily="18" charset="0"/>
                  </a:rPr>
                  <a:t> </a:t>
                </a:r>
                <a:endParaRPr lang="ko-KR" altLang="ko-KR" sz="1800" kern="100" dirty="0">
                  <a:effectLst/>
                  <a:latin typeface="맑은 고딕" panose="020B0503020000020004" pitchFamily="50" charset="-127"/>
                  <a:ea typeface="맑은 고딕" panose="020B0503020000020004" pitchFamily="50" charset="-127"/>
                  <a:cs typeface="Times New Roman" panose="02020603050405020304" pitchFamily="18" charset="0"/>
                </a:endParaRPr>
              </a:p>
              <a:p>
                <a:pPr marL="285750" indent="-285750">
                  <a:buFontTx/>
                  <a:buChar char="-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/>
                      <m:t>α</m:t>
                    </m:r>
                  </m:oMath>
                </a14:m>
                <a:r>
                  <a:rPr lang="en-US" altLang="ko-KR" dirty="0"/>
                  <a:t> : </a:t>
                </a:r>
                <a:r>
                  <a:rPr lang="ko-KR" altLang="en-US" dirty="0"/>
                  <a:t>규제 강도</a:t>
                </a:r>
                <a:r>
                  <a:rPr lang="en-US" altLang="ko-KR" dirty="0"/>
                  <a:t>, </a:t>
                </a:r>
                <a:r>
                  <a:rPr lang="ko-KR" altLang="en-US" dirty="0"/>
                  <a:t>이 값이 커질수록 벌칙이 커져서 가중치가 </a:t>
                </a:r>
                <a:r>
                  <a:rPr lang="en-US" altLang="ko-KR" dirty="0"/>
                  <a:t>0</a:t>
                </a:r>
                <a:r>
                  <a:rPr lang="ko-KR" altLang="en-US" dirty="0"/>
                  <a:t>에 </a:t>
                </a:r>
                <a:r>
                  <a:rPr lang="ko-KR" altLang="en-US" dirty="0" err="1"/>
                  <a:t>가까워짐</a:t>
                </a:r>
                <a:endParaRPr lang="en-US" altLang="ko-KR" dirty="0"/>
              </a:p>
            </p:txBody>
          </p:sp>
        </mc:Choice>
        <mc:Fallback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600" y="1700955"/>
                <a:ext cx="7200800" cy="3122843"/>
              </a:xfrm>
              <a:prstGeom prst="rect">
                <a:avLst/>
              </a:prstGeom>
              <a:blipFill>
                <a:blip r:embed="rId3"/>
                <a:stretch>
                  <a:fillRect l="-846" t="-1758" b="-214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300" dirty="0"/>
              <a:t>Ridge</a:t>
            </a:r>
            <a:endParaRPr lang="ko-KR" altLang="en-US" sz="2300" dirty="0"/>
          </a:p>
        </p:txBody>
      </p:sp>
    </p:spTree>
    <p:extLst>
      <p:ext uri="{BB962C8B-B14F-4D97-AF65-F5344CB8AC3E}">
        <p14:creationId xmlns:p14="http://schemas.microsoft.com/office/powerpoint/2010/main" val="425571848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75704" y="271681"/>
            <a:ext cx="72327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 err="1">
                <a:solidFill>
                  <a:schemeClr val="bg1"/>
                </a:solidFill>
              </a:rPr>
              <a:t>머신러닝</a:t>
            </a:r>
            <a:endParaRPr lang="ko-KR" altLang="en-US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/>
              <p:cNvSpPr txBox="1"/>
              <p:nvPr/>
            </p:nvSpPr>
            <p:spPr>
              <a:xfrm>
                <a:off x="971600" y="1700955"/>
                <a:ext cx="7200800" cy="423083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Tx/>
                  <a:buChar char="-"/>
                </a:pPr>
                <a:r>
                  <a:rPr lang="ko-KR" altLang="en-US" dirty="0"/>
                  <a:t>선형 회귀 모델에서 규제를 포함한 모델 중 하나 </a:t>
                </a:r>
                <a:endParaRPr lang="en-US" altLang="ko-KR" dirty="0"/>
              </a:p>
              <a:p>
                <a:pPr marL="285750" indent="-285750">
                  <a:buFontTx/>
                  <a:buChar char="-"/>
                </a:pPr>
                <a:r>
                  <a:rPr lang="en-US" altLang="ko-KR" dirty="0"/>
                  <a:t>Ridge</a:t>
                </a:r>
                <a:r>
                  <a:rPr lang="ko-KR" altLang="en-US" dirty="0"/>
                  <a:t>와 비슷하게 규제를 하고 있지만 </a:t>
                </a:r>
                <a:r>
                  <a:rPr lang="en-US" altLang="ko-KR" dirty="0"/>
                  <a:t>L1</a:t>
                </a:r>
                <a:r>
                  <a:rPr lang="ko-KR" altLang="en-US" dirty="0" err="1"/>
                  <a:t>패널티를</a:t>
                </a:r>
                <a:r>
                  <a:rPr lang="ko-KR" altLang="en-US" dirty="0"/>
                  <a:t> 이용하여 가중치를 제어 </a:t>
                </a:r>
                <a:endParaRPr lang="en-US" altLang="ko-KR" dirty="0"/>
              </a:p>
              <a:p>
                <a:pPr marL="285750" indent="-285750">
                  <a:buFontTx/>
                  <a:buChar char="-"/>
                </a:pPr>
                <a:r>
                  <a:rPr lang="ko-KR" altLang="en-US" dirty="0"/>
                  <a:t>불필요한 특징들을 자동으로 제거함으로써 과적합의 문제를 해결</a:t>
                </a:r>
                <a:endParaRPr lang="en-US" altLang="ko-KR" dirty="0"/>
              </a:p>
              <a:p>
                <a:pPr marL="285750" indent="-285750">
                  <a:buFontTx/>
                  <a:buChar char="-"/>
                </a:pPr>
                <a:r>
                  <a:rPr lang="ko-KR" altLang="en-US" dirty="0" err="1"/>
                  <a:t>릿지에서는</a:t>
                </a:r>
                <a:r>
                  <a:rPr lang="ko-KR" altLang="en-US" dirty="0"/>
                  <a:t> 가중치를 </a:t>
                </a:r>
                <a:r>
                  <a:rPr lang="en-US" altLang="ko-KR" dirty="0"/>
                  <a:t>0</a:t>
                </a:r>
                <a:r>
                  <a:rPr lang="ko-KR" altLang="en-US" dirty="0"/>
                  <a:t>에 가까운 값으로 크기를 조절하고 </a:t>
                </a:r>
                <a:r>
                  <a:rPr lang="ko-KR" altLang="en-US" dirty="0" err="1"/>
                  <a:t>라쏘에서는</a:t>
                </a:r>
                <a:r>
                  <a:rPr lang="ko-KR" altLang="en-US" dirty="0"/>
                  <a:t> 가중치를 </a:t>
                </a:r>
                <a:r>
                  <a:rPr lang="en-US" altLang="ko-KR" dirty="0"/>
                  <a:t>0</a:t>
                </a:r>
                <a:r>
                  <a:rPr lang="ko-KR" altLang="en-US" dirty="0"/>
                  <a:t>으로 만들어서 해당 특징을 제거하는 방법</a:t>
                </a:r>
                <a:endParaRPr lang="en-US" altLang="ko-KR" dirty="0"/>
              </a:p>
              <a:p>
                <a:pPr marL="285750" indent="-285750">
                  <a:buFontTx/>
                  <a:buChar char="-"/>
                </a:pPr>
                <a:r>
                  <a:rPr lang="ko-KR" altLang="en-US" dirty="0"/>
                  <a:t>모델을 단순하고 해석이 가능한 모델로 만드는 회귀 방법</a:t>
                </a:r>
                <a:endParaRPr lang="en-US" altLang="ko-KR" dirty="0"/>
              </a:p>
              <a:p>
                <a:pPr marL="285750" indent="-285750">
                  <a:buFontTx/>
                  <a:buChar char="-"/>
                </a:pPr>
                <a:endParaRPr lang="en-US" altLang="ko-KR" dirty="0"/>
              </a:p>
              <a:p>
                <a:pPr algn="just" latinLnBrk="1"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i="1" kern="100" smtClean="0">
                          <a:effectLst/>
                          <a:latin typeface="Cambria Math" panose="02040503050406030204" pitchFamily="18" charset="0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m:t>𝐶𝑜𝑠𝑡</m:t>
                      </m:r>
                      <m:r>
                        <a:rPr lang="en-US" altLang="ko-KR" sz="1800" i="1" kern="100" smtClean="0">
                          <a:effectLst/>
                          <a:latin typeface="Cambria Math" panose="02040503050406030204" pitchFamily="18" charset="0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ko-KR" altLang="ko-KR" sz="1800" i="1" kern="10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altLang="ko-KR" sz="1800" i="1" kern="100">
                              <a:effectLst/>
                              <a:latin typeface="Cambria Math" panose="02040503050406030204" pitchFamily="18" charset="0"/>
                              <a:ea typeface="맑은 고딕" panose="020B0503020000020004" pitchFamily="50" charset="-127"/>
                              <a:cs typeface="Times New Roman" panose="020206030504050203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ko-KR" sz="1800" i="1" kern="100">
                              <a:effectLst/>
                              <a:latin typeface="Cambria Math" panose="02040503050406030204" pitchFamily="18" charset="0"/>
                              <a:ea typeface="맑은 고딕" panose="020B0503020000020004" pitchFamily="50" charset="-127"/>
                              <a:cs typeface="Times New Roman" panose="020206030504050203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ko-KR" altLang="ko-KR" sz="1800" i="1" kern="10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naryPr>
                        <m:sub>
                          <m:r>
                            <a:rPr lang="en-US" altLang="ko-KR" sz="1800" i="1" kern="100">
                              <a:effectLst/>
                              <a:latin typeface="Cambria Math" panose="02040503050406030204" pitchFamily="18" charset="0"/>
                              <a:ea typeface="맑은 고딕" panose="020B0503020000020004" pitchFamily="50" charset="-127"/>
                              <a:cs typeface="Times New Roman" panose="02020603050405020304" pitchFamily="18" charset="0"/>
                            </a:rPr>
                            <m:t>𝑖</m:t>
                          </m:r>
                          <m:r>
                            <a:rPr lang="en-US" altLang="ko-KR" sz="1800" i="1" kern="100">
                              <a:effectLst/>
                              <a:latin typeface="Cambria Math" panose="02040503050406030204" pitchFamily="18" charset="0"/>
                              <a:ea typeface="맑은 고딕" panose="020B0503020000020004" pitchFamily="50" charset="-127"/>
                              <a:cs typeface="Times New Roman" panose="020206030504050203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ko-KR" sz="1800" i="1" kern="100">
                              <a:effectLst/>
                              <a:latin typeface="Cambria Math" panose="02040503050406030204" pitchFamily="18" charset="0"/>
                              <a:ea typeface="맑은 고딕" panose="020B0503020000020004" pitchFamily="50" charset="-127"/>
                              <a:cs typeface="Times New Roman" panose="02020603050405020304" pitchFamily="18" charset="0"/>
                            </a:rPr>
                            <m:t>𝑁</m:t>
                          </m:r>
                        </m:sup>
                        <m:e>
                          <m:sSup>
                            <m:sSupPr>
                              <m:ctrlPr>
                                <a:rPr lang="ko-KR" altLang="ko-KR" sz="1800" i="1" kern="10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ko-KR" altLang="ko-KR" sz="1800" i="1" kern="10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ko-KR" altLang="ko-KR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ko-KR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맑은 고딕" panose="020B0503020000020004" pitchFamily="50" charset="-127"/>
                                          <a:cs typeface="Times New Roman" panose="020206030504050203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altLang="ko-KR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맑은 고딕" panose="020B0503020000020004" pitchFamily="50" charset="-127"/>
                                          <a:cs typeface="Times New Roman" panose="020206030504050203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altLang="ko-KR" sz="1800" i="1" kern="100">
                                      <a:effectLst/>
                                      <a:latin typeface="Cambria Math" panose="02040503050406030204" pitchFamily="18" charset="0"/>
                                      <a:ea typeface="맑은 고딕" panose="020B0503020000020004" pitchFamily="50" charset="-127"/>
                                      <a:cs typeface="Times New Roman" panose="02020603050405020304" pitchFamily="18" charset="0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ko-KR" altLang="ko-KR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ko-KR" altLang="ko-KR" sz="1800" i="1" kern="100">
                                              <a:effectLst/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ko-KR" sz="1800" i="1" kern="100">
                                              <a:effectLst/>
                                              <a:latin typeface="Cambria Math" panose="02040503050406030204" pitchFamily="18" charset="0"/>
                                              <a:ea typeface="맑은 고딕" panose="020B0503020000020004" pitchFamily="50" charset="-127"/>
                                              <a:cs typeface="Times New Roman" panose="020206030504050203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US" altLang="ko-KR" sz="1800" i="1" kern="100">
                                              <a:effectLst/>
                                              <a:latin typeface="Cambria Math" panose="02040503050406030204" pitchFamily="18" charset="0"/>
                                              <a:ea typeface="맑은 고딕" panose="020B0503020000020004" pitchFamily="50" charset="-127"/>
                                              <a:cs typeface="Times New Roman" panose="020206030504050203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acc>
                                </m:e>
                              </m:d>
                            </m:e>
                            <m:sup>
                              <m:r>
                                <a:rPr lang="en-US" altLang="ko-KR" sz="1800" i="1" kern="100">
                                  <a:effectLst/>
                                  <a:latin typeface="Cambria Math" panose="02040503050406030204" pitchFamily="18" charset="0"/>
                                  <a:ea typeface="맑은 고딕" panose="020B0503020000020004" pitchFamily="50" charset="-127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  <m:r>
                        <a:rPr lang="en-US" altLang="ko-KR" sz="1800" i="1" kern="100">
                          <a:effectLst/>
                          <a:latin typeface="Cambria Math" panose="02040503050406030204" pitchFamily="18" charset="0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ko-KR" sz="1800" kern="100">
                          <a:effectLst/>
                          <a:latin typeface="Cambria Math" panose="02040503050406030204" pitchFamily="18" charset="0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m:t>α</m:t>
                      </m:r>
                      <m:nary>
                        <m:naryPr>
                          <m:chr m:val="∑"/>
                          <m:ctrlPr>
                            <a:rPr lang="ko-KR" altLang="ko-KR" sz="1800" i="1" kern="10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naryPr>
                        <m:sub>
                          <m:r>
                            <a:rPr lang="en-US" altLang="ko-KR" sz="1800" i="1" kern="100">
                              <a:effectLst/>
                              <a:latin typeface="Cambria Math" panose="02040503050406030204" pitchFamily="18" charset="0"/>
                              <a:ea typeface="맑은 고딕" panose="020B0503020000020004" pitchFamily="50" charset="-127"/>
                              <a:cs typeface="Times New Roman" panose="02020603050405020304" pitchFamily="18" charset="0"/>
                            </a:rPr>
                            <m:t>𝑗</m:t>
                          </m:r>
                          <m:r>
                            <a:rPr lang="en-US" altLang="ko-KR" sz="1800" i="1" kern="100">
                              <a:effectLst/>
                              <a:latin typeface="Cambria Math" panose="02040503050406030204" pitchFamily="18" charset="0"/>
                              <a:ea typeface="맑은 고딕" panose="020B0503020000020004" pitchFamily="50" charset="-127"/>
                              <a:cs typeface="Times New Roman" panose="020206030504050203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ko-KR" sz="1800" i="1" kern="100">
                              <a:effectLst/>
                              <a:latin typeface="Cambria Math" panose="02040503050406030204" pitchFamily="18" charset="0"/>
                              <a:ea typeface="맑은 고딕" panose="020B0503020000020004" pitchFamily="50" charset="-127"/>
                              <a:cs typeface="Times New Roman" panose="02020603050405020304" pitchFamily="18" charset="0"/>
                            </a:rPr>
                            <m:t>𝑝</m:t>
                          </m:r>
                        </m:sup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ko-KR" altLang="ko-KR" sz="1800" i="1" kern="10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ko-KR" altLang="ko-KR" sz="1800" i="1" kern="10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1800" i="1" kern="100">
                                      <a:effectLst/>
                                      <a:latin typeface="Cambria Math" panose="02040503050406030204" pitchFamily="18" charset="0"/>
                                      <a:ea typeface="맑은 고딕" panose="020B0503020000020004" pitchFamily="50" charset="-127"/>
                                      <a:cs typeface="Times New Roman" panose="020206030504050203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altLang="ko-KR" sz="1800" i="1" kern="100">
                                      <a:effectLst/>
                                      <a:latin typeface="Cambria Math" panose="02040503050406030204" pitchFamily="18" charset="0"/>
                                      <a:ea typeface="맑은 고딕" panose="020B0503020000020004" pitchFamily="50" charset="-127"/>
                                      <a:cs typeface="Times New Roman" panose="020206030504050203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ko-KR" altLang="ko-KR" sz="1800" kern="100" dirty="0">
                  <a:effectLst/>
                  <a:latin typeface="맑은 고딕" panose="020B0503020000020004" pitchFamily="50" charset="-127"/>
                  <a:ea typeface="맑은 고딕" panose="020B0503020000020004" pitchFamily="50" charset="-127"/>
                  <a:cs typeface="Times New Roman" panose="02020603050405020304" pitchFamily="18" charset="0"/>
                </a:endParaRPr>
              </a:p>
              <a:p>
                <a:pPr algn="just" latinLnBrk="1"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en-US" altLang="ko-KR" sz="1800" kern="100" dirty="0">
                    <a:effectLst/>
                    <a:latin typeface="맑은 고딕" panose="020B0503020000020004" pitchFamily="50" charset="-127"/>
                    <a:ea typeface="맑은 고딕" panose="020B0503020000020004" pitchFamily="50" charset="-127"/>
                    <a:cs typeface="Times New Roman" panose="02020603050405020304" pitchFamily="18" charset="0"/>
                  </a:rPr>
                  <a:t> </a:t>
                </a:r>
                <a:endParaRPr lang="ko-KR" altLang="ko-KR" sz="1800" kern="100" dirty="0">
                  <a:effectLst/>
                  <a:latin typeface="맑은 고딕" panose="020B0503020000020004" pitchFamily="50" charset="-127"/>
                  <a:ea typeface="맑은 고딕" panose="020B0503020000020004" pitchFamily="50" charset="-127"/>
                  <a:cs typeface="Times New Roman" panose="02020603050405020304" pitchFamily="18" charset="0"/>
                </a:endParaRPr>
              </a:p>
              <a:p>
                <a:pPr marL="285750" indent="-285750">
                  <a:buFontTx/>
                  <a:buChar char="-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mtClean="0">
                        <a:latin typeface="Cambria Math" panose="02040503050406030204" pitchFamily="18" charset="0"/>
                      </a:rPr>
                      <m:t>α</m:t>
                    </m:r>
                  </m:oMath>
                </a14:m>
                <a:r>
                  <a:rPr lang="en-US" altLang="ko-KR" dirty="0"/>
                  <a:t> : </a:t>
                </a:r>
                <a:r>
                  <a:rPr lang="ko-KR" altLang="en-US" dirty="0"/>
                  <a:t>규제 강도</a:t>
                </a:r>
                <a:r>
                  <a:rPr lang="en-US" altLang="ko-KR" dirty="0"/>
                  <a:t>, </a:t>
                </a:r>
                <a:r>
                  <a:rPr lang="ko-KR" altLang="en-US" dirty="0"/>
                  <a:t>이 값이 커질수록 벌칙이 커져서 가중치가 </a:t>
                </a:r>
                <a:r>
                  <a:rPr lang="en-US" altLang="ko-KR" dirty="0"/>
                  <a:t>0</a:t>
                </a:r>
                <a:r>
                  <a:rPr lang="ko-KR" altLang="en-US" dirty="0"/>
                  <a:t>으로 변환</a:t>
                </a:r>
                <a:endParaRPr lang="en-US" altLang="ko-KR" dirty="0"/>
              </a:p>
            </p:txBody>
          </p:sp>
        </mc:Choice>
        <mc:Fallback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600" y="1700955"/>
                <a:ext cx="7200800" cy="4230838"/>
              </a:xfrm>
              <a:prstGeom prst="rect">
                <a:avLst/>
              </a:prstGeom>
              <a:blipFill>
                <a:blip r:embed="rId3"/>
                <a:stretch>
                  <a:fillRect l="-846" t="-1297" b="-129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300" dirty="0"/>
              <a:t>Lasso</a:t>
            </a:r>
            <a:endParaRPr lang="ko-KR" altLang="en-US" sz="2300" dirty="0"/>
          </a:p>
        </p:txBody>
      </p:sp>
    </p:spTree>
    <p:extLst>
      <p:ext uri="{BB962C8B-B14F-4D97-AF65-F5344CB8AC3E}">
        <p14:creationId xmlns:p14="http://schemas.microsoft.com/office/powerpoint/2010/main" val="160264178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75704" y="271681"/>
            <a:ext cx="72327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 err="1">
                <a:solidFill>
                  <a:schemeClr val="bg1"/>
                </a:solidFill>
              </a:rPr>
              <a:t>머신러닝</a:t>
            </a:r>
            <a:endParaRPr lang="ko-KR" altLang="en-US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 err="1"/>
              <a:t>릿지와</a:t>
            </a:r>
            <a:r>
              <a:rPr lang="ko-KR" altLang="en-US" dirty="0"/>
              <a:t> </a:t>
            </a:r>
            <a:r>
              <a:rPr lang="ko-KR" altLang="en-US" dirty="0" err="1"/>
              <a:t>라쏘의</a:t>
            </a:r>
            <a:r>
              <a:rPr lang="ko-KR" altLang="en-US" dirty="0"/>
              <a:t> 장점을 모아서 합친 모델 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en-US" altLang="ko-KR" dirty="0"/>
              <a:t>L1 </a:t>
            </a:r>
            <a:r>
              <a:rPr lang="ko-KR" altLang="en-US" dirty="0" err="1"/>
              <a:t>패널티를</a:t>
            </a:r>
            <a:r>
              <a:rPr lang="ko-KR" altLang="en-US" dirty="0"/>
              <a:t> 이용한 특징을 선택하는 부분과 </a:t>
            </a:r>
            <a:r>
              <a:rPr lang="en-US" altLang="ko-KR" dirty="0"/>
              <a:t>L2 </a:t>
            </a:r>
            <a:r>
              <a:rPr lang="ko-KR" altLang="en-US" dirty="0" err="1"/>
              <a:t>패널티의</a:t>
            </a:r>
            <a:r>
              <a:rPr lang="ko-KR" altLang="en-US" dirty="0"/>
              <a:t> 전체적인 특징들을 일반화하는 부분을 결합한 모델 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en-US" altLang="ko-KR" dirty="0"/>
              <a:t>L1_ratio </a:t>
            </a:r>
            <a:r>
              <a:rPr lang="ko-KR" altLang="en-US" dirty="0"/>
              <a:t>매개변수를 이용하여 </a:t>
            </a:r>
            <a:r>
              <a:rPr lang="en-US" altLang="ko-KR" dirty="0"/>
              <a:t>L1, L2</a:t>
            </a:r>
            <a:r>
              <a:rPr lang="ko-KR" altLang="en-US" dirty="0"/>
              <a:t>의 비율을 설정 가능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 err="1"/>
              <a:t>라쏘의</a:t>
            </a:r>
            <a:r>
              <a:rPr lang="ko-KR" altLang="en-US" dirty="0"/>
              <a:t> 경우 특징을 선택하여 모델이 단순화가 되는 과정이 발생 할 수 있고 </a:t>
            </a:r>
            <a:r>
              <a:rPr lang="ko-KR" altLang="en-US" dirty="0" err="1"/>
              <a:t>릿지의</a:t>
            </a:r>
            <a:r>
              <a:rPr lang="ko-KR" altLang="en-US" dirty="0"/>
              <a:t> 경우 특징들이 일반화 됨으로 모델이 복잡해질 수 있기 때문에 서로의 단점을 보완하기 위해 만들어진 모델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300" dirty="0" err="1"/>
              <a:t>ElasticNet</a:t>
            </a:r>
            <a:endParaRPr lang="ko-KR" altLang="en-US" sz="2300" dirty="0"/>
          </a:p>
        </p:txBody>
      </p:sp>
    </p:spTree>
    <p:extLst>
      <p:ext uri="{BB962C8B-B14F-4D97-AF65-F5344CB8AC3E}">
        <p14:creationId xmlns:p14="http://schemas.microsoft.com/office/powerpoint/2010/main" val="422329969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75704" y="271681"/>
            <a:ext cx="72327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 err="1">
                <a:solidFill>
                  <a:schemeClr val="bg1"/>
                </a:solidFill>
              </a:rPr>
              <a:t>머신러닝</a:t>
            </a:r>
            <a:endParaRPr lang="ko-KR" altLang="en-US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/>
              <p:cNvSpPr txBox="1"/>
              <p:nvPr/>
            </p:nvSpPr>
            <p:spPr>
              <a:xfrm>
                <a:off x="971600" y="1700955"/>
                <a:ext cx="7200800" cy="33716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Tx/>
                  <a:buChar char="-"/>
                </a:pPr>
                <a:r>
                  <a:rPr lang="ko-KR" altLang="en-US" dirty="0"/>
                  <a:t>로지스틱 회귀는 이름은 회귀지만 실제로는 분류에서 사용이 되는 모델 </a:t>
                </a:r>
                <a:endParaRPr lang="en-US" altLang="ko-KR" dirty="0"/>
              </a:p>
              <a:p>
                <a:pPr marL="285750" indent="-285750">
                  <a:buFontTx/>
                  <a:buChar char="-"/>
                </a:pPr>
                <a:r>
                  <a:rPr lang="ko-KR" altLang="en-US" dirty="0"/>
                  <a:t>예측의 값이 연속성을 가지는 경우 해당하는 값은 </a:t>
                </a:r>
                <a:r>
                  <a:rPr lang="en-US" altLang="ko-KR" dirty="0"/>
                  <a:t>0</a:t>
                </a:r>
                <a:r>
                  <a:rPr lang="ko-KR" altLang="en-US" dirty="0"/>
                  <a:t>과 </a:t>
                </a:r>
                <a:r>
                  <a:rPr lang="en-US" altLang="ko-KR" dirty="0"/>
                  <a:t>1</a:t>
                </a:r>
                <a:r>
                  <a:rPr lang="ko-KR" altLang="en-US" dirty="0"/>
                  <a:t>사의 확률 값으로 변환 </a:t>
                </a:r>
                <a:endParaRPr lang="en-US" altLang="ko-KR" dirty="0"/>
              </a:p>
              <a:p>
                <a:pPr marL="285750" indent="-285750">
                  <a:buFontTx/>
                  <a:buChar char="-"/>
                </a:pPr>
                <a:r>
                  <a:rPr lang="en-US" altLang="ko-KR" dirty="0"/>
                  <a:t>0.5</a:t>
                </a:r>
                <a:r>
                  <a:rPr lang="ko-KR" altLang="en-US" dirty="0"/>
                  <a:t>보다 크다면 </a:t>
                </a:r>
                <a:r>
                  <a:rPr lang="en-US" altLang="ko-KR" dirty="0"/>
                  <a:t>1(</a:t>
                </a:r>
                <a:r>
                  <a:rPr lang="ko-KR" altLang="en-US" dirty="0"/>
                  <a:t>긍정</a:t>
                </a:r>
                <a:r>
                  <a:rPr lang="en-US" altLang="ko-KR" dirty="0"/>
                  <a:t>) </a:t>
                </a:r>
                <a:r>
                  <a:rPr lang="ko-KR" altLang="en-US" dirty="0"/>
                  <a:t>작으면 </a:t>
                </a:r>
                <a:r>
                  <a:rPr lang="en-US" altLang="ko-KR" dirty="0"/>
                  <a:t>0(</a:t>
                </a:r>
                <a:r>
                  <a:rPr lang="ko-KR" altLang="en-US" dirty="0"/>
                  <a:t>부정</a:t>
                </a:r>
                <a:r>
                  <a:rPr lang="en-US" altLang="ko-KR" dirty="0"/>
                  <a:t>)</a:t>
                </a:r>
                <a:r>
                  <a:rPr lang="ko-KR" altLang="en-US" dirty="0"/>
                  <a:t>으로 판단</a:t>
                </a:r>
                <a:endParaRPr lang="en-US" altLang="ko-KR" dirty="0"/>
              </a:p>
              <a:p>
                <a:pPr marL="285750" indent="-285750">
                  <a:buFontTx/>
                  <a:buChar char="-"/>
                </a:pPr>
                <a:endParaRPr lang="en-US" altLang="ko-KR" dirty="0"/>
              </a:p>
              <a:p>
                <a:pPr algn="just" latinLnBrk="1"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1800" kern="100" smtClean="0">
                          <a:effectLst/>
                          <a:latin typeface="Cambria Math" panose="02040503050406030204" pitchFamily="18" charset="0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m:t>σ</m:t>
                      </m:r>
                      <m:d>
                        <m:dPr>
                          <m:ctrlPr>
                            <a:rPr lang="ko-KR" altLang="ko-KR" sz="1800" i="1" kern="10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altLang="ko-KR" sz="1800" i="1" kern="100">
                              <a:effectLst/>
                              <a:latin typeface="Cambria Math" panose="02040503050406030204" pitchFamily="18" charset="0"/>
                              <a:ea typeface="맑은 고딕" panose="020B0503020000020004" pitchFamily="50" charset="-127"/>
                              <a:cs typeface="Times New Roman" panose="020206030504050203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altLang="ko-KR" sz="1800" i="1" kern="100">
                          <a:effectLst/>
                          <a:latin typeface="Cambria Math" panose="02040503050406030204" pitchFamily="18" charset="0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ko-KR" altLang="ko-KR" sz="1800" i="1" kern="10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altLang="ko-KR" sz="1800" i="1" kern="100">
                              <a:effectLst/>
                              <a:latin typeface="Cambria Math" panose="02040503050406030204" pitchFamily="18" charset="0"/>
                              <a:ea typeface="맑은 고딕" panose="020B0503020000020004" pitchFamily="50" charset="-127"/>
                              <a:cs typeface="Times New Roman" panose="020206030504050203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ko-KR" sz="1800" i="1" kern="100">
                              <a:effectLst/>
                              <a:latin typeface="Cambria Math" panose="02040503050406030204" pitchFamily="18" charset="0"/>
                              <a:ea typeface="맑은 고딕" panose="020B0503020000020004" pitchFamily="50" charset="-127"/>
                              <a:cs typeface="Times New Roman" panose="020206030504050203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ko-KR" altLang="ko-KR" sz="1800" i="1" kern="10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1800" i="1" kern="100">
                                  <a:effectLst/>
                                  <a:latin typeface="Cambria Math" panose="02040503050406030204" pitchFamily="18" charset="0"/>
                                  <a:ea typeface="맑은 고딕" panose="020B0503020000020004" pitchFamily="50" charset="-127"/>
                                  <a:cs typeface="Times New Roman" panose="020206030504050203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altLang="ko-KR" sz="1800" i="1" kern="100">
                                  <a:effectLst/>
                                  <a:latin typeface="Cambria Math" panose="02040503050406030204" pitchFamily="18" charset="0"/>
                                  <a:ea typeface="맑은 고딕" panose="020B0503020000020004" pitchFamily="50" charset="-127"/>
                                  <a:cs typeface="Times New Roman" panose="02020603050405020304" pitchFamily="18" charset="0"/>
                                </a:rPr>
                                <m:t>−</m:t>
                              </m:r>
                              <m:r>
                                <a:rPr lang="en-US" altLang="ko-KR" sz="1800" i="1" kern="100">
                                  <a:effectLst/>
                                  <a:latin typeface="Cambria Math" panose="02040503050406030204" pitchFamily="18" charset="0"/>
                                  <a:ea typeface="맑은 고딕" panose="020B0503020000020004" pitchFamily="50" charset="-127"/>
                                  <a:cs typeface="Times New Roman" panose="02020603050405020304" pitchFamily="18" charset="0"/>
                                </a:rPr>
                                <m:t>𝑦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ko-KR" altLang="ko-KR" sz="1800" kern="100" dirty="0">
                  <a:effectLst/>
                  <a:latin typeface="맑은 고딕" panose="020B0503020000020004" pitchFamily="50" charset="-127"/>
                  <a:ea typeface="맑은 고딕" panose="020B0503020000020004" pitchFamily="50" charset="-127"/>
                  <a:cs typeface="Times New Roman" panose="02020603050405020304" pitchFamily="18" charset="0"/>
                </a:endParaRPr>
              </a:p>
              <a:p>
                <a:pPr algn="just" latinLnBrk="1"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en-US" altLang="ko-KR" sz="1800" kern="100" dirty="0">
                    <a:effectLst/>
                    <a:latin typeface="맑은 고딕" panose="020B0503020000020004" pitchFamily="50" charset="-127"/>
                    <a:ea typeface="맑은 고딕" panose="020B0503020000020004" pitchFamily="50" charset="-127"/>
                    <a:cs typeface="Times New Roman" panose="02020603050405020304" pitchFamily="18" charset="0"/>
                  </a:rPr>
                  <a:t>  			(</a:t>
                </a:r>
                <a:r>
                  <a:rPr lang="ko-KR" altLang="en-US" sz="1800" kern="100" dirty="0" err="1">
                    <a:effectLst/>
                    <a:latin typeface="맑은 고딕" panose="020B0503020000020004" pitchFamily="50" charset="-127"/>
                    <a:ea typeface="맑은 고딕" panose="020B0503020000020004" pitchFamily="50" charset="-127"/>
                    <a:cs typeface="Times New Roman" panose="02020603050405020304" pitchFamily="18" charset="0"/>
                  </a:rPr>
                  <a:t>시그모이드</a:t>
                </a:r>
                <a:r>
                  <a:rPr lang="ko-KR" altLang="en-US" sz="1800" kern="100" dirty="0">
                    <a:effectLst/>
                    <a:latin typeface="맑은 고딕" panose="020B0503020000020004" pitchFamily="50" charset="-127"/>
                    <a:ea typeface="맑은 고딕" panose="020B0503020000020004" pitchFamily="50" charset="-127"/>
                    <a:cs typeface="Times New Roman" panose="02020603050405020304" pitchFamily="18" charset="0"/>
                  </a:rPr>
                  <a:t> 함수</a:t>
                </a:r>
                <a:r>
                  <a:rPr lang="en-US" altLang="ko-KR" sz="1800" kern="100" dirty="0">
                    <a:effectLst/>
                    <a:latin typeface="맑은 고딕" panose="020B0503020000020004" pitchFamily="50" charset="-127"/>
                    <a:ea typeface="맑은 고딕" panose="020B0503020000020004" pitchFamily="50" charset="-127"/>
                    <a:cs typeface="Times New Roman" panose="02020603050405020304" pitchFamily="18" charset="0"/>
                  </a:rPr>
                  <a:t>)</a:t>
                </a:r>
                <a:endParaRPr lang="ko-KR" altLang="ko-KR" sz="1800" kern="100" dirty="0">
                  <a:effectLst/>
                  <a:latin typeface="맑은 고딕" panose="020B0503020000020004" pitchFamily="50" charset="-127"/>
                  <a:ea typeface="맑은 고딕" panose="020B0503020000020004" pitchFamily="50" charset="-127"/>
                  <a:cs typeface="Times New Roman" panose="02020603050405020304" pitchFamily="18" charset="0"/>
                </a:endParaRPr>
              </a:p>
              <a:p>
                <a:pPr marL="285750" indent="-285750">
                  <a:buFontTx/>
                  <a:buChar char="-"/>
                </a:pPr>
                <a14:m>
                  <m:oMath xmlns:m="http://schemas.openxmlformats.org/officeDocument/2006/math">
                    <m:r>
                      <a:rPr lang="en-US" altLang="ko-KR" sz="1800" i="1" smtClean="0">
                        <a:effectLst/>
                        <a:latin typeface="Cambria Math" panose="02040503050406030204" pitchFamily="18" charset="0"/>
                        <a:ea typeface="맑은 고딕" panose="020B0503020000020004" pitchFamily="50" charset="-127"/>
                        <a:cs typeface="Times New Roman" panose="02020603050405020304" pitchFamily="18" charset="0"/>
                      </a:rPr>
                      <m:t>𝑒</m:t>
                    </m:r>
                  </m:oMath>
                </a14:m>
                <a:r>
                  <a:rPr lang="en-US" altLang="ko-KR" dirty="0"/>
                  <a:t> : </a:t>
                </a:r>
                <a:r>
                  <a:rPr lang="ko-KR" altLang="en-US" dirty="0"/>
                  <a:t>자연상수</a:t>
                </a:r>
                <a:r>
                  <a:rPr lang="en-US" altLang="ko-KR" dirty="0"/>
                  <a:t>(2.71828….)</a:t>
                </a:r>
              </a:p>
              <a:p>
                <a:pPr marL="285750" indent="-285750">
                  <a:buFontTx/>
                  <a:buChar char="-"/>
                </a:pPr>
                <a14:m>
                  <m:oMath xmlns:m="http://schemas.openxmlformats.org/officeDocument/2006/math">
                    <m:r>
                      <a:rPr lang="en-US" altLang="ko-KR" sz="1800" i="1" smtClean="0">
                        <a:effectLst/>
                        <a:latin typeface="Cambria Math" panose="02040503050406030204" pitchFamily="18" charset="0"/>
                        <a:ea typeface="맑은 고딕" panose="020B0503020000020004" pitchFamily="50" charset="-127"/>
                        <a:cs typeface="Times New Roman" panose="02020603050405020304" pitchFamily="18" charset="0"/>
                      </a:rPr>
                      <m:t>𝑦</m:t>
                    </m:r>
                  </m:oMath>
                </a14:m>
                <a:r>
                  <a:rPr lang="en-US" altLang="ko-KR" dirty="0"/>
                  <a:t> : </a:t>
                </a:r>
                <a:r>
                  <a:rPr lang="ko-KR" altLang="en-US" dirty="0"/>
                  <a:t>선형 회귀의 결과 값</a:t>
                </a:r>
                <a:endParaRPr lang="en-US" altLang="ko-KR" dirty="0"/>
              </a:p>
            </p:txBody>
          </p:sp>
        </mc:Choice>
        <mc:Fallback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600" y="1700955"/>
                <a:ext cx="7200800" cy="3371629"/>
              </a:xfrm>
              <a:prstGeom prst="rect">
                <a:avLst/>
              </a:prstGeom>
              <a:blipFill>
                <a:blip r:embed="rId3"/>
                <a:stretch>
                  <a:fillRect l="-846" t="-1627" r="-254" b="-180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300" dirty="0"/>
              <a:t>Logistic Regression</a:t>
            </a:r>
            <a:endParaRPr lang="ko-KR" altLang="en-US" sz="2300" dirty="0"/>
          </a:p>
        </p:txBody>
      </p:sp>
    </p:spTree>
    <p:extLst>
      <p:ext uri="{BB962C8B-B14F-4D97-AF65-F5344CB8AC3E}">
        <p14:creationId xmlns:p14="http://schemas.microsoft.com/office/powerpoint/2010/main" val="356583790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75704" y="271681"/>
            <a:ext cx="72327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 err="1">
                <a:solidFill>
                  <a:schemeClr val="bg1"/>
                </a:solidFill>
              </a:rPr>
              <a:t>머신러닝</a:t>
            </a:r>
            <a:endParaRPr lang="ko-KR" altLang="en-US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/>
              <a:t>데이터를 분리하는 최적의 경계선</a:t>
            </a:r>
            <a:r>
              <a:rPr lang="en-US" altLang="ko-KR" dirty="0"/>
              <a:t>( </a:t>
            </a:r>
            <a:r>
              <a:rPr lang="ko-KR" altLang="en-US" dirty="0"/>
              <a:t>결정 경계 </a:t>
            </a:r>
            <a:r>
              <a:rPr lang="en-US" altLang="ko-KR" dirty="0"/>
              <a:t>)</a:t>
            </a:r>
            <a:r>
              <a:rPr lang="ko-KR" altLang="en-US" dirty="0"/>
              <a:t>을 찾고 해당 경계선에서 어느 정도의 여유공간</a:t>
            </a:r>
            <a:r>
              <a:rPr lang="en-US" altLang="ko-KR" dirty="0"/>
              <a:t>(</a:t>
            </a:r>
            <a:r>
              <a:rPr lang="ko-KR" altLang="en-US" dirty="0"/>
              <a:t>마진</a:t>
            </a:r>
            <a:r>
              <a:rPr lang="en-US" altLang="ko-KR" dirty="0"/>
              <a:t>)</a:t>
            </a:r>
            <a:r>
              <a:rPr lang="ko-KR" altLang="en-US" dirty="0"/>
              <a:t>을 생성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마진의 영역을 벗어나는 데이터에 대해서는 가중치 </a:t>
            </a:r>
            <a:r>
              <a:rPr lang="ko-KR" altLang="en-US" dirty="0" err="1"/>
              <a:t>패널티를</a:t>
            </a:r>
            <a:r>
              <a:rPr lang="ko-KR" altLang="en-US" dirty="0"/>
              <a:t> 적용하여 학습을 하는 방식 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 err="1"/>
              <a:t>패널티를</a:t>
            </a:r>
            <a:r>
              <a:rPr lang="ko-KR" altLang="en-US" dirty="0"/>
              <a:t> 이용하여 마진 영역 밖의 데이터를 마진 영역 안쪽으로 들어 오게 할 수 있도록 매개변수를 수정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회귀</a:t>
            </a:r>
            <a:r>
              <a:rPr lang="en-US" altLang="ko-KR" dirty="0"/>
              <a:t>, </a:t>
            </a:r>
            <a:r>
              <a:rPr lang="ko-KR" altLang="en-US" dirty="0"/>
              <a:t>분류에서 모두 사용이 가능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300" dirty="0"/>
              <a:t>Support Vector Machine</a:t>
            </a:r>
            <a:endParaRPr lang="ko-KR" altLang="en-US" sz="2300" dirty="0"/>
          </a:p>
        </p:txBody>
      </p:sp>
    </p:spTree>
    <p:extLst>
      <p:ext uri="{BB962C8B-B14F-4D97-AF65-F5344CB8AC3E}">
        <p14:creationId xmlns:p14="http://schemas.microsoft.com/office/powerpoint/2010/main" val="63776061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75704" y="271681"/>
            <a:ext cx="72327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 err="1">
                <a:solidFill>
                  <a:schemeClr val="bg1"/>
                </a:solidFill>
              </a:rPr>
              <a:t>머신러닝</a:t>
            </a:r>
            <a:endParaRPr lang="ko-KR" altLang="en-US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/>
              <a:t>단일 결정 트리의 단점을 극복하기 위해 여러 머신 러닝 모델을 연결하여 더 강력한 모델을 만드는 방법 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입력 자료로부터 여러 개의 예측 모형을 만든 후 예측 모형을 조합하여 하나의 예측을 만들어 내는 과정 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대표적인 방법으로는 </a:t>
            </a:r>
            <a:r>
              <a:rPr lang="ko-KR" altLang="en-US" dirty="0" err="1"/>
              <a:t>배깅</a:t>
            </a:r>
            <a:r>
              <a:rPr lang="en-US" altLang="ko-KR" dirty="0"/>
              <a:t>, </a:t>
            </a:r>
            <a:r>
              <a:rPr lang="ko-KR" altLang="en-US" dirty="0" err="1"/>
              <a:t>부스팅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300" dirty="0"/>
              <a:t>ensemble</a:t>
            </a:r>
            <a:endParaRPr lang="ko-KR" altLang="en-US" sz="2300" dirty="0"/>
          </a:p>
        </p:txBody>
      </p:sp>
    </p:spTree>
    <p:extLst>
      <p:ext uri="{BB962C8B-B14F-4D97-AF65-F5344CB8AC3E}">
        <p14:creationId xmlns:p14="http://schemas.microsoft.com/office/powerpoint/2010/main" val="34900151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75704" y="271681"/>
            <a:ext cx="72327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 err="1">
                <a:solidFill>
                  <a:schemeClr val="bg1"/>
                </a:solidFill>
              </a:rPr>
              <a:t>머신러닝</a:t>
            </a:r>
            <a:endParaRPr lang="ko-KR" altLang="en-US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/>
              <a:t>주어진 자료를 모집단으로 간주하고 주어진 자료에 여러 개의 부트스트랩 자료를 생성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만들어진 부트스트랩 자료를 이용하여 여러 모델에서 독립적으로 학습 </a:t>
            </a:r>
            <a:r>
              <a:rPr lang="en-US" altLang="ko-KR" dirty="0"/>
              <a:t>(</a:t>
            </a:r>
            <a:r>
              <a:rPr lang="ko-KR" altLang="en-US" dirty="0"/>
              <a:t>병렬식 구조</a:t>
            </a:r>
            <a:r>
              <a:rPr lang="en-US" altLang="ko-KR" dirty="0"/>
              <a:t>)</a:t>
            </a:r>
          </a:p>
          <a:p>
            <a:pPr marL="285750" indent="-285750">
              <a:buFontTx/>
              <a:buChar char="-"/>
            </a:pPr>
            <a:r>
              <a:rPr lang="ko-KR" altLang="en-US" dirty="0"/>
              <a:t>여러 모델에서 만들어진 결과를 결합하여 하나의 결과로 출력 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장점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모델의 불안정성이 줄어들고 분산이 감소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단점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편향은 그대로 유지 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대표적인 모델은 </a:t>
            </a:r>
            <a:r>
              <a:rPr lang="ko-KR" altLang="en-US" dirty="0" err="1"/>
              <a:t>랜덤포레스트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300" dirty="0"/>
              <a:t>Bagging</a:t>
            </a:r>
            <a:endParaRPr lang="ko-KR" altLang="en-US" sz="2300" dirty="0"/>
          </a:p>
        </p:txBody>
      </p:sp>
    </p:spTree>
    <p:extLst>
      <p:ext uri="{BB962C8B-B14F-4D97-AF65-F5344CB8AC3E}">
        <p14:creationId xmlns:p14="http://schemas.microsoft.com/office/powerpoint/2010/main" val="352199732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75704" y="271681"/>
            <a:ext cx="72327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 err="1">
                <a:solidFill>
                  <a:schemeClr val="bg1"/>
                </a:solidFill>
              </a:rPr>
              <a:t>머신러닝</a:t>
            </a:r>
            <a:endParaRPr lang="ko-KR" altLang="en-US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/>
              <a:t>여러 개의 약한 모델을 순자척으로 학습 시키면서 이전 모델에서의 오류를 점점 보완해가는 방식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단순 모델을 반복적으로 사용하면서 강함 모델로 생성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장점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편향 감소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단점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순차적인 학습으로 병렬화가 어려워 속도가 느려짐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학습의 횟수가 너무 많은 경우 과적합의 위험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매개변수의 튜닝이 매우 중요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대표적인 모델은 </a:t>
            </a:r>
            <a:r>
              <a:rPr lang="en-US" altLang="ko-KR" dirty="0" err="1"/>
              <a:t>XGboost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300" dirty="0"/>
              <a:t>Boosting</a:t>
            </a:r>
            <a:endParaRPr lang="ko-KR" altLang="en-US" sz="2300" dirty="0"/>
          </a:p>
        </p:txBody>
      </p:sp>
    </p:spTree>
    <p:extLst>
      <p:ext uri="{BB962C8B-B14F-4D97-AF65-F5344CB8AC3E}">
        <p14:creationId xmlns:p14="http://schemas.microsoft.com/office/powerpoint/2010/main" val="231281657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75704" y="271681"/>
            <a:ext cx="72327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 err="1">
                <a:solidFill>
                  <a:schemeClr val="bg1"/>
                </a:solidFill>
              </a:rPr>
              <a:t>머신러닝</a:t>
            </a:r>
            <a:endParaRPr lang="ko-KR" altLang="en-US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/>
              <a:t>대표적인 </a:t>
            </a:r>
            <a:r>
              <a:rPr lang="ko-KR" altLang="en-US" dirty="0" err="1"/>
              <a:t>배깅</a:t>
            </a:r>
            <a:r>
              <a:rPr lang="ko-KR" altLang="en-US" dirty="0"/>
              <a:t> 방식 모델 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여러 개의 결정 트리를 </a:t>
            </a:r>
            <a:r>
              <a:rPr lang="ko-KR" altLang="en-US" dirty="0" err="1"/>
              <a:t>배깅의</a:t>
            </a:r>
            <a:r>
              <a:rPr lang="ko-KR" altLang="en-US" dirty="0"/>
              <a:t> 방식으로 학습시켜 예측의 결과를 결합하여 하나의 결과로 만들어내는 방식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데이터들을 중복성을 허용하여 여러 개의 데이터 조합을 생성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 err="1"/>
              <a:t>무작위하게</a:t>
            </a:r>
            <a:r>
              <a:rPr lang="ko-KR" altLang="en-US" dirty="0"/>
              <a:t> 특성을 선택하여 트리 간의 상관성을 줄임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각 트리는 독립적으로 학습하여 각각의 </a:t>
            </a:r>
            <a:r>
              <a:rPr lang="ko-KR" altLang="en-US" dirty="0" err="1"/>
              <a:t>예측값을</a:t>
            </a:r>
            <a:r>
              <a:rPr lang="ko-KR" altLang="en-US" dirty="0"/>
              <a:t> 생성 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생성된 예측 값들을 이용하여 최종의 예측을 생성</a:t>
            </a:r>
            <a:endParaRPr lang="en-US" altLang="ko-KR" dirty="0"/>
          </a:p>
          <a:p>
            <a:pPr marL="285750" indent="-285750">
              <a:buFontTx/>
              <a:buChar char="-"/>
            </a:pP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/>
              <a:t>Random Forest</a:t>
            </a:r>
            <a:endParaRPr lang="ko-KR" altLang="en-US" sz="2300" dirty="0"/>
          </a:p>
        </p:txBody>
      </p:sp>
    </p:spTree>
    <p:extLst>
      <p:ext uri="{BB962C8B-B14F-4D97-AF65-F5344CB8AC3E}">
        <p14:creationId xmlns:p14="http://schemas.microsoft.com/office/powerpoint/2010/main" val="148338860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75704" y="271681"/>
            <a:ext cx="72327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 err="1">
                <a:solidFill>
                  <a:schemeClr val="bg1"/>
                </a:solidFill>
              </a:rPr>
              <a:t>머신러닝</a:t>
            </a:r>
            <a:endParaRPr lang="ko-KR" altLang="en-US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/>
              <a:t>대표적인 </a:t>
            </a:r>
            <a:r>
              <a:rPr lang="ko-KR" altLang="en-US" dirty="0" err="1"/>
              <a:t>부스팅</a:t>
            </a:r>
            <a:r>
              <a:rPr lang="ko-KR" altLang="en-US" dirty="0"/>
              <a:t> 모델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기존에 존재하는 </a:t>
            </a:r>
            <a:r>
              <a:rPr lang="en-US" altLang="ko-KR" dirty="0"/>
              <a:t>Gradient Boosting </a:t>
            </a:r>
            <a:r>
              <a:rPr lang="ko-KR" altLang="en-US" dirty="0"/>
              <a:t>알고리즘을 고도화한 모델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첫번째 약한 모델을 통한 학습을 하고 해당 모델에서 오차를 계산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두번째 모델은 오차의 데이터를 다시 재 학습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이러한 과정을 통해 모델의 성능 향상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 err="1"/>
              <a:t>XGBoost</a:t>
            </a:r>
            <a:endParaRPr lang="ko-KR" altLang="en-US" sz="2300" dirty="0"/>
          </a:p>
        </p:txBody>
      </p:sp>
    </p:spTree>
    <p:extLst>
      <p:ext uri="{BB962C8B-B14F-4D97-AF65-F5344CB8AC3E}">
        <p14:creationId xmlns:p14="http://schemas.microsoft.com/office/powerpoint/2010/main" val="211899636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75704" y="271681"/>
            <a:ext cx="72327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 err="1">
                <a:solidFill>
                  <a:schemeClr val="bg1"/>
                </a:solidFill>
              </a:rPr>
              <a:t>머신러닝</a:t>
            </a:r>
            <a:endParaRPr lang="ko-KR" altLang="en-US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altLang="ko-KR" dirty="0"/>
              <a:t>K</a:t>
            </a:r>
            <a:r>
              <a:rPr lang="ko-KR" altLang="en-US" dirty="0"/>
              <a:t>개의 그룹으로 자동 분류하는 비지도 학습 알고리즘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서로 가까운 데이터를 같은 그룹으로 묶어서 하나의 그룹을 생성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그룹의 중신점을 반복적으로 계산하여 군집을 생성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장점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빠르고 단순하여 대용량의 데이터에서 적합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단점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군집의 수를 미리 알고 작성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이상치에 민감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/>
              <a:t>K-Means</a:t>
            </a:r>
            <a:endParaRPr lang="ko-KR" altLang="en-US" sz="2300" dirty="0"/>
          </a:p>
        </p:txBody>
      </p:sp>
    </p:spTree>
    <p:extLst>
      <p:ext uri="{BB962C8B-B14F-4D97-AF65-F5344CB8AC3E}">
        <p14:creationId xmlns:p14="http://schemas.microsoft.com/office/powerpoint/2010/main" val="105420444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75704" y="271681"/>
            <a:ext cx="72327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 err="1">
                <a:solidFill>
                  <a:schemeClr val="bg1"/>
                </a:solidFill>
              </a:rPr>
              <a:t>머신러닝</a:t>
            </a:r>
            <a:endParaRPr lang="ko-KR" altLang="en-US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/>
              <a:t>밀도 기반의 클러스터링 알고리즘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데이터의 밀도를 이용하여 군집을 생성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데이터의 밀도가 높은 지역을 하나의 군집으로 생성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밀도가 낮은 지역을 노이즈로 판단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en-US" altLang="ko-KR" dirty="0"/>
              <a:t>K-</a:t>
            </a:r>
            <a:r>
              <a:rPr lang="en-US" altLang="ko-KR" dirty="0" err="1"/>
              <a:t>Meas</a:t>
            </a:r>
            <a:r>
              <a:rPr lang="ko-KR" altLang="en-US" dirty="0"/>
              <a:t>와의 다르게 군집의 개수를 지정 하지 않아도 됨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비선형 구조의 데이터에서도 군집이 형성이 가능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노이즈를 판단함으로 이상치 자동 감지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/>
              <a:t>DBSCAN</a:t>
            </a:r>
            <a:endParaRPr lang="ko-KR" altLang="en-US" sz="2300" dirty="0"/>
          </a:p>
        </p:txBody>
      </p:sp>
    </p:spTree>
    <p:extLst>
      <p:ext uri="{BB962C8B-B14F-4D97-AF65-F5344CB8AC3E}">
        <p14:creationId xmlns:p14="http://schemas.microsoft.com/office/powerpoint/2010/main" val="371307435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75704" y="271681"/>
            <a:ext cx="72327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 err="1">
                <a:solidFill>
                  <a:schemeClr val="bg1"/>
                </a:solidFill>
              </a:rPr>
              <a:t>머신러닝</a:t>
            </a:r>
            <a:endParaRPr lang="ko-KR" altLang="en-US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/>
              <a:t>차원 축소 기법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고차원의 데이터에서 상관 관계가 없는 새로운 축으로 변환 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데이터의 분산을 최대한 보존하면서 차원을 줄여서 시각화에서 주로 사용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장점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차원 축소로 계산의 속도 향상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노이즈 제거 효과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단점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해석이 </a:t>
            </a:r>
            <a:r>
              <a:rPr lang="ko-KR" altLang="en-US" dirty="0" err="1"/>
              <a:t>어려워짐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비선형 구조에서는 부적합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/>
              <a:t>PCA</a:t>
            </a:r>
            <a:endParaRPr lang="ko-KR" altLang="en-US" sz="2300" dirty="0"/>
          </a:p>
        </p:txBody>
      </p:sp>
    </p:spTree>
    <p:extLst>
      <p:ext uri="{BB962C8B-B14F-4D97-AF65-F5344CB8AC3E}">
        <p14:creationId xmlns:p14="http://schemas.microsoft.com/office/powerpoint/2010/main" val="110647862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75704" y="271681"/>
            <a:ext cx="72327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 err="1">
                <a:solidFill>
                  <a:schemeClr val="bg1"/>
                </a:solidFill>
              </a:rPr>
              <a:t>머신러닝</a:t>
            </a:r>
            <a:endParaRPr lang="ko-KR" altLang="en-US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/>
              <a:t>차원 축소 기법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고차원의 데이터를</a:t>
            </a:r>
            <a:r>
              <a:rPr lang="en-US" altLang="ko-KR" dirty="0"/>
              <a:t> 2</a:t>
            </a:r>
            <a:r>
              <a:rPr lang="ko-KR" altLang="en-US" dirty="0"/>
              <a:t>차원이나 </a:t>
            </a:r>
            <a:r>
              <a:rPr lang="en-US" altLang="ko-KR" dirty="0"/>
              <a:t>3</a:t>
            </a:r>
            <a:r>
              <a:rPr lang="ko-KR" altLang="en-US" dirty="0"/>
              <a:t>차원으로 시각화 하기 위한 비선형 차원 축소 기법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데이터 간의 거리 유사도를 최대한 유지하면서 </a:t>
            </a:r>
            <a:r>
              <a:rPr lang="en-US" altLang="ko-KR" dirty="0"/>
              <a:t>2</a:t>
            </a:r>
            <a:r>
              <a:rPr lang="ko-KR" altLang="en-US" dirty="0"/>
              <a:t>차원이나 </a:t>
            </a:r>
            <a:r>
              <a:rPr lang="en-US" altLang="ko-KR" dirty="0"/>
              <a:t>3</a:t>
            </a:r>
            <a:r>
              <a:rPr lang="ko-KR" altLang="en-US" dirty="0"/>
              <a:t>차원 공간으로 표현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장점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고차원 데이터의 구조를 시각적으로 이해 가능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비선형 관계 표현력 높음 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단점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 err="1"/>
              <a:t>계산량이</a:t>
            </a:r>
            <a:r>
              <a:rPr lang="ko-KR" altLang="en-US" dirty="0"/>
              <a:t> 많기 때문에 느림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축소된 좌표 자체는 해석이 불가능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/>
              <a:t>t-SNE</a:t>
            </a:r>
            <a:endParaRPr lang="ko-KR" altLang="en-US" sz="2300" dirty="0"/>
          </a:p>
        </p:txBody>
      </p:sp>
    </p:spTree>
    <p:extLst>
      <p:ext uri="{BB962C8B-B14F-4D97-AF65-F5344CB8AC3E}">
        <p14:creationId xmlns:p14="http://schemas.microsoft.com/office/powerpoint/2010/main" val="274137098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75704" y="271681"/>
            <a:ext cx="72327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 err="1">
                <a:solidFill>
                  <a:schemeClr val="bg1"/>
                </a:solidFill>
              </a:rPr>
              <a:t>머신러닝</a:t>
            </a:r>
            <a:endParaRPr lang="ko-KR" altLang="en-US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/>
              <a:t>데이터를 </a:t>
            </a:r>
            <a:r>
              <a:rPr lang="en-US" altLang="ko-KR" dirty="0"/>
              <a:t>K</a:t>
            </a:r>
            <a:r>
              <a:rPr lang="ko-KR" altLang="en-US" dirty="0"/>
              <a:t>개의 동일 크기로 나눔</a:t>
            </a:r>
            <a:r>
              <a:rPr lang="en-US" altLang="ko-KR" dirty="0"/>
              <a:t>(</a:t>
            </a:r>
            <a:r>
              <a:rPr lang="ko-KR" altLang="en-US" dirty="0" err="1"/>
              <a:t>폴드화</a:t>
            </a:r>
            <a:r>
              <a:rPr lang="en-US" altLang="ko-KR" dirty="0"/>
              <a:t>)</a:t>
            </a:r>
          </a:p>
          <a:p>
            <a:pPr marL="285750" indent="-285750">
              <a:buFontTx/>
              <a:buChar char="-"/>
            </a:pPr>
            <a:r>
              <a:rPr lang="en-US" altLang="ko-KR" dirty="0"/>
              <a:t>K</a:t>
            </a:r>
            <a:r>
              <a:rPr lang="ko-KR" altLang="en-US" dirty="0"/>
              <a:t>번 반복하여 하나의 </a:t>
            </a:r>
            <a:r>
              <a:rPr lang="ko-KR" altLang="en-US" dirty="0" err="1"/>
              <a:t>폴드는</a:t>
            </a:r>
            <a:r>
              <a:rPr lang="ko-KR" altLang="en-US" dirty="0"/>
              <a:t> 검증용으로 사용하고 나머지 </a:t>
            </a:r>
            <a:r>
              <a:rPr lang="ko-KR" altLang="en-US" dirty="0" err="1"/>
              <a:t>폴드는</a:t>
            </a:r>
            <a:r>
              <a:rPr lang="ko-KR" altLang="en-US" dirty="0"/>
              <a:t> 학습용으로 사용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모든 </a:t>
            </a:r>
            <a:r>
              <a:rPr lang="ko-KR" altLang="en-US" dirty="0" err="1"/>
              <a:t>폴드는</a:t>
            </a:r>
            <a:r>
              <a:rPr lang="ko-KR" altLang="en-US" dirty="0"/>
              <a:t> 한번은 검증용으로 사용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데이터의 수가 적을 때 모델의 성능을 안정적으로 평가 할 수 있는 방법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/>
              <a:t>K-fold</a:t>
            </a:r>
            <a:endParaRPr lang="ko-KR" altLang="en-US" sz="2300" dirty="0"/>
          </a:p>
        </p:txBody>
      </p:sp>
    </p:spTree>
    <p:extLst>
      <p:ext uri="{BB962C8B-B14F-4D97-AF65-F5344CB8AC3E}">
        <p14:creationId xmlns:p14="http://schemas.microsoft.com/office/powerpoint/2010/main" val="276387696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75704" y="271681"/>
            <a:ext cx="72327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 err="1">
                <a:solidFill>
                  <a:schemeClr val="bg1"/>
                </a:solidFill>
              </a:rPr>
              <a:t>머신러닝</a:t>
            </a:r>
            <a:endParaRPr lang="ko-KR" altLang="en-US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/>
              <a:t>매개변수의 조합을 탐색하여 최적의 조합을 찾는 방법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각각의 매개변수 조합 별로 학습</a:t>
            </a:r>
            <a:r>
              <a:rPr lang="en-US" altLang="ko-KR" dirty="0"/>
              <a:t>, </a:t>
            </a:r>
            <a:r>
              <a:rPr lang="ko-KR" altLang="en-US" dirty="0"/>
              <a:t>검증을 진행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매개변수 별 성능을 체크하여 최적의 매개변수의 값을 확인하는 교차 검증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 err="1"/>
              <a:t>GridSerachCV</a:t>
            </a:r>
            <a:endParaRPr lang="ko-KR" altLang="en-US" sz="2300" dirty="0"/>
          </a:p>
        </p:txBody>
      </p:sp>
    </p:spTree>
    <p:extLst>
      <p:ext uri="{BB962C8B-B14F-4D97-AF65-F5344CB8AC3E}">
        <p14:creationId xmlns:p14="http://schemas.microsoft.com/office/powerpoint/2010/main" val="295603916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75704" y="271681"/>
            <a:ext cx="72327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 err="1">
                <a:solidFill>
                  <a:schemeClr val="bg1"/>
                </a:solidFill>
              </a:rPr>
              <a:t>머신러닝</a:t>
            </a:r>
            <a:endParaRPr lang="ko-KR" altLang="en-US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 err="1"/>
              <a:t>머신러닝</a:t>
            </a:r>
            <a:r>
              <a:rPr lang="ko-KR" altLang="en-US" dirty="0"/>
              <a:t> 학습 과정을 하나의 연속된 흐름으로 묶는 도구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데이터의 </a:t>
            </a:r>
            <a:r>
              <a:rPr lang="ko-KR" altLang="en-US" dirty="0" err="1"/>
              <a:t>전처리</a:t>
            </a:r>
            <a:r>
              <a:rPr lang="ko-KR" altLang="en-US" dirty="0"/>
              <a:t> 과정</a:t>
            </a:r>
            <a:r>
              <a:rPr lang="en-US" altLang="ko-KR" dirty="0"/>
              <a:t>, </a:t>
            </a:r>
            <a:r>
              <a:rPr lang="ko-KR" altLang="en-US" dirty="0"/>
              <a:t>모델의 학습</a:t>
            </a:r>
            <a:r>
              <a:rPr lang="en-US" altLang="ko-KR" dirty="0"/>
              <a:t>, </a:t>
            </a:r>
            <a:r>
              <a:rPr lang="ko-KR" altLang="en-US" dirty="0"/>
              <a:t>예측 과 같은 흐름을 하나로 연결하는 기능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장점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코드의 간결화 및 자동화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일관성을 유지하여 반복 실험의 결과가 안정적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재사용성이 높음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교차 검증과 연동이 용이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데이터의 누수 방지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단점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오류 추적이 어려움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파이프는 순차적으로 진행됨으로 병렬처리에 제약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/>
              <a:t>학습 시간의 증가 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/>
              <a:t>Pipeline</a:t>
            </a:r>
            <a:endParaRPr lang="ko-KR" altLang="en-US" sz="2300" dirty="0"/>
          </a:p>
        </p:txBody>
      </p:sp>
    </p:spTree>
    <p:extLst>
      <p:ext uri="{BB962C8B-B14F-4D97-AF65-F5344CB8AC3E}">
        <p14:creationId xmlns:p14="http://schemas.microsoft.com/office/powerpoint/2010/main" val="333926990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251520" y="3068960"/>
            <a:ext cx="8640960" cy="35283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타원 2"/>
          <p:cNvSpPr/>
          <p:nvPr/>
        </p:nvSpPr>
        <p:spPr>
          <a:xfrm>
            <a:off x="2627784" y="1052736"/>
            <a:ext cx="3858956" cy="3858956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/>
          <p:cNvSpPr txBox="1"/>
          <p:nvPr/>
        </p:nvSpPr>
        <p:spPr>
          <a:xfrm>
            <a:off x="2699792" y="2564904"/>
            <a:ext cx="381642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5400" b="1" dirty="0">
                <a:solidFill>
                  <a:schemeClr val="bg1"/>
                </a:solidFill>
              </a:rPr>
              <a:t>THANK</a:t>
            </a:r>
          </a:p>
          <a:p>
            <a:pPr algn="ctr"/>
            <a:r>
              <a:rPr lang="en-US" altLang="ko-KR" sz="5400" b="1" dirty="0">
                <a:solidFill>
                  <a:schemeClr val="bg1"/>
                </a:solidFill>
              </a:rPr>
              <a:t>YOU</a:t>
            </a:r>
            <a:endParaRPr lang="ko-KR" altLang="en-US" sz="54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497869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18103</TotalTime>
  <Words>2105</Words>
  <Application>Microsoft Office PowerPoint</Application>
  <PresentationFormat>화면 슬라이드 쇼(4:3)</PresentationFormat>
  <Paragraphs>411</Paragraphs>
  <Slides>36</Slides>
  <Notes>35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36</vt:i4>
      </vt:variant>
    </vt:vector>
  </HeadingPairs>
  <TitlesOfParts>
    <vt:vector size="42" baseType="lpstr">
      <vt:lpstr>HY헤드라인M</vt:lpstr>
      <vt:lpstr>Noto Sans KR</vt:lpstr>
      <vt:lpstr>맑은 고딕</vt:lpstr>
      <vt:lpstr>Arial</vt:lpstr>
      <vt:lpstr>Cambria Math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LG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minhee park</dc:creator>
  <cp:lastModifiedBy>병선 문</cp:lastModifiedBy>
  <cp:revision>171</cp:revision>
  <dcterms:created xsi:type="dcterms:W3CDTF">2016-11-03T20:47:04Z</dcterms:created>
  <dcterms:modified xsi:type="dcterms:W3CDTF">2026-05-07T16:22:39Z</dcterms:modified>
</cp:coreProperties>
</file>