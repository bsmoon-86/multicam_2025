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334" r:id="rId2"/>
    <p:sldId id="322" r:id="rId3"/>
    <p:sldId id="287" r:id="rId4"/>
    <p:sldId id="335" r:id="rId5"/>
    <p:sldId id="343" r:id="rId6"/>
    <p:sldId id="367" r:id="rId7"/>
    <p:sldId id="336" r:id="rId8"/>
    <p:sldId id="337" r:id="rId9"/>
    <p:sldId id="338" r:id="rId10"/>
    <p:sldId id="344" r:id="rId11"/>
    <p:sldId id="345" r:id="rId12"/>
    <p:sldId id="346" r:id="rId13"/>
    <p:sldId id="347" r:id="rId14"/>
    <p:sldId id="348" r:id="rId15"/>
    <p:sldId id="349" r:id="rId16"/>
    <p:sldId id="350" r:id="rId17"/>
    <p:sldId id="351" r:id="rId18"/>
    <p:sldId id="352" r:id="rId19"/>
    <p:sldId id="353" r:id="rId20"/>
    <p:sldId id="354" r:id="rId21"/>
    <p:sldId id="355" r:id="rId22"/>
    <p:sldId id="356" r:id="rId23"/>
    <p:sldId id="364" r:id="rId24"/>
    <p:sldId id="365" r:id="rId25"/>
    <p:sldId id="363" r:id="rId26"/>
    <p:sldId id="357" r:id="rId27"/>
    <p:sldId id="358" r:id="rId28"/>
    <p:sldId id="359" r:id="rId29"/>
    <p:sldId id="360" r:id="rId30"/>
    <p:sldId id="361" r:id="rId31"/>
    <p:sldId id="362" r:id="rId32"/>
    <p:sldId id="366" r:id="rId33"/>
    <p:sldId id="321" r:id="rId3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3810" autoAdjust="0"/>
  </p:normalViewPr>
  <p:slideViewPr>
    <p:cSldViewPr>
      <p:cViewPr varScale="1">
        <p:scale>
          <a:sx n="151" d="100"/>
          <a:sy n="151" d="100"/>
        </p:scale>
        <p:origin x="1992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319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71C21-3757-4199-83DE-22960358A2A5}" type="datetimeFigureOut">
              <a:rPr lang="ko-KR" altLang="en-US" smtClean="0"/>
              <a:pPr/>
              <a:t>2026-05-27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A4E647-5A0F-41E6-A0EF-B58D8C1C6CD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03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54762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6590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7773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28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018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6972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774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4752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7757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124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764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5656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1032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6590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89551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6266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8492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1376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2004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8433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6037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009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4858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0274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9382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560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8501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10186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67930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3089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3284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/>
              <a:t>http://minheeblog.tistory.com/category/PPT</a:t>
            </a:r>
            <a:endParaRPr lang="ko-KR" altLang="en-US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A4E647-5A0F-41E6-A0EF-B58D8C1C6CD4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7393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1520" y="620688"/>
            <a:ext cx="8640960" cy="5976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타원 9"/>
          <p:cNvSpPr/>
          <p:nvPr userDrawn="1"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FE722-38C7-4231-8BB5-7A27D4E5977D}" type="datetimeFigureOut">
              <a:rPr lang="ko-KR" altLang="en-US" smtClean="0"/>
              <a:pPr/>
              <a:t>2026-05-27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2FE722-38C7-4231-8BB5-7A27D4E5977D}" type="datetimeFigureOut">
              <a:rPr lang="ko-KR" altLang="en-US" smtClean="0"/>
              <a:pPr/>
              <a:t>2026-05-27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7CD0F7-B239-41DD-B89C-138EEA1D13E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835696" y="2708920"/>
            <a:ext cx="54726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spc="-150" dirty="0">
                <a:solidFill>
                  <a:schemeClr val="bg1"/>
                </a:solidFill>
              </a:rPr>
              <a:t>자연어처리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3768" y="2276872"/>
            <a:ext cx="425647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dist"/>
            <a:r>
              <a:rPr lang="ko-KR" altLang="en-US" sz="1400" b="1" dirty="0" err="1">
                <a:solidFill>
                  <a:schemeClr val="tx2">
                    <a:lumMod val="50000"/>
                  </a:schemeClr>
                </a:solidFill>
              </a:rPr>
              <a:t>머신러닝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altLang="ko-KR" sz="1400" b="1" dirty="0">
                <a:solidFill>
                  <a:schemeClr val="tx2">
                    <a:lumMod val="50000"/>
                  </a:schemeClr>
                </a:solidFill>
              </a:rPr>
              <a:t>/ </a:t>
            </a:r>
            <a:r>
              <a:rPr lang="ko-KR" altLang="en-US" sz="1400" b="1" dirty="0">
                <a:solidFill>
                  <a:schemeClr val="tx2">
                    <a:lumMod val="50000"/>
                  </a:schemeClr>
                </a:solidFill>
              </a:rPr>
              <a:t>딥러닝</a:t>
            </a:r>
          </a:p>
        </p:txBody>
      </p:sp>
    </p:spTree>
    <p:extLst>
      <p:ext uri="{BB962C8B-B14F-4D97-AF65-F5344CB8AC3E}">
        <p14:creationId xmlns:p14="http://schemas.microsoft.com/office/powerpoint/2010/main" val="3486873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>
                <a:solidFill>
                  <a:schemeClr val="bg1"/>
                </a:solidFill>
              </a:rPr>
              <a:t>토큰화</a:t>
            </a:r>
          </a:p>
        </p:txBody>
      </p:sp>
    </p:spTree>
    <p:extLst>
      <p:ext uri="{BB962C8B-B14F-4D97-AF65-F5344CB8AC3E}">
        <p14:creationId xmlns:p14="http://schemas.microsoft.com/office/powerpoint/2010/main" val="119277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토큰화는 문장을 의미 있는 최소의 단위</a:t>
            </a:r>
            <a:r>
              <a:rPr lang="en-US" altLang="ko-KR" dirty="0"/>
              <a:t>(token)</a:t>
            </a:r>
            <a:r>
              <a:rPr lang="ko-KR" altLang="en-US" dirty="0"/>
              <a:t>로 분리하는 과정을 의미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 err="1"/>
              <a:t>토큰화란</a:t>
            </a:r>
            <a:r>
              <a:rPr lang="en-US" altLang="ko-KR" sz="2300" dirty="0"/>
              <a:t>?</a:t>
            </a:r>
            <a:endParaRPr lang="ko-KR" alt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띄어쓰기를 기반으로 토큰화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영문에서는 사용이 가능하지만 한글에서는 의미가 소실되는 경우가 발생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형태소 분석기를 기반으로 토큰화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국어 사전을 기반으로 단어들을 나누는 기법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 err="1"/>
              <a:t>Okt</a:t>
            </a:r>
            <a:r>
              <a:rPr lang="en-US" altLang="ko-KR" dirty="0"/>
              <a:t>, </a:t>
            </a:r>
            <a:r>
              <a:rPr lang="en-US" altLang="ko-KR" dirty="0" err="1"/>
              <a:t>Komoran</a:t>
            </a:r>
            <a:r>
              <a:rPr lang="ko-KR" altLang="en-US" dirty="0"/>
              <a:t>과 같은 형태소 분석기를 사용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/>
              <a:t>서브워드</a:t>
            </a:r>
            <a:r>
              <a:rPr lang="ko-KR" altLang="en-US" dirty="0"/>
              <a:t> 기반으로 토큰화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현대 딥러닝 모델에서 사용하는 토큰화 기법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OOV(</a:t>
            </a:r>
            <a:r>
              <a:rPr lang="ko-KR" altLang="en-US" dirty="0"/>
              <a:t>희귀 단어 문제</a:t>
            </a:r>
            <a:r>
              <a:rPr lang="en-US" altLang="ko-KR" dirty="0"/>
              <a:t>)</a:t>
            </a:r>
            <a:r>
              <a:rPr lang="ko-KR" altLang="en-US" dirty="0"/>
              <a:t>를 해결하고 학습의 효율을 </a:t>
            </a:r>
            <a:r>
              <a:rPr lang="ko-KR" altLang="en-US" dirty="0" err="1"/>
              <a:t>높여줌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 err="1"/>
              <a:t>Sentencepeice</a:t>
            </a:r>
            <a:r>
              <a:rPr lang="en-US" altLang="ko-KR" dirty="0"/>
              <a:t>, </a:t>
            </a:r>
            <a:r>
              <a:rPr lang="en-US" altLang="ko-KR" dirty="0" err="1"/>
              <a:t>WordPeice</a:t>
            </a:r>
            <a:r>
              <a:rPr lang="ko-KR" altLang="en-US" dirty="0"/>
              <a:t>와 같은 알고리즘을 사용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300" dirty="0"/>
              <a:t>토큰화 방법</a:t>
            </a:r>
          </a:p>
        </p:txBody>
      </p:sp>
    </p:spTree>
    <p:extLst>
      <p:ext uri="{BB962C8B-B14F-4D97-AF65-F5344CB8AC3E}">
        <p14:creationId xmlns:p14="http://schemas.microsoft.com/office/powerpoint/2010/main" val="1798281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>
                <a:solidFill>
                  <a:schemeClr val="bg1"/>
                </a:solidFill>
              </a:rPr>
              <a:t>통계기반 자연어 처리</a:t>
            </a:r>
          </a:p>
        </p:txBody>
      </p:sp>
    </p:spTree>
    <p:extLst>
      <p:ext uri="{BB962C8B-B14F-4D97-AF65-F5344CB8AC3E}">
        <p14:creationId xmlns:p14="http://schemas.microsoft.com/office/powerpoint/2010/main" val="1295484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문장이나 텍스트를 연속된 </a:t>
            </a:r>
            <a:r>
              <a:rPr lang="en-US" altLang="ko-KR" dirty="0"/>
              <a:t>n</a:t>
            </a:r>
            <a:r>
              <a:rPr lang="ko-KR" altLang="en-US" dirty="0"/>
              <a:t>개의 단어 묶음으로 나누는 방법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단어의 순서</a:t>
            </a:r>
            <a:r>
              <a:rPr lang="en-US" altLang="ko-KR" dirty="0"/>
              <a:t>(</a:t>
            </a:r>
            <a:r>
              <a:rPr lang="ko-KR" altLang="en-US" dirty="0"/>
              <a:t>문맥</a:t>
            </a:r>
            <a:r>
              <a:rPr lang="en-US" altLang="ko-KR" dirty="0"/>
              <a:t>)</a:t>
            </a:r>
            <a:r>
              <a:rPr lang="ko-KR" altLang="en-US" dirty="0"/>
              <a:t>를 고려하기 위한 가장 기본적인 방법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장점 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간단하고 직관적으로 계산이 쉬움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짧은 문맥은 잘 표현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한계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데이터가 커질수록 희소</a:t>
            </a:r>
            <a:r>
              <a:rPr lang="en-US" altLang="ko-KR" dirty="0"/>
              <a:t>(0) </a:t>
            </a:r>
            <a:r>
              <a:rPr lang="ko-KR" altLang="en-US" dirty="0"/>
              <a:t>문제가 심각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N-gram</a:t>
            </a:r>
          </a:p>
        </p:txBody>
      </p:sp>
    </p:spTree>
    <p:extLst>
      <p:ext uri="{BB962C8B-B14F-4D97-AF65-F5344CB8AC3E}">
        <p14:creationId xmlns:p14="http://schemas.microsoft.com/office/powerpoint/2010/main" val="1948843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단어의 등장 여부나 빈도를 표현하는 방법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단어가 등장하면 </a:t>
            </a:r>
            <a:r>
              <a:rPr lang="en-US" altLang="ko-KR" dirty="0"/>
              <a:t>1 </a:t>
            </a:r>
            <a:r>
              <a:rPr lang="ko-KR" altLang="en-US" dirty="0"/>
              <a:t>없으면 </a:t>
            </a:r>
            <a:r>
              <a:rPr lang="en-US" altLang="ko-KR" dirty="0"/>
              <a:t>0</a:t>
            </a:r>
            <a:r>
              <a:rPr lang="ko-KR" altLang="en-US" dirty="0"/>
              <a:t>으로 표시하는 </a:t>
            </a:r>
            <a:r>
              <a:rPr lang="en-US" altLang="ko-KR" dirty="0"/>
              <a:t>Binary </a:t>
            </a:r>
            <a:r>
              <a:rPr lang="ko-KR" altLang="en-US" dirty="0"/>
              <a:t>방식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단어의 등장 횟수로 표시하는 </a:t>
            </a:r>
            <a:r>
              <a:rPr lang="en-US" altLang="ko-KR" dirty="0"/>
              <a:t>Count </a:t>
            </a:r>
            <a:r>
              <a:rPr lang="ko-KR" altLang="en-US" dirty="0"/>
              <a:t>방식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장점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구현이 간단하고 직관적이고 빠름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문서의 순서 정보가 사라짐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Bag of Words(</a:t>
            </a:r>
            <a:r>
              <a:rPr lang="en-US" altLang="ko-KR" sz="2300" dirty="0" err="1"/>
              <a:t>BoW</a:t>
            </a:r>
            <a:r>
              <a:rPr lang="en-US" altLang="ko-KR" sz="23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10924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문서 내에서 자주 등장하지만 다른 문서에서는 드물게 등장하는 단어에 높은 가중치를 부여하는 방식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TF</a:t>
            </a:r>
          </a:p>
          <a:p>
            <a:pPr marL="742950" lvl="1" indent="-285750">
              <a:buFontTx/>
              <a:buChar char="-"/>
            </a:pPr>
            <a:r>
              <a:rPr lang="ko-KR" altLang="en-US" dirty="0"/>
              <a:t>한 문서에서 얼마나 자주 등장하는가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IDF</a:t>
            </a:r>
          </a:p>
          <a:p>
            <a:pPr marL="742950" lvl="1" indent="-285750">
              <a:buFontTx/>
              <a:buChar char="-"/>
            </a:pPr>
            <a:r>
              <a:rPr lang="ko-KR" altLang="en-US" dirty="0"/>
              <a:t>전체 문서 중 얼마나 희귀한 단어인가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단어의 상대적인 중요도를 수치화한 통계적인 표현 기법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TF-IDF(Term Frequency – Inverse Document Frequency)</a:t>
            </a:r>
          </a:p>
        </p:txBody>
      </p:sp>
    </p:spTree>
    <p:extLst>
      <p:ext uri="{BB962C8B-B14F-4D97-AF65-F5344CB8AC3E}">
        <p14:creationId xmlns:p14="http://schemas.microsoft.com/office/powerpoint/2010/main" val="3303034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단어가 문맥 내에서 함께 등장하는 빈도를 기반으로 단어 간 의미적 연관성을 수치화 한 행렬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어떠한 단어가 어떤 단어와 자주 같이 등장하는가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문맥의 정보를 확인할 수 있는 기법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동시 출현 행렬</a:t>
            </a:r>
            <a:r>
              <a:rPr lang="en-US" altLang="ko-KR" sz="2400" dirty="0"/>
              <a:t>(Co-occurrence Matrix)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496208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두 단어가 서로 독립적인 경우 기대되는 등장 확률보다 얼마나 더 자주 함께 등장하는가를 측정하는 값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PMI</a:t>
            </a:r>
            <a:r>
              <a:rPr lang="ko-KR" altLang="en-US" dirty="0"/>
              <a:t>의 값이 </a:t>
            </a:r>
            <a:r>
              <a:rPr lang="en-US" altLang="ko-KR" dirty="0"/>
              <a:t>0</a:t>
            </a:r>
            <a:r>
              <a:rPr lang="ko-KR" altLang="en-US" dirty="0"/>
              <a:t>보다 큰 경우는 두 단어가 예상보다 자주 함께 등장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0</a:t>
            </a:r>
            <a:r>
              <a:rPr lang="ko-KR" altLang="en-US" dirty="0"/>
              <a:t>인 경우는 두 단어가 독립적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0</a:t>
            </a:r>
            <a:r>
              <a:rPr lang="ko-KR" altLang="en-US" dirty="0"/>
              <a:t>보다 작은 경우는 두 단어가 함께 등장할 확률이 기대보다 낮음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PMI(Pointwise Mutual Information)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2379066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단어와 문서 간의 숨겨진 의미 구조를 통계적으로 찾아내는 차원 축소 기법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TF-IDF</a:t>
            </a:r>
            <a:r>
              <a:rPr lang="ko-KR" altLang="en-US" dirty="0"/>
              <a:t>를 입력 값으로 사용하여 </a:t>
            </a:r>
            <a:r>
              <a:rPr lang="en-US" altLang="ko-KR" dirty="0"/>
              <a:t>SVC(</a:t>
            </a:r>
            <a:r>
              <a:rPr lang="ko-KR" altLang="en-US" dirty="0" err="1"/>
              <a:t>특이값</a:t>
            </a:r>
            <a:r>
              <a:rPr lang="ko-KR" altLang="en-US" dirty="0"/>
              <a:t> 분해</a:t>
            </a:r>
            <a:r>
              <a:rPr lang="en-US" altLang="ko-KR" dirty="0"/>
              <a:t>)</a:t>
            </a:r>
            <a:r>
              <a:rPr lang="ko-KR" altLang="en-US" dirty="0"/>
              <a:t>를 적용하여 주요 잠재 의미 축만 남겨서 </a:t>
            </a:r>
            <a:r>
              <a:rPr lang="ko-KR" altLang="en-US" dirty="0" err="1"/>
              <a:t>임베딩을</a:t>
            </a:r>
            <a:r>
              <a:rPr lang="ko-KR" altLang="en-US" dirty="0"/>
              <a:t> 하는 기법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Word2Vec </a:t>
            </a:r>
            <a:r>
              <a:rPr lang="ko-KR" altLang="en-US" dirty="0"/>
              <a:t>이전 세대에서 의미 벡터화 기법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LSA (Latent Semantic Analysis, </a:t>
            </a:r>
            <a:r>
              <a:rPr lang="ko-KR" altLang="en-US" sz="2400" dirty="0"/>
              <a:t>잠재 의미 분석</a:t>
            </a:r>
            <a:r>
              <a:rPr lang="en-US" altLang="ko-KR" sz="2400" dirty="0"/>
              <a:t>)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212272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코사인 유사도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두 벡터가 서로 얼마나 같은 방향을 가리키는지</a:t>
            </a:r>
            <a:r>
              <a:rPr lang="en-US" altLang="ko-KR" dirty="0"/>
              <a:t>(</a:t>
            </a:r>
            <a:r>
              <a:rPr lang="ko-KR" altLang="en-US" dirty="0"/>
              <a:t>각도</a:t>
            </a:r>
            <a:r>
              <a:rPr lang="en-US" altLang="ko-KR" dirty="0"/>
              <a:t>)</a:t>
            </a:r>
            <a:r>
              <a:rPr lang="ko-KR" altLang="en-US" dirty="0"/>
              <a:t>를 측정하는 지표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벡터의 길이가 아니라</a:t>
            </a:r>
            <a:r>
              <a:rPr lang="en-US" altLang="ko-KR" dirty="0"/>
              <a:t>, </a:t>
            </a:r>
            <a:r>
              <a:rPr lang="ko-KR" altLang="en-US" dirty="0"/>
              <a:t>방향의 유사성을 비교하는 것이 핵심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1</a:t>
            </a:r>
            <a:r>
              <a:rPr lang="ko-KR" altLang="en-US" dirty="0"/>
              <a:t>이라면 완전히 같은 의미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0</a:t>
            </a:r>
            <a:r>
              <a:rPr lang="ko-KR" altLang="en-US" dirty="0"/>
              <a:t>이라면 관련이 없는 서로 독립적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-1</a:t>
            </a:r>
            <a:r>
              <a:rPr lang="ko-KR" altLang="en-US" dirty="0"/>
              <a:t>이라면 반대의 의미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유사도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2900115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유클리드 거리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두 벡터 사이의 직선 거리를 의미 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0</a:t>
            </a:r>
            <a:r>
              <a:rPr lang="ko-KR" altLang="en-US" dirty="0"/>
              <a:t>이면 완전히 동일 벡터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값이 커질수록 서로 다음의 정도가 커짐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유사도로 해석을 하는 경우라면 값이 작을 수록 유사하다고 판단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고차원 벡터에서 사용을 하지 않는 이유는 고차원에서는 모든 점이 서로 멀어짐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고차원 벡터에서는 코사인 유사도가 더 안정적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유사도</a:t>
            </a:r>
            <a:endParaRPr lang="en-US" altLang="ko-KR" sz="2300" dirty="0"/>
          </a:p>
        </p:txBody>
      </p:sp>
    </p:spTree>
    <p:extLst>
      <p:ext uri="{BB962C8B-B14F-4D97-AF65-F5344CB8AC3E}">
        <p14:creationId xmlns:p14="http://schemas.microsoft.com/office/powerpoint/2010/main" val="19129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>
                <a:solidFill>
                  <a:schemeClr val="bg1"/>
                </a:solidFill>
              </a:rPr>
              <a:t>딥러닝 자연어 처리</a:t>
            </a:r>
          </a:p>
        </p:txBody>
      </p:sp>
    </p:spTree>
    <p:extLst>
      <p:ext uri="{BB962C8B-B14F-4D97-AF65-F5344CB8AC3E}">
        <p14:creationId xmlns:p14="http://schemas.microsoft.com/office/powerpoint/2010/main" val="2764100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Word2Vec</a:t>
            </a:r>
            <a:r>
              <a:rPr lang="ko-KR" altLang="en-US" dirty="0"/>
              <a:t>은 단어를 단순한 문자로 생각하는 것이 아니라 의미를 가진 벡터로 표현하는 딥러닝 </a:t>
            </a:r>
            <a:r>
              <a:rPr lang="ko-KR" altLang="en-US" dirty="0" err="1"/>
              <a:t>임베딩</a:t>
            </a:r>
            <a:r>
              <a:rPr lang="ko-KR" altLang="en-US" dirty="0"/>
              <a:t> 방식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문맥을 바탕으로 단어의 의미를 학습하는 모델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코사인 유사도를 활용하여 단어 간 의미적 유사성을 표현 할 수 있는 모델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Word2Vec</a:t>
            </a:r>
            <a:endParaRPr lang="ko-KR" altLang="en-US" sz="2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CBOW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주변 단어를 이용하여 중심 단어를 예측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문맥의 단어 </a:t>
            </a:r>
            <a:r>
              <a:rPr lang="en-US" altLang="ko-KR" dirty="0"/>
              <a:t>: [</a:t>
            </a:r>
            <a:r>
              <a:rPr lang="ko-KR" altLang="en-US" dirty="0"/>
              <a:t>나는</a:t>
            </a:r>
            <a:r>
              <a:rPr lang="en-US" altLang="ko-KR" dirty="0"/>
              <a:t>, </a:t>
            </a:r>
            <a:r>
              <a:rPr lang="ko-KR" altLang="en-US" dirty="0"/>
              <a:t>먹었다</a:t>
            </a:r>
            <a:r>
              <a:rPr lang="en-US" altLang="ko-KR" dirty="0"/>
              <a:t>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중심 단어 </a:t>
            </a:r>
            <a:r>
              <a:rPr lang="en-US" altLang="ko-KR" dirty="0"/>
              <a:t>: </a:t>
            </a:r>
            <a:r>
              <a:rPr lang="ko-KR" altLang="en-US" dirty="0"/>
              <a:t>밥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특정 단어가 어떤 문맥에 등장하는지를 이해하는 방법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긴 문맥에서는 잘 반영이 되지 않은 문제가 있음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속도는 빠르고 자주 등장하는 단어에 유리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Word2Vec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2819083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Skip-Gram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중심 단어를 이용하여 주변 단어를 예측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중심 단어 </a:t>
            </a:r>
            <a:r>
              <a:rPr lang="en-US" altLang="ko-KR" dirty="0"/>
              <a:t>: </a:t>
            </a:r>
            <a:r>
              <a:rPr lang="ko-KR" altLang="en-US" dirty="0"/>
              <a:t>밥을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문맥 단어 </a:t>
            </a:r>
            <a:r>
              <a:rPr lang="en-US" altLang="ko-KR" dirty="0"/>
              <a:t>: [</a:t>
            </a:r>
            <a:r>
              <a:rPr lang="ko-KR" altLang="en-US" dirty="0"/>
              <a:t>나는</a:t>
            </a:r>
            <a:r>
              <a:rPr lang="en-US" altLang="ko-KR" dirty="0"/>
              <a:t>, </a:t>
            </a:r>
            <a:r>
              <a:rPr lang="ko-KR" altLang="en-US" dirty="0"/>
              <a:t>먹었다</a:t>
            </a:r>
            <a:r>
              <a:rPr lang="en-US" altLang="ko-KR" dirty="0"/>
              <a:t>]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희귀 단어 학습에 강함 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CBOW</a:t>
            </a:r>
            <a:r>
              <a:rPr lang="ko-KR" altLang="en-US" dirty="0"/>
              <a:t>에 비해 일반적으로 사용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더 좋은 </a:t>
            </a:r>
            <a:r>
              <a:rPr lang="ko-KR" altLang="en-US" dirty="0" err="1"/>
              <a:t>임베딩</a:t>
            </a:r>
            <a:r>
              <a:rPr lang="ko-KR" altLang="en-US" dirty="0"/>
              <a:t> 품질을 보임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Word2Vec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1572472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단어간의</a:t>
            </a:r>
            <a:r>
              <a:rPr lang="ko-KR" altLang="en-US" dirty="0"/>
              <a:t> 유사도 계산이 가능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머신러닝과</a:t>
            </a:r>
            <a:r>
              <a:rPr lang="ko-KR" altLang="en-US" dirty="0"/>
              <a:t> </a:t>
            </a:r>
            <a:r>
              <a:rPr lang="ko-KR" altLang="en-US" dirty="0" err="1"/>
              <a:t>딥러닝에서</a:t>
            </a:r>
            <a:r>
              <a:rPr lang="ko-KR" altLang="en-US" dirty="0"/>
              <a:t> 입력 데이터로 사용이 가능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Word2Vec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15015907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Word2Vec</a:t>
            </a:r>
            <a:r>
              <a:rPr lang="ko-KR" altLang="en-US" dirty="0"/>
              <a:t>과 통계 기반의 강점을 결합한 방식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단어 간의 전역적인 통계정보를 이용해서 단어 </a:t>
            </a:r>
            <a:r>
              <a:rPr lang="ko-KR" altLang="en-US" dirty="0" err="1"/>
              <a:t>백터를</a:t>
            </a:r>
            <a:r>
              <a:rPr lang="ko-KR" altLang="en-US" dirty="0"/>
              <a:t> 학습하는 </a:t>
            </a:r>
            <a:r>
              <a:rPr lang="ko-KR" altLang="en-US" dirty="0" err="1"/>
              <a:t>임베딩</a:t>
            </a:r>
            <a:r>
              <a:rPr lang="ko-KR" altLang="en-US" dirty="0"/>
              <a:t> 방식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사전에 학습이 된 모델을 이용하여 </a:t>
            </a:r>
            <a:r>
              <a:rPr lang="ko-KR" altLang="en-US" dirty="0" err="1"/>
              <a:t>임베딩</a:t>
            </a:r>
            <a:r>
              <a:rPr lang="ko-KR" altLang="en-US" dirty="0"/>
              <a:t> 변환을 사용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영문 모델은</a:t>
            </a:r>
            <a:br>
              <a:rPr lang="en-US" altLang="ko-KR" dirty="0"/>
            </a:br>
            <a:r>
              <a:rPr lang="en-US" altLang="ko-KR" dirty="0"/>
              <a:t>	https://nlp.stanford.edu/projects/glove/</a:t>
            </a:r>
            <a:br>
              <a:rPr lang="en-US" altLang="ko-KR" dirty="0"/>
            </a:br>
            <a:r>
              <a:rPr lang="ko-KR" altLang="en-US" dirty="0"/>
              <a:t>사이트에서 다운로드 가능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 err="1"/>
              <a:t>GloVe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378569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단어 하나를 하나의 토큰으로 보는 것이 아니라 글자 단위로 분해하여 벡터를 학습하는 방식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글자를 </a:t>
            </a:r>
            <a:r>
              <a:rPr lang="en-US" altLang="ko-KR" dirty="0"/>
              <a:t>n-gram</a:t>
            </a:r>
            <a:r>
              <a:rPr lang="ko-KR" altLang="en-US" dirty="0"/>
              <a:t>의 형식으로 학습을 하기 때문에 </a:t>
            </a:r>
            <a:r>
              <a:rPr lang="en-US" altLang="ko-KR" dirty="0"/>
              <a:t>OOV(</a:t>
            </a:r>
            <a:r>
              <a:rPr lang="ko-KR" altLang="en-US" dirty="0"/>
              <a:t>사전에 없는 단어</a:t>
            </a:r>
            <a:r>
              <a:rPr lang="en-US" altLang="ko-KR" dirty="0"/>
              <a:t>)</a:t>
            </a:r>
            <a:r>
              <a:rPr lang="ko-KR" altLang="en-US" dirty="0"/>
              <a:t>문제를 해결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단어의 형태 변화에 강한 모델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단어 대신 글자 단위로 보기 때문에 학습에 시간이 오래 걸림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N-gram </a:t>
            </a:r>
            <a:r>
              <a:rPr lang="ko-KR" altLang="en-US" dirty="0"/>
              <a:t>벡터들을 추가로 이용함으로 메모리에 사용량이 증가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 err="1"/>
              <a:t>FastText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311746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문장 전체를 하나의 벡터로 </a:t>
            </a:r>
            <a:r>
              <a:rPr lang="ko-KR" altLang="en-US" dirty="0" err="1"/>
              <a:t>임베딩</a:t>
            </a:r>
            <a:r>
              <a:rPr lang="ko-KR" altLang="en-US" dirty="0"/>
              <a:t> 하는 알고리즘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Word2Vec</a:t>
            </a:r>
            <a:r>
              <a:rPr lang="ko-KR" altLang="en-US" dirty="0"/>
              <a:t>의 확장판으로 문서에 </a:t>
            </a:r>
            <a:r>
              <a:rPr lang="en-US" altLang="ko-KR" dirty="0"/>
              <a:t>ID</a:t>
            </a:r>
            <a:r>
              <a:rPr lang="ko-KR" altLang="en-US" dirty="0"/>
              <a:t>를 추가하여 학습에 참여 시키는 방법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문장에 </a:t>
            </a:r>
            <a:r>
              <a:rPr lang="en-US" altLang="ko-KR" dirty="0"/>
              <a:t>ID</a:t>
            </a:r>
            <a:r>
              <a:rPr lang="ko-KR" altLang="en-US" dirty="0"/>
              <a:t>를 추가하기 위해 </a:t>
            </a:r>
            <a:r>
              <a:rPr lang="en-US" altLang="ko-KR" dirty="0" err="1"/>
              <a:t>TaggedDocument</a:t>
            </a:r>
            <a:r>
              <a:rPr lang="ko-KR" altLang="en-US" dirty="0"/>
              <a:t>를 사용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정적인 문맥 기반 모델로 단어의 위치나 순서의 미세한 차이를 반영하지 못함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Doc2Vec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613297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PV-DM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문서 벡터 </a:t>
            </a:r>
            <a:r>
              <a:rPr lang="en-US" altLang="ko-KR" dirty="0"/>
              <a:t>+ </a:t>
            </a:r>
            <a:r>
              <a:rPr lang="ko-KR" altLang="en-US" dirty="0"/>
              <a:t>주변 단어들로 중심 단어를 예측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순서와 문맥을 보존하여 일반적으로 사용하는 기본값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PV-DBOW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문서 벡터로 단어를 직접 예측</a:t>
            </a:r>
            <a:r>
              <a:rPr lang="en-US" altLang="ko-KR" dirty="0"/>
              <a:t>(</a:t>
            </a:r>
            <a:r>
              <a:rPr lang="ko-KR" altLang="en-US" dirty="0"/>
              <a:t>단어의 순서는 무시</a:t>
            </a:r>
            <a:r>
              <a:rPr lang="en-US" altLang="ko-K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가볍고 빠르게 확인하기 위해 사용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PV-DM</a:t>
            </a:r>
            <a:r>
              <a:rPr lang="ko-KR" altLang="en-US" dirty="0"/>
              <a:t>과 결합해서 사용하면 성능이 좋게 나오는 경우가 발생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Doc2Vec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4105575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과거의 정보를 기억하고 현재 출력을 반영하는 순환 구조의 신경망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문장을 읽을 때</a:t>
            </a:r>
            <a:r>
              <a:rPr lang="en-US" altLang="ko-KR" dirty="0"/>
              <a:t>, </a:t>
            </a:r>
            <a:r>
              <a:rPr lang="ko-KR" altLang="en-US" dirty="0"/>
              <a:t>이전 단어를 기억하면서 다음 단어를 예측하는 것과 유사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긴 시퀀스를 학습하는 경우 기울기 소실 문제가 발생 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과거의 정보가 뒤로 갈수록 영향이 급격히 사라짐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긴 문맥의 데이터를 학습에는 부적절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RNN(Recurrent Neural Network)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2224950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LSTM</a:t>
            </a:r>
            <a:r>
              <a:rPr lang="ko-KR" altLang="en-US" dirty="0"/>
              <a:t>은 </a:t>
            </a:r>
            <a:r>
              <a:rPr lang="en-US" altLang="ko-KR" dirty="0"/>
              <a:t>RNN</a:t>
            </a:r>
            <a:r>
              <a:rPr lang="ko-KR" altLang="en-US" dirty="0"/>
              <a:t>의 한 종류로 오랜 시간 정보를 보존하고 필요할 때만 잊거나 업데이트를 할 수 있도록 고안한 구조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기억 셀</a:t>
            </a:r>
            <a:r>
              <a:rPr lang="en-US" altLang="ko-KR" dirty="0"/>
              <a:t>(cell state)</a:t>
            </a:r>
            <a:r>
              <a:rPr lang="ko-KR" altLang="en-US" dirty="0"/>
              <a:t>과 게이트</a:t>
            </a:r>
            <a:r>
              <a:rPr lang="en-US" altLang="ko-KR" dirty="0"/>
              <a:t>(gate) </a:t>
            </a:r>
            <a:r>
              <a:rPr lang="ko-KR" altLang="en-US" dirty="0"/>
              <a:t>구조를 도입하여 정보를 선택적으로 유지하거나 삭제 가능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주요 게이트 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Forget Gate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과거의 정보를 얼마나 잊을지 결정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Input Gate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dirty="0"/>
              <a:t> </a:t>
            </a:r>
            <a:r>
              <a:rPr lang="ko-KR" altLang="en-US" dirty="0"/>
              <a:t>새로운</a:t>
            </a:r>
            <a:r>
              <a:rPr lang="en-US" altLang="ko-KR" dirty="0"/>
              <a:t> </a:t>
            </a:r>
            <a:r>
              <a:rPr lang="ko-KR" altLang="en-US" dirty="0"/>
              <a:t>정보를 얼마나 저장할지 결정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Output Gate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다음 단계로 어떤 정보를 출력할지 결정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기울기 소실 문제를 완화하여 긴 시퀀스 학습이 가능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LSTM (Long Short-Term Memory)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40376200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627784" y="12982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27784" y="2971550"/>
            <a:ext cx="385895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500" b="1" dirty="0">
                <a:solidFill>
                  <a:schemeClr val="bg1"/>
                </a:solidFill>
              </a:rPr>
              <a:t>Transformer </a:t>
            </a:r>
            <a:r>
              <a:rPr lang="ko-KR" altLang="en-US" sz="3500" b="1" dirty="0">
                <a:solidFill>
                  <a:schemeClr val="bg1"/>
                </a:solidFill>
              </a:rPr>
              <a:t>기반 </a:t>
            </a:r>
            <a:r>
              <a:rPr lang="ko-KR" altLang="en-US" sz="3500" b="1" dirty="0" err="1">
                <a:solidFill>
                  <a:schemeClr val="bg1"/>
                </a:solidFill>
              </a:rPr>
              <a:t>임베딩</a:t>
            </a:r>
            <a:endParaRPr lang="ko-KR" altLang="en-US" sz="3500" b="1" dirty="0">
              <a:solidFill>
                <a:schemeClr val="bg1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08377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</a:p>
        </p:txBody>
      </p:sp>
    </p:spTree>
    <p:extLst>
      <p:ext uri="{BB962C8B-B14F-4D97-AF65-F5344CB8AC3E}">
        <p14:creationId xmlns:p14="http://schemas.microsoft.com/office/powerpoint/2010/main" val="6212141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RNN</a:t>
            </a:r>
            <a:r>
              <a:rPr lang="ko-KR" altLang="en-US" dirty="0"/>
              <a:t>이나 </a:t>
            </a:r>
            <a:r>
              <a:rPr lang="en-US" altLang="ko-KR" dirty="0"/>
              <a:t>LSTM</a:t>
            </a:r>
            <a:r>
              <a:rPr lang="ko-KR" altLang="en-US" dirty="0"/>
              <a:t>은 문장을 순차적으로 처리 하지만 </a:t>
            </a:r>
            <a:r>
              <a:rPr lang="en-US" altLang="ko-KR" dirty="0"/>
              <a:t>Transformer</a:t>
            </a:r>
            <a:r>
              <a:rPr lang="ko-KR" altLang="en-US" dirty="0"/>
              <a:t>는 문장 전체를 한 번에 병렬로 처리하면서 단어들 사이에 관계를 </a:t>
            </a:r>
            <a:r>
              <a:rPr lang="en-US" altLang="ko-KR" dirty="0"/>
              <a:t>Attention </a:t>
            </a:r>
            <a:r>
              <a:rPr lang="ko-KR" altLang="en-US" dirty="0" err="1"/>
              <a:t>매커니즘으로</a:t>
            </a:r>
            <a:r>
              <a:rPr lang="ko-KR" altLang="en-US" dirty="0"/>
              <a:t> 계산하는 방식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문장의 순서보다는 단어들 사이에 관계를 중요시 여김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Encoder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입력 문장의 의미를 이해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Decoder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이해한 의미를 바탕으로 출력을 생성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Transformer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2934796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Self-Attention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문장 내의 모든 단어가 얼마나 관련이 있는가를 계산</a:t>
            </a:r>
            <a:endParaRPr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입력 단어들을 </a:t>
            </a:r>
            <a:r>
              <a:rPr lang="ko-KR" altLang="en-US" dirty="0" err="1"/>
              <a:t>임베딩</a:t>
            </a:r>
            <a:r>
              <a:rPr lang="ko-KR" altLang="en-US" dirty="0"/>
              <a:t> </a:t>
            </a:r>
            <a:endParaRPr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각 </a:t>
            </a:r>
            <a:r>
              <a:rPr lang="ko-KR" altLang="en-US" dirty="0" err="1"/>
              <a:t>단어별</a:t>
            </a:r>
            <a:r>
              <a:rPr lang="ko-KR" altLang="en-US" dirty="0"/>
              <a:t> </a:t>
            </a:r>
            <a:r>
              <a:rPr lang="en-US" altLang="ko-KR" dirty="0"/>
              <a:t>Query, Key, Value </a:t>
            </a:r>
            <a:r>
              <a:rPr lang="ko-KR" altLang="en-US" dirty="0"/>
              <a:t>벡터로 변환 </a:t>
            </a:r>
            <a:endParaRPr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각 단어의 </a:t>
            </a:r>
            <a:r>
              <a:rPr lang="en-US" altLang="ko-KR" dirty="0"/>
              <a:t>Query</a:t>
            </a:r>
            <a:r>
              <a:rPr lang="ko-KR" altLang="en-US" dirty="0"/>
              <a:t>와 모든 단어의 </a:t>
            </a:r>
            <a:r>
              <a:rPr lang="en-US" altLang="ko-KR" dirty="0"/>
              <a:t>Key</a:t>
            </a:r>
            <a:r>
              <a:rPr lang="ko-KR" altLang="en-US" dirty="0"/>
              <a:t>를 </a:t>
            </a:r>
            <a:r>
              <a:rPr lang="ko-KR" altLang="en-US" dirty="0" err="1"/>
              <a:t>내적하여</a:t>
            </a:r>
            <a:r>
              <a:rPr lang="ko-KR" altLang="en-US" dirty="0"/>
              <a:t> 유사도를 계산</a:t>
            </a:r>
            <a:endParaRPr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정규화 </a:t>
            </a:r>
            <a:r>
              <a:rPr lang="en-US" altLang="ko-KR" dirty="0"/>
              <a:t>-&gt; </a:t>
            </a:r>
            <a:r>
              <a:rPr lang="ko-KR" altLang="en-US" dirty="0"/>
              <a:t>가중치 생성</a:t>
            </a:r>
            <a:endParaRPr lang="en-US" altLang="ko-KR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ko-KR" dirty="0"/>
              <a:t>Value </a:t>
            </a:r>
            <a:r>
              <a:rPr lang="ko-KR" altLang="en-US" dirty="0"/>
              <a:t>벡터에 가중치를 곱해 최종 단어 표현을 생성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Transformer </a:t>
            </a:r>
            <a:r>
              <a:rPr lang="ko-KR" altLang="en-US" sz="2400" dirty="0"/>
              <a:t>구조</a:t>
            </a:r>
            <a:endParaRPr lang="ko-KR" altLang="en-US" sz="23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00FFAA2-E65E-4B95-8557-01964A744DAA}"/>
              </a:ext>
            </a:extLst>
          </p:cNvPr>
          <p:cNvGraphicFramePr>
            <a:graphicFrameLocks noGrp="1"/>
          </p:cNvGraphicFramePr>
          <p:nvPr/>
        </p:nvGraphicFramePr>
        <p:xfrm>
          <a:off x="750404" y="4183473"/>
          <a:ext cx="7571184" cy="1944078"/>
        </p:xfrm>
        <a:graphic>
          <a:graphicData uri="http://schemas.openxmlformats.org/drawingml/2006/table">
            <a:tbl>
              <a:tblPr/>
              <a:tblGrid>
                <a:gridCol w="2523728">
                  <a:extLst>
                    <a:ext uri="{9D8B030D-6E8A-4147-A177-3AD203B41FA5}">
                      <a16:colId xmlns:a16="http://schemas.microsoft.com/office/drawing/2014/main" val="3002977722"/>
                    </a:ext>
                  </a:extLst>
                </a:gridCol>
                <a:gridCol w="2523728">
                  <a:extLst>
                    <a:ext uri="{9D8B030D-6E8A-4147-A177-3AD203B41FA5}">
                      <a16:colId xmlns:a16="http://schemas.microsoft.com/office/drawing/2014/main" val="2024848494"/>
                    </a:ext>
                  </a:extLst>
                </a:gridCol>
                <a:gridCol w="2523728">
                  <a:extLst>
                    <a:ext uri="{9D8B030D-6E8A-4147-A177-3AD203B41FA5}">
                      <a16:colId xmlns:a16="http://schemas.microsoft.com/office/drawing/2014/main" val="517907460"/>
                    </a:ext>
                  </a:extLst>
                </a:gridCol>
              </a:tblGrid>
              <a:tr h="353469">
                <a:tc>
                  <a:txBody>
                    <a:bodyPr/>
                    <a:lstStyle/>
                    <a:p>
                      <a:r>
                        <a:rPr lang="ko-KR" altLang="en-US" sz="1500"/>
                        <a:t>이름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/>
                        <a:t>비유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0124942"/>
                  </a:ext>
                </a:extLst>
              </a:tr>
              <a:tr h="618570">
                <a:tc>
                  <a:txBody>
                    <a:bodyPr/>
                    <a:lstStyle/>
                    <a:p>
                      <a:r>
                        <a:rPr lang="en-US" sz="1500" b="1"/>
                        <a:t>Query (Q)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/>
                        <a:t>“내가 찾고 싶은 정보는 뭐지</a:t>
                      </a:r>
                      <a:r>
                        <a:rPr lang="en-US" altLang="ko-KR" sz="1500"/>
                        <a:t>?”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/>
                        <a:t>질문자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5754885"/>
                  </a:ext>
                </a:extLst>
              </a:tr>
              <a:tr h="618570">
                <a:tc>
                  <a:txBody>
                    <a:bodyPr/>
                    <a:lstStyle/>
                    <a:p>
                      <a:r>
                        <a:rPr lang="en-US" sz="1500" b="1"/>
                        <a:t>Key (K)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/>
                        <a:t>“내가 가진 정보는 이런 거야</a:t>
                      </a:r>
                      <a:r>
                        <a:rPr lang="en-US" altLang="ko-KR" sz="1500"/>
                        <a:t>.”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/>
                        <a:t>도서관 책의 색인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6817288"/>
                  </a:ext>
                </a:extLst>
              </a:tr>
              <a:tr h="353469">
                <a:tc>
                  <a:txBody>
                    <a:bodyPr/>
                    <a:lstStyle/>
                    <a:p>
                      <a:r>
                        <a:rPr lang="en-US" sz="1500" b="1"/>
                        <a:t>Value (V)</a:t>
                      </a:r>
                      <a:endParaRPr lang="en-US" sz="15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/>
                        <a:t>“실제 내용은 이거야</a:t>
                      </a:r>
                      <a:r>
                        <a:rPr lang="en-US" altLang="ko-KR" sz="1500"/>
                        <a:t>.”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500" dirty="0"/>
                        <a:t>책의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161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08346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Feed Forward Network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Attention </a:t>
            </a:r>
            <a:r>
              <a:rPr lang="ko-KR" altLang="en-US" dirty="0"/>
              <a:t>결과를 바탕으로 각 단어의 표현을 비선형 변환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Layer Normalization + Residual Connection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학습의 안정성과 성능 향상을 위해 </a:t>
            </a:r>
            <a:r>
              <a:rPr lang="en-US" altLang="ko-KR" dirty="0"/>
              <a:t>skip connection</a:t>
            </a:r>
            <a:r>
              <a:rPr lang="ko-KR" altLang="en-US" dirty="0"/>
              <a:t>과 정규화를 적용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Transformer </a:t>
            </a:r>
            <a:r>
              <a:rPr lang="ko-KR" altLang="en-US" sz="2400" dirty="0"/>
              <a:t>구조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8765284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Transformer </a:t>
            </a:r>
            <a:r>
              <a:rPr lang="ko-KR" altLang="en-US" sz="2400" dirty="0"/>
              <a:t>모델 종류</a:t>
            </a:r>
            <a:endParaRPr lang="ko-KR" altLang="en-US" sz="23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E144A9-4B71-49FF-B767-0EF2E554EF0F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988661"/>
          <a:ext cx="8229600" cy="3749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23787041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7398731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91642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구조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특징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9518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Transformer (2017)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Encoder + Decoder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번역 등 시퀀스</a:t>
                      </a:r>
                      <a:r>
                        <a:rPr lang="en-US" altLang="ko-KR"/>
                        <a:t>-</a:t>
                      </a:r>
                      <a:r>
                        <a:rPr lang="ko-KR" altLang="en-US"/>
                        <a:t>투</a:t>
                      </a:r>
                      <a:r>
                        <a:rPr lang="en-US" altLang="ko-KR"/>
                        <a:t>-</a:t>
                      </a:r>
                      <a:r>
                        <a:rPr lang="ko-KR" altLang="en-US"/>
                        <a:t>시퀀스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837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BERT (2018)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Encoder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문장 이해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4103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GPT (2018~)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Decoder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텍스트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081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T5 / BART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Encoder + Decoder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요약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번역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질의응답 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362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Vision Transformer (ViT)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Encoder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이미지 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2642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Whisper / SpeechT5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Encoder + Decoder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음성 인식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음성 합성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907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ChatGPT / Gemini / Claude </a:t>
                      </a:r>
                      <a:r>
                        <a:rPr lang="ko-KR" altLang="en-US" b="1"/>
                        <a:t>등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대형 </a:t>
                      </a:r>
                      <a:r>
                        <a:rPr lang="en-US"/>
                        <a:t>Decoder </a:t>
                      </a:r>
                      <a:r>
                        <a:rPr lang="ko-KR" altLang="en-US"/>
                        <a:t>모델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대화형 </a:t>
                      </a:r>
                      <a:r>
                        <a:rPr lang="en-US" dirty="0"/>
                        <a:t>AI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6429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56708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BERT</a:t>
            </a:r>
            <a:r>
              <a:rPr lang="ko-KR" altLang="en-US" dirty="0"/>
              <a:t>는 문맥</a:t>
            </a:r>
            <a:r>
              <a:rPr lang="en-US" altLang="ko-KR" dirty="0"/>
              <a:t>(Context)</a:t>
            </a:r>
            <a:r>
              <a:rPr lang="ko-KR" altLang="en-US" dirty="0"/>
              <a:t>에 따라 단어의 의미가 달라지는 ‘문맥적 </a:t>
            </a:r>
            <a:r>
              <a:rPr lang="ko-KR" altLang="en-US" dirty="0" err="1"/>
              <a:t>임베딩’을</a:t>
            </a:r>
            <a:r>
              <a:rPr lang="ko-KR" altLang="en-US" dirty="0"/>
              <a:t> 생성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Transformer</a:t>
            </a:r>
            <a:r>
              <a:rPr lang="ko-KR" altLang="en-US" dirty="0"/>
              <a:t>의 </a:t>
            </a:r>
            <a:r>
              <a:rPr lang="en-US" altLang="ko-KR" dirty="0"/>
              <a:t>Encoder</a:t>
            </a:r>
            <a:r>
              <a:rPr lang="ko-KR" altLang="en-US" dirty="0"/>
              <a:t>만 사용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문맥을 양방향으로 이해 하기 위해 </a:t>
            </a:r>
            <a:r>
              <a:rPr lang="en-US" altLang="ko-KR" dirty="0"/>
              <a:t>Bidirectional Encoder</a:t>
            </a:r>
            <a:r>
              <a:rPr lang="ko-KR" altLang="en-US" dirty="0"/>
              <a:t>을 사용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BERT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9096850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MLM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문장에서 임의의 단어를 </a:t>
            </a:r>
            <a:r>
              <a:rPr lang="en-US" altLang="ko-KR" dirty="0"/>
              <a:t>[MASK]</a:t>
            </a:r>
            <a:r>
              <a:rPr lang="ko-KR" altLang="en-US" dirty="0"/>
              <a:t>로 가리고 해당 단어를 맞추는 과정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양방향 문맥을 모두 고려하려 단어를 이해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NSP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두 문장이 연속된 문장인지 아닌지를 예측하는 과정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문장 간의 관계 이해 능력을 학습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BERT </a:t>
            </a:r>
            <a:r>
              <a:rPr lang="ko-KR" altLang="en-US" sz="2400" dirty="0"/>
              <a:t>학습 방식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32413627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4067944" y="74100"/>
            <a:ext cx="936104" cy="936104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708380" y="271681"/>
            <a:ext cx="85792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200" b="1" spc="-150" dirty="0">
                <a:solidFill>
                  <a:schemeClr val="bg1"/>
                </a:solidFill>
              </a:rPr>
              <a:t>자연어처리</a:t>
            </a:r>
            <a:endParaRPr lang="en-US" altLang="ko-KR" sz="1200" b="1" spc="-15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95936" y="479095"/>
            <a:ext cx="1080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rPr>
              <a:t>01</a:t>
            </a:r>
            <a:endParaRPr lang="ko-KR" altLang="en-US" sz="2400" dirty="0">
              <a:solidFill>
                <a:schemeClr val="bg1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600" y="1700955"/>
            <a:ext cx="7200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Transformer</a:t>
            </a:r>
            <a:r>
              <a:rPr lang="ko-KR" altLang="en-US" dirty="0"/>
              <a:t>의 </a:t>
            </a:r>
            <a:r>
              <a:rPr lang="en-US" altLang="ko-KR" dirty="0"/>
              <a:t>Encoder</a:t>
            </a:r>
            <a:r>
              <a:rPr lang="ko-KR" altLang="en-US" dirty="0"/>
              <a:t>와 </a:t>
            </a:r>
            <a:r>
              <a:rPr lang="en-US" altLang="ko-KR" dirty="0"/>
              <a:t>Decoder </a:t>
            </a:r>
            <a:r>
              <a:rPr lang="ko-KR" altLang="en-US" dirty="0"/>
              <a:t>구조</a:t>
            </a:r>
            <a:r>
              <a:rPr lang="en-US" altLang="ko-KR" dirty="0"/>
              <a:t>(Seq2Seq)</a:t>
            </a:r>
            <a:r>
              <a:rPr lang="ko-KR" altLang="en-US" dirty="0"/>
              <a:t>를 사용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입력이 되는 문장은 </a:t>
            </a:r>
            <a:r>
              <a:rPr lang="en-US" altLang="ko-KR" dirty="0"/>
              <a:t>BERT</a:t>
            </a:r>
            <a:r>
              <a:rPr lang="ko-KR" altLang="en-US" dirty="0"/>
              <a:t>처럼 양방향 </a:t>
            </a:r>
            <a:r>
              <a:rPr lang="en-US" altLang="ko-KR" dirty="0"/>
              <a:t>self-attention</a:t>
            </a:r>
            <a:r>
              <a:rPr lang="ko-KR" altLang="en-US" dirty="0"/>
              <a:t>을 이용하여 문장을 이해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문장을 생성하는 과정에서는 </a:t>
            </a:r>
            <a:r>
              <a:rPr lang="en-US" altLang="ko-KR" dirty="0"/>
              <a:t>GPT</a:t>
            </a:r>
            <a:r>
              <a:rPr lang="ko-KR" altLang="en-US" dirty="0"/>
              <a:t>처럼 순차적</a:t>
            </a:r>
            <a:r>
              <a:rPr lang="en-US" altLang="ko-KR" dirty="0"/>
              <a:t>(auto-regressive)</a:t>
            </a:r>
            <a:r>
              <a:rPr lang="ko-KR" altLang="en-US" dirty="0"/>
              <a:t> 디코딩을 이용하여 생성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BERT + GPT</a:t>
            </a:r>
            <a:r>
              <a:rPr lang="ko-KR" altLang="en-US" dirty="0"/>
              <a:t>의 통합형 </a:t>
            </a:r>
            <a:r>
              <a:rPr lang="en-US" altLang="ko-KR" dirty="0"/>
              <a:t>Seq2Seq </a:t>
            </a:r>
            <a:r>
              <a:rPr lang="ko-KR" altLang="en-US" dirty="0"/>
              <a:t>모델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활용하는 방법으로는 요약</a:t>
            </a:r>
            <a:r>
              <a:rPr lang="en-US" altLang="ko-KR" dirty="0"/>
              <a:t>, </a:t>
            </a:r>
            <a:r>
              <a:rPr lang="ko-KR" altLang="en-US" dirty="0"/>
              <a:t>번역</a:t>
            </a:r>
            <a:r>
              <a:rPr lang="en-US" altLang="ko-KR" dirty="0"/>
              <a:t>, </a:t>
            </a:r>
            <a:r>
              <a:rPr lang="ko-KR" altLang="en-US" dirty="0"/>
              <a:t>질의응답에서 사용이 가능</a:t>
            </a:r>
            <a:endParaRPr lang="en-US" altLang="ko-KR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106509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BART</a:t>
            </a:r>
            <a:endParaRPr lang="ko-KR" altLang="en-US" sz="2300" dirty="0"/>
          </a:p>
        </p:txBody>
      </p:sp>
    </p:spTree>
    <p:extLst>
      <p:ext uri="{BB962C8B-B14F-4D97-AF65-F5344CB8AC3E}">
        <p14:creationId xmlns:p14="http://schemas.microsoft.com/office/powerpoint/2010/main" val="10587890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1520" y="3068960"/>
            <a:ext cx="8640960" cy="35283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2627784" y="1052736"/>
            <a:ext cx="3858956" cy="3858956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2699792" y="2564904"/>
            <a:ext cx="3816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THANK</a:t>
            </a:r>
          </a:p>
          <a:p>
            <a:pPr algn="ctr"/>
            <a:r>
              <a:rPr lang="en-US" altLang="ko-KR" sz="5400" b="1" dirty="0">
                <a:solidFill>
                  <a:schemeClr val="bg1"/>
                </a:solidFill>
              </a:rPr>
              <a:t>YOU</a:t>
            </a:r>
            <a:endParaRPr lang="ko-KR" altLang="en-US" sz="5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86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18391</TotalTime>
  <Words>1637</Words>
  <Application>Microsoft Office PowerPoint</Application>
  <PresentationFormat>화면 슬라이드 쇼(4:3)</PresentationFormat>
  <Paragraphs>329</Paragraphs>
  <Slides>33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7" baseType="lpstr">
      <vt:lpstr>HY헤드라인M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minhee park</dc:creator>
  <cp:lastModifiedBy>병선 문</cp:lastModifiedBy>
  <cp:revision>174</cp:revision>
  <dcterms:created xsi:type="dcterms:W3CDTF">2016-11-03T20:47:04Z</dcterms:created>
  <dcterms:modified xsi:type="dcterms:W3CDTF">2026-05-27T16:22:18Z</dcterms:modified>
</cp:coreProperties>
</file>