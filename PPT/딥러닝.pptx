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34" r:id="rId2"/>
    <p:sldId id="322" r:id="rId3"/>
    <p:sldId id="287" r:id="rId4"/>
    <p:sldId id="371" r:id="rId5"/>
    <p:sldId id="372" r:id="rId6"/>
    <p:sldId id="373" r:id="rId7"/>
    <p:sldId id="366" r:id="rId8"/>
    <p:sldId id="374" r:id="rId9"/>
    <p:sldId id="375" r:id="rId10"/>
    <p:sldId id="376" r:id="rId11"/>
    <p:sldId id="365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  <p:sldId id="395" r:id="rId31"/>
    <p:sldId id="396" r:id="rId32"/>
    <p:sldId id="397" r:id="rId33"/>
    <p:sldId id="321" r:id="rId3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3810" autoAdjust="0"/>
  </p:normalViewPr>
  <p:slideViewPr>
    <p:cSldViewPr>
      <p:cViewPr varScale="1">
        <p:scale>
          <a:sx n="101" d="100"/>
          <a:sy n="101" d="100"/>
        </p:scale>
        <p:origin x="126" y="12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3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7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659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811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925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145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864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149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703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497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496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510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874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393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084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235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0944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00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9322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512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632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1679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953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3305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9050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9126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7857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5366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1256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6893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8676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8552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39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/>
          <p:cNvSpPr/>
          <p:nvPr userDrawn="1"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35696" y="2708920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chemeClr val="bg1"/>
                </a:solidFill>
              </a:rPr>
              <a:t>딥러닝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3768" y="2276872"/>
            <a:ext cx="4256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딥 러 </a:t>
            </a:r>
            <a:r>
              <a:rPr lang="ko-KR" altLang="en-US" sz="1400" b="1" dirty="0" err="1">
                <a:solidFill>
                  <a:schemeClr val="tx2">
                    <a:lumMod val="50000"/>
                  </a:schemeClr>
                </a:solidFill>
              </a:rPr>
              <a:t>닝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87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딥러닝</a:t>
            </a:r>
          </a:p>
        </p:txBody>
      </p:sp>
    </p:spTree>
    <p:extLst>
      <p:ext uri="{BB962C8B-B14F-4D97-AF65-F5344CB8AC3E}">
        <p14:creationId xmlns:p14="http://schemas.microsoft.com/office/powerpoint/2010/main" val="119277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인공지능 </a:t>
            </a:r>
            <a:r>
              <a:rPr lang="en-US" altLang="ko-KR" dirty="0"/>
              <a:t>(AI)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사람의 지능을 흉내 내는 기계의 모든 기술 </a:t>
            </a:r>
            <a:r>
              <a:rPr lang="en-US" altLang="ko-KR" dirty="0"/>
              <a:t>(</a:t>
            </a:r>
            <a:r>
              <a:rPr lang="ko-KR" altLang="en-US" dirty="0"/>
              <a:t>가장 넓은 의미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en-US" altLang="ko-KR" dirty="0"/>
              <a:t>(ML)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사람이 규칙을 일일이 짜주지 않고</a:t>
            </a:r>
            <a:r>
              <a:rPr lang="en-US" altLang="ko-KR" dirty="0"/>
              <a:t>, </a:t>
            </a:r>
            <a:r>
              <a:rPr lang="ko-KR" altLang="en-US" dirty="0"/>
              <a:t>데이터를 주어 기계가 스스로 규칙을 학습하게 만드는 방법론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딥러닝 </a:t>
            </a:r>
            <a:r>
              <a:rPr lang="en-US" altLang="ko-KR" dirty="0"/>
              <a:t>(DL)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머신러닝</a:t>
            </a:r>
            <a:r>
              <a:rPr lang="ko-KR" altLang="en-US" dirty="0"/>
              <a:t> 중에서도 사람의 뇌</a:t>
            </a:r>
            <a:r>
              <a:rPr lang="en-US" altLang="ko-KR" dirty="0"/>
              <a:t>(</a:t>
            </a:r>
            <a:r>
              <a:rPr lang="ko-KR" altLang="en-US" dirty="0"/>
              <a:t>신경망</a:t>
            </a:r>
            <a:r>
              <a:rPr lang="en-US" altLang="ko-KR" dirty="0"/>
              <a:t>) </a:t>
            </a:r>
            <a:r>
              <a:rPr lang="ko-KR" altLang="en-US" dirty="0"/>
              <a:t>구조를 모방하여 복잡하고 방대한 데이터를 처리하는 최신 기술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en-US" altLang="ko-KR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AI, </a:t>
            </a:r>
            <a:r>
              <a:rPr lang="ko-KR" altLang="en-US" sz="2300" dirty="0" err="1"/>
              <a:t>머신러닝</a:t>
            </a:r>
            <a:r>
              <a:rPr lang="en-US" altLang="ko-KR" sz="2300" dirty="0"/>
              <a:t>, </a:t>
            </a:r>
            <a:r>
              <a:rPr lang="ko-KR" altLang="en-US" sz="2300" dirty="0"/>
              <a:t>딥러닝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우리 뇌의 신경세포</a:t>
            </a:r>
            <a:r>
              <a:rPr lang="en-US" altLang="ko-KR" dirty="0"/>
              <a:t>(</a:t>
            </a:r>
            <a:r>
              <a:rPr lang="ko-KR" altLang="en-US" dirty="0"/>
              <a:t>뉴런</a:t>
            </a:r>
            <a:r>
              <a:rPr lang="en-US" altLang="ko-KR" dirty="0"/>
              <a:t>)</a:t>
            </a:r>
            <a:r>
              <a:rPr lang="ko-KR" altLang="en-US" dirty="0"/>
              <a:t>는 전기 신호를 받아 일정 기준치를 넘으면 다음 뉴런으로 신호를 전달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퍼셉트론은</a:t>
            </a:r>
            <a:r>
              <a:rPr lang="ko-KR" altLang="en-US" dirty="0"/>
              <a:t> 이 생물학적 뉴런을 수학적 공식으로 옮겨 놓은 인공 뉴런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 데이터에 가중치</a:t>
            </a:r>
            <a:r>
              <a:rPr lang="en-US" altLang="ko-KR" dirty="0"/>
              <a:t>(</a:t>
            </a:r>
            <a:r>
              <a:rPr lang="ko-KR" altLang="en-US" dirty="0"/>
              <a:t>중요도</a:t>
            </a:r>
            <a:r>
              <a:rPr lang="en-US" altLang="ko-KR" dirty="0"/>
              <a:t>)</a:t>
            </a:r>
            <a:r>
              <a:rPr lang="ko-KR" altLang="en-US" dirty="0"/>
              <a:t>를 곱하고 편향</a:t>
            </a:r>
            <a:r>
              <a:rPr lang="en-US" altLang="ko-KR" dirty="0"/>
              <a:t>(</a:t>
            </a:r>
            <a:r>
              <a:rPr lang="ko-KR" altLang="en-US" dirty="0"/>
              <a:t>기준치</a:t>
            </a:r>
            <a:r>
              <a:rPr lang="en-US" altLang="ko-KR" dirty="0"/>
              <a:t>)</a:t>
            </a:r>
            <a:r>
              <a:rPr lang="ko-KR" altLang="en-US" dirty="0"/>
              <a:t>을 더한 뒤</a:t>
            </a:r>
            <a:r>
              <a:rPr lang="en-US" altLang="ko-KR" dirty="0"/>
              <a:t>, </a:t>
            </a:r>
            <a:r>
              <a:rPr lang="ko-KR" altLang="en-US" dirty="0"/>
              <a:t>활성화 함수라는 스위치를 켭니다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딥러닝의</a:t>
            </a:r>
            <a:r>
              <a:rPr lang="ko-KR" altLang="en-US" sz="2300" dirty="0"/>
              <a:t> 세포</a:t>
            </a:r>
            <a:r>
              <a:rPr lang="en-US" altLang="ko-KR" sz="2300" dirty="0"/>
              <a:t>: </a:t>
            </a:r>
            <a:r>
              <a:rPr lang="ko-KR" altLang="en-US" sz="2300" dirty="0" err="1"/>
              <a:t>퍼셉트론</a:t>
            </a:r>
            <a:r>
              <a:rPr lang="ko-KR" altLang="en-US" sz="2300" dirty="0"/>
              <a:t> </a:t>
            </a:r>
            <a:r>
              <a:rPr lang="en-US" altLang="ko-KR" sz="2300" dirty="0"/>
              <a:t>(Perceptron)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F3000F-1D18-456C-B4E9-B1671DF96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633" y="4005064"/>
            <a:ext cx="1990725" cy="56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380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데이터의 흐름</a:t>
            </a:r>
            <a:r>
              <a:rPr lang="en-US" altLang="ko-KR" sz="2300" dirty="0"/>
              <a:t>: </a:t>
            </a:r>
            <a:r>
              <a:rPr lang="ko-KR" altLang="en-US" sz="2300" dirty="0" err="1"/>
              <a:t>순전파</a:t>
            </a:r>
            <a:r>
              <a:rPr lang="ko-KR" altLang="en-US" sz="2300" dirty="0"/>
              <a:t> </a:t>
            </a:r>
            <a:r>
              <a:rPr lang="en-US" altLang="ko-KR" sz="2300" dirty="0"/>
              <a:t>(Forward Propagation)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9294AD6-EEF8-4FBF-B8E5-2BD6667455EB}"/>
              </a:ext>
            </a:extLst>
          </p:cNvPr>
          <p:cNvGrpSpPr/>
          <p:nvPr/>
        </p:nvGrpSpPr>
        <p:grpSpPr>
          <a:xfrm>
            <a:off x="468251" y="2175420"/>
            <a:ext cx="8207497" cy="3053780"/>
            <a:chOff x="571500" y="2175420"/>
            <a:chExt cx="11049148" cy="4111079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0CBFBFF-4672-4729-8B82-59EDA915E503}"/>
                </a:ext>
              </a:extLst>
            </p:cNvPr>
            <p:cNvGrpSpPr/>
            <p:nvPr/>
          </p:nvGrpSpPr>
          <p:grpSpPr>
            <a:xfrm>
              <a:off x="571500" y="2175420"/>
              <a:ext cx="3492549" cy="4111079"/>
              <a:chOff x="571500" y="2175420"/>
              <a:chExt cx="3492549" cy="4111079"/>
            </a:xfrm>
          </p:grpSpPr>
          <p:pic>
            <p:nvPicPr>
              <p:cNvPr id="22" name="Google Shape;123;p16" descr="image.png">
                <a:extLst>
                  <a:ext uri="{FF2B5EF4-FFF2-40B4-BE49-F238E27FC236}">
                    <a16:creationId xmlns:a16="http://schemas.microsoft.com/office/drawing/2014/main" id="{E0082B95-432C-4DAB-92E3-3F2EA48B5E16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71500" y="2175420"/>
                <a:ext cx="3492549" cy="41110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127;p16" descr="image.png">
                <a:extLst>
                  <a:ext uri="{FF2B5EF4-FFF2-40B4-BE49-F238E27FC236}">
                    <a16:creationId xmlns:a16="http://schemas.microsoft.com/office/drawing/2014/main" id="{253B699F-AFE7-4FAB-83BB-46583BA5DECC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66775" y="2565945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" name="Google Shape;128;p16">
                <a:extLst>
                  <a:ext uri="{FF2B5EF4-FFF2-40B4-BE49-F238E27FC236}">
                    <a16:creationId xmlns:a16="http://schemas.microsoft.com/office/drawing/2014/main" id="{B5D7D567-3D59-4D79-B764-3897D7D08805}"/>
                  </a:ext>
                </a:extLst>
              </p:cNvPr>
              <p:cNvSpPr txBox="1"/>
              <p:nvPr/>
            </p:nvSpPr>
            <p:spPr>
              <a:xfrm>
                <a:off x="866775" y="3566070"/>
                <a:ext cx="3047099" cy="4039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u="none" strike="noStrike" cap="none" dirty="0">
                    <a:solidFill>
                      <a:srgbClr val="F9FAFB"/>
                    </a:solidFill>
                    <a:latin typeface="Arial"/>
                    <a:ea typeface="Arial"/>
                    <a:cs typeface="Arial"/>
                    <a:sym typeface="Arial"/>
                  </a:rPr>
                  <a:t>1. </a:t>
                </a:r>
                <a:r>
                  <a:rPr lang="en-US" sz="1500" b="1" i="0" u="none" strike="noStrike" cap="none" dirty="0" err="1">
                    <a:solidFill>
                      <a:srgbClr val="F9FAFB"/>
                    </a:solidFill>
                    <a:latin typeface="Arial"/>
                    <a:ea typeface="Arial"/>
                    <a:cs typeface="Arial"/>
                    <a:sym typeface="Arial"/>
                  </a:rPr>
                  <a:t>입력</a:t>
                </a:r>
                <a:r>
                  <a:rPr lang="en-US" sz="1500" b="1" i="0" u="none" strike="noStrike" cap="none" dirty="0">
                    <a:solidFill>
                      <a:srgbClr val="F9FAFB"/>
                    </a:solidFill>
                    <a:latin typeface="Arial"/>
                    <a:ea typeface="Arial"/>
                    <a:cs typeface="Arial"/>
                    <a:sym typeface="Arial"/>
                  </a:rPr>
                  <a:t> (Input)</a:t>
                </a:r>
                <a:endParaRPr sz="1500" dirty="0"/>
              </a:p>
            </p:txBody>
          </p:sp>
          <p:sp>
            <p:nvSpPr>
              <p:cNvPr id="25" name="Google Shape;129;p16">
                <a:extLst>
                  <a:ext uri="{FF2B5EF4-FFF2-40B4-BE49-F238E27FC236}">
                    <a16:creationId xmlns:a16="http://schemas.microsoft.com/office/drawing/2014/main" id="{EA9D739A-B28C-4633-870E-C4A41CF3D46B}"/>
                  </a:ext>
                </a:extLst>
              </p:cNvPr>
              <p:cNvSpPr txBox="1"/>
              <p:nvPr/>
            </p:nvSpPr>
            <p:spPr>
              <a:xfrm>
                <a:off x="866775" y="4080420"/>
                <a:ext cx="2901998" cy="17236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이미지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텍스트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숫자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등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모델이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풀어야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할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문제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(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데이터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)가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신경망의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첫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번째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층으로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들어옵니다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sz="1300" dirty="0"/>
              </a:p>
            </p:txBody>
          </p:sp>
          <p:pic>
            <p:nvPicPr>
              <p:cNvPr id="26" name="Google Shape;136;p16" descr="image.png">
                <a:extLst>
                  <a:ext uri="{FF2B5EF4-FFF2-40B4-BE49-F238E27FC236}">
                    <a16:creationId xmlns:a16="http://schemas.microsoft.com/office/drawing/2014/main" id="{C0C869C7-0D16-496E-9B1A-B72EAEDD4F13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033462" y="2732633"/>
                <a:ext cx="428625" cy="428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9C24DA8-9AB1-497B-A148-FDB55E5294C6}"/>
                </a:ext>
              </a:extLst>
            </p:cNvPr>
            <p:cNvGrpSpPr/>
            <p:nvPr/>
          </p:nvGrpSpPr>
          <p:grpSpPr>
            <a:xfrm>
              <a:off x="4349799" y="2175420"/>
              <a:ext cx="3492549" cy="4111079"/>
              <a:chOff x="4349799" y="2175420"/>
              <a:chExt cx="3492549" cy="4111079"/>
            </a:xfrm>
          </p:grpSpPr>
          <p:pic>
            <p:nvPicPr>
              <p:cNvPr id="17" name="Google Shape;124;p16" descr="image.png">
                <a:extLst>
                  <a:ext uri="{FF2B5EF4-FFF2-40B4-BE49-F238E27FC236}">
                    <a16:creationId xmlns:a16="http://schemas.microsoft.com/office/drawing/2014/main" id="{FFC4154B-8F58-4A02-B241-03F9D0353D93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4349799" y="2175420"/>
                <a:ext cx="3492549" cy="41110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30;p16" descr="image.png">
                <a:extLst>
                  <a:ext uri="{FF2B5EF4-FFF2-40B4-BE49-F238E27FC236}">
                    <a16:creationId xmlns:a16="http://schemas.microsoft.com/office/drawing/2014/main" id="{FC688D05-8B6B-4106-9DF4-A2BF5274B04B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4645074" y="2565945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" name="Google Shape;131;p16">
                <a:extLst>
                  <a:ext uri="{FF2B5EF4-FFF2-40B4-BE49-F238E27FC236}">
                    <a16:creationId xmlns:a16="http://schemas.microsoft.com/office/drawing/2014/main" id="{498381E3-15AF-41AE-81CB-6D63EC98E523}"/>
                  </a:ext>
                </a:extLst>
              </p:cNvPr>
              <p:cNvSpPr txBox="1"/>
              <p:nvPr/>
            </p:nvSpPr>
            <p:spPr>
              <a:xfrm>
                <a:off x="4645074" y="3566070"/>
                <a:ext cx="3047099" cy="4039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u="none" strike="noStrike" cap="none" dirty="0">
                    <a:solidFill>
                      <a:srgbClr val="F9FAFB"/>
                    </a:solidFill>
                    <a:latin typeface="Arial"/>
                    <a:ea typeface="Arial"/>
                    <a:cs typeface="Arial"/>
                    <a:sym typeface="Arial"/>
                  </a:rPr>
                  <a:t>2. </a:t>
                </a:r>
                <a:r>
                  <a:rPr lang="en-US" sz="1500" b="1" i="0" u="none" strike="noStrike" cap="none" dirty="0" err="1">
                    <a:solidFill>
                      <a:srgbClr val="F9FAFB"/>
                    </a:solidFill>
                    <a:latin typeface="Arial"/>
                    <a:ea typeface="Arial"/>
                    <a:cs typeface="Arial"/>
                    <a:sym typeface="Arial"/>
                  </a:rPr>
                  <a:t>연산</a:t>
                </a:r>
                <a:r>
                  <a:rPr lang="en-US" sz="1500" b="1" i="0" u="none" strike="noStrike" cap="none" dirty="0">
                    <a:solidFill>
                      <a:srgbClr val="F9FAFB"/>
                    </a:solidFill>
                    <a:latin typeface="Arial"/>
                    <a:ea typeface="Arial"/>
                    <a:cs typeface="Arial"/>
                    <a:sym typeface="Arial"/>
                  </a:rPr>
                  <a:t> (Compute)</a:t>
                </a:r>
                <a:endParaRPr sz="1500" dirty="0"/>
              </a:p>
            </p:txBody>
          </p:sp>
          <p:sp>
            <p:nvSpPr>
              <p:cNvPr id="20" name="Google Shape;132;p16">
                <a:extLst>
                  <a:ext uri="{FF2B5EF4-FFF2-40B4-BE49-F238E27FC236}">
                    <a16:creationId xmlns:a16="http://schemas.microsoft.com/office/drawing/2014/main" id="{FB092D03-CFB0-4B46-A2DA-0987DA8D5613}"/>
                  </a:ext>
                </a:extLst>
              </p:cNvPr>
              <p:cNvSpPr txBox="1"/>
              <p:nvPr/>
            </p:nvSpPr>
            <p:spPr>
              <a:xfrm>
                <a:off x="4645074" y="4080420"/>
                <a:ext cx="2901998" cy="17236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각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층을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통과하며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입력값에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가중치가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곱해지고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활성화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함수를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통해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데이터의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특징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(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패턴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)이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추출됩니다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sz="1300" dirty="0"/>
              </a:p>
            </p:txBody>
          </p:sp>
          <p:pic>
            <p:nvPicPr>
              <p:cNvPr id="21" name="Google Shape;137;p16" descr="image.png">
                <a:extLst>
                  <a:ext uri="{FF2B5EF4-FFF2-40B4-BE49-F238E27FC236}">
                    <a16:creationId xmlns:a16="http://schemas.microsoft.com/office/drawing/2014/main" id="{BB52502D-6149-40B4-9C7B-3026411CB48E}"/>
                  </a:ext>
                </a:extLst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4759374" y="2732633"/>
                <a:ext cx="533400" cy="428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AEFF7FB-6A36-4516-86C7-38F9FEB18AAA}"/>
                </a:ext>
              </a:extLst>
            </p:cNvPr>
            <p:cNvGrpSpPr/>
            <p:nvPr/>
          </p:nvGrpSpPr>
          <p:grpSpPr>
            <a:xfrm>
              <a:off x="8128099" y="2175420"/>
              <a:ext cx="3492549" cy="4111079"/>
              <a:chOff x="8128099" y="2175420"/>
              <a:chExt cx="3492549" cy="4111079"/>
            </a:xfrm>
          </p:grpSpPr>
          <p:pic>
            <p:nvPicPr>
              <p:cNvPr id="12" name="Google Shape;125;p16" descr="image.png">
                <a:extLst>
                  <a:ext uri="{FF2B5EF4-FFF2-40B4-BE49-F238E27FC236}">
                    <a16:creationId xmlns:a16="http://schemas.microsoft.com/office/drawing/2014/main" id="{AADAA898-0D6A-4D64-B01E-F021634F5F04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8128099" y="2175420"/>
                <a:ext cx="3492549" cy="41110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33;p16" descr="image.png">
                <a:extLst>
                  <a:ext uri="{FF2B5EF4-FFF2-40B4-BE49-F238E27FC236}">
                    <a16:creationId xmlns:a16="http://schemas.microsoft.com/office/drawing/2014/main" id="{E801D3D4-BA52-4C4E-B6B4-42B3C78CCDA6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8423374" y="2565945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Google Shape;134;p16">
                <a:extLst>
                  <a:ext uri="{FF2B5EF4-FFF2-40B4-BE49-F238E27FC236}">
                    <a16:creationId xmlns:a16="http://schemas.microsoft.com/office/drawing/2014/main" id="{24CC8AB9-374B-4A58-B6D6-38B2A83C4016}"/>
                  </a:ext>
                </a:extLst>
              </p:cNvPr>
              <p:cNvSpPr txBox="1"/>
              <p:nvPr/>
            </p:nvSpPr>
            <p:spPr>
              <a:xfrm>
                <a:off x="8423374" y="3566070"/>
                <a:ext cx="3047099" cy="4039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u="none" strike="noStrike" cap="none" dirty="0">
                    <a:solidFill>
                      <a:srgbClr val="F9FAFB"/>
                    </a:solidFill>
                    <a:latin typeface="Arial"/>
                    <a:ea typeface="Arial"/>
                    <a:cs typeface="Arial"/>
                    <a:sym typeface="Arial"/>
                  </a:rPr>
                  <a:t>3. </a:t>
                </a:r>
                <a:r>
                  <a:rPr lang="en-US" sz="1500" b="1" i="0" u="none" strike="noStrike" cap="none" dirty="0" err="1">
                    <a:solidFill>
                      <a:srgbClr val="F9FAFB"/>
                    </a:solidFill>
                    <a:latin typeface="Arial"/>
                    <a:ea typeface="Arial"/>
                    <a:cs typeface="Arial"/>
                    <a:sym typeface="Arial"/>
                  </a:rPr>
                  <a:t>예측</a:t>
                </a:r>
                <a:r>
                  <a:rPr lang="en-US" sz="1500" b="1" i="0" u="none" strike="noStrike" cap="none" dirty="0">
                    <a:solidFill>
                      <a:srgbClr val="F9FAFB"/>
                    </a:solidFill>
                    <a:latin typeface="Arial"/>
                    <a:ea typeface="Arial"/>
                    <a:cs typeface="Arial"/>
                    <a:sym typeface="Arial"/>
                  </a:rPr>
                  <a:t> (Output)</a:t>
                </a:r>
                <a:endParaRPr sz="1500" dirty="0"/>
              </a:p>
            </p:txBody>
          </p:sp>
          <p:sp>
            <p:nvSpPr>
              <p:cNvPr id="15" name="Google Shape;135;p16">
                <a:extLst>
                  <a:ext uri="{FF2B5EF4-FFF2-40B4-BE49-F238E27FC236}">
                    <a16:creationId xmlns:a16="http://schemas.microsoft.com/office/drawing/2014/main" id="{DCBCD4D3-0595-4EFC-BF01-352CAA741E69}"/>
                  </a:ext>
                </a:extLst>
              </p:cNvPr>
              <p:cNvSpPr txBox="1"/>
              <p:nvPr/>
            </p:nvSpPr>
            <p:spPr>
              <a:xfrm>
                <a:off x="8423374" y="4080420"/>
                <a:ext cx="2901998" cy="17236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마지막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층을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통과하여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최종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결과물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(예: "이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사진은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90%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확률로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고양이입니다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")을 </a:t>
                </a:r>
                <a:r>
                  <a:rPr lang="en-US" sz="1300" b="0" i="0" u="none" strike="noStrike" cap="none" dirty="0" err="1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도출합니다</a:t>
                </a:r>
                <a:r>
                  <a:rPr lang="en-US" sz="1300" b="0" i="0" u="none" strike="noStrike" cap="none" dirty="0">
                    <a:solidFill>
                      <a:srgbClr val="D1D5DB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sz="1300" dirty="0"/>
              </a:p>
            </p:txBody>
          </p:sp>
          <p:pic>
            <p:nvPicPr>
              <p:cNvPr id="16" name="Google Shape;138;p16" descr="image.png">
                <a:extLst>
                  <a:ext uri="{FF2B5EF4-FFF2-40B4-BE49-F238E27FC236}">
                    <a16:creationId xmlns:a16="http://schemas.microsoft.com/office/drawing/2014/main" id="{F590C14B-364E-4C25-9F2E-605E8AB51831}"/>
                  </a:ext>
                </a:extLst>
              </p:cNvPr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>
                <a:off x="8618636" y="2732633"/>
                <a:ext cx="371475" cy="428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748344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순전파를 통해 나온 </a:t>
            </a:r>
            <a:r>
              <a:rPr lang="ko-KR" altLang="en-US" dirty="0" err="1"/>
              <a:t>예측값이</a:t>
            </a:r>
            <a:r>
              <a:rPr lang="ko-KR" altLang="en-US" dirty="0"/>
              <a:t> 실제 정답과 얼마나 차이가 나는지</a:t>
            </a:r>
            <a:r>
              <a:rPr lang="en-US" altLang="ko-KR" dirty="0"/>
              <a:t>(</a:t>
            </a:r>
            <a:r>
              <a:rPr lang="ko-KR" altLang="en-US" dirty="0"/>
              <a:t>오차</a:t>
            </a:r>
            <a:r>
              <a:rPr lang="en-US" altLang="ko-KR" dirty="0"/>
              <a:t>)</a:t>
            </a:r>
            <a:r>
              <a:rPr lang="ko-KR" altLang="en-US" dirty="0"/>
              <a:t>를 채점하는 과정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회귀</a:t>
            </a:r>
            <a:r>
              <a:rPr lang="en-US" altLang="ko-KR" dirty="0"/>
              <a:t>(</a:t>
            </a:r>
            <a:r>
              <a:rPr lang="ko-KR" altLang="en-US" dirty="0"/>
              <a:t>숫자 예측</a:t>
            </a:r>
            <a:r>
              <a:rPr lang="en-US" altLang="ko-KR" dirty="0"/>
              <a:t>): MSE (</a:t>
            </a:r>
            <a:r>
              <a:rPr lang="ko-KR" altLang="en-US" dirty="0"/>
              <a:t>평균 제곱 오차</a:t>
            </a:r>
            <a:r>
              <a:rPr lang="en-US" altLang="ko-KR" dirty="0"/>
              <a:t>)</a:t>
            </a:r>
            <a:r>
              <a:rPr lang="ko-KR" altLang="en-US" dirty="0"/>
              <a:t>를 주로 사용합니다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분류</a:t>
            </a:r>
            <a:r>
              <a:rPr lang="en-US" altLang="ko-KR" dirty="0"/>
              <a:t>(</a:t>
            </a:r>
            <a:r>
              <a:rPr lang="ko-KR" altLang="en-US" dirty="0"/>
              <a:t>종류 예측</a:t>
            </a:r>
            <a:r>
              <a:rPr lang="en-US" altLang="ko-KR" dirty="0"/>
              <a:t>): Cross Entropy (</a:t>
            </a:r>
            <a:r>
              <a:rPr lang="ko-KR" altLang="en-US" dirty="0"/>
              <a:t>교차 엔트로피</a:t>
            </a:r>
            <a:r>
              <a:rPr lang="en-US" altLang="ko-KR" dirty="0"/>
              <a:t>)</a:t>
            </a:r>
            <a:r>
              <a:rPr lang="ko-KR" altLang="en-US" dirty="0"/>
              <a:t>를 주로 사용합니다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손실 함수 </a:t>
            </a:r>
            <a:r>
              <a:rPr lang="en-US" altLang="ko-KR" sz="2300" dirty="0"/>
              <a:t>(Loss Function)</a:t>
            </a:r>
          </a:p>
        </p:txBody>
      </p:sp>
    </p:spTree>
    <p:extLst>
      <p:ext uri="{BB962C8B-B14F-4D97-AF65-F5344CB8AC3E}">
        <p14:creationId xmlns:p14="http://schemas.microsoft.com/office/powerpoint/2010/main" val="169324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출력층에서 발생한 </a:t>
            </a:r>
            <a:r>
              <a:rPr lang="en-US" altLang="ko-KR" dirty="0"/>
              <a:t>'</a:t>
            </a:r>
            <a:r>
              <a:rPr lang="ko-KR" altLang="en-US" dirty="0"/>
              <a:t>최종 오차</a:t>
            </a:r>
            <a:r>
              <a:rPr lang="en-US" altLang="ko-KR" dirty="0"/>
              <a:t>'</a:t>
            </a:r>
            <a:r>
              <a:rPr lang="ko-KR" altLang="en-US" dirty="0"/>
              <a:t>에서부터 거꾸로</a:t>
            </a:r>
            <a:r>
              <a:rPr lang="en-US" altLang="ko-KR" dirty="0"/>
              <a:t>(</a:t>
            </a:r>
            <a:r>
              <a:rPr lang="ko-KR" altLang="en-US" dirty="0"/>
              <a:t>역방향으로</a:t>
            </a:r>
            <a:r>
              <a:rPr lang="en-US" altLang="ko-KR" dirty="0"/>
              <a:t>) </a:t>
            </a:r>
            <a:r>
              <a:rPr lang="ko-KR" altLang="en-US" dirty="0"/>
              <a:t>되돌아가며</a:t>
            </a:r>
            <a:r>
              <a:rPr lang="en-US" altLang="ko-KR" dirty="0"/>
              <a:t>, "</a:t>
            </a:r>
            <a:r>
              <a:rPr lang="ko-KR" altLang="en-US" dirty="0"/>
              <a:t>어떤 가중치가 이 오차에 가장 큰 원인을 제공했는가</a:t>
            </a:r>
            <a:r>
              <a:rPr lang="en-US" altLang="ko-KR" dirty="0"/>
              <a:t>?"</a:t>
            </a:r>
            <a:r>
              <a:rPr lang="ko-KR" altLang="en-US" dirty="0"/>
              <a:t>를 추적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찾아낸 기울기를 바탕으로</a:t>
            </a:r>
            <a:r>
              <a:rPr lang="en-US" altLang="ko-KR" dirty="0"/>
              <a:t>, </a:t>
            </a:r>
            <a:r>
              <a:rPr lang="ko-KR" altLang="en-US" dirty="0"/>
              <a:t>오차를 줄이는 방향으로 가중치</a:t>
            </a:r>
            <a:r>
              <a:rPr lang="en-US" altLang="ko-KR" dirty="0"/>
              <a:t>(Weight)</a:t>
            </a:r>
            <a:r>
              <a:rPr lang="ko-KR" altLang="en-US" dirty="0"/>
              <a:t>와 편향</a:t>
            </a:r>
            <a:r>
              <a:rPr lang="en-US" altLang="ko-KR" dirty="0"/>
              <a:t>(Bias)</a:t>
            </a:r>
            <a:r>
              <a:rPr lang="ko-KR" altLang="en-US" dirty="0"/>
              <a:t>의 값을 미세하게 수정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역전파</a:t>
            </a:r>
            <a:r>
              <a:rPr lang="ko-KR" altLang="en-US" sz="2300" dirty="0"/>
              <a:t> </a:t>
            </a:r>
            <a:r>
              <a:rPr lang="en-US" altLang="ko-KR" sz="2300" dirty="0"/>
              <a:t>(Backpropagation)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17772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Batch Size (</a:t>
            </a:r>
            <a:r>
              <a:rPr lang="ko-KR" altLang="en-US" dirty="0"/>
              <a:t>배치 크기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한 번에 몇 </a:t>
            </a:r>
            <a:r>
              <a:rPr lang="ko-KR" altLang="en-US" dirty="0" err="1"/>
              <a:t>문제씩</a:t>
            </a:r>
            <a:r>
              <a:rPr lang="ko-KR" altLang="en-US" dirty="0"/>
              <a:t> 풀고 정답을 맞혀볼</a:t>
            </a:r>
            <a:r>
              <a:rPr lang="en-US" altLang="ko-KR" dirty="0"/>
              <a:t>(</a:t>
            </a:r>
            <a:r>
              <a:rPr lang="ko-KR" altLang="en-US" dirty="0"/>
              <a:t>채점할</a:t>
            </a:r>
            <a:r>
              <a:rPr lang="en-US" altLang="ko-KR" dirty="0"/>
              <a:t>) </a:t>
            </a:r>
            <a:r>
              <a:rPr lang="ko-KR" altLang="en-US" dirty="0"/>
              <a:t>것인가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 (</a:t>
            </a:r>
            <a:r>
              <a:rPr lang="ko-KR" altLang="en-US" dirty="0"/>
              <a:t>예</a:t>
            </a:r>
            <a:r>
              <a:rPr lang="en-US" altLang="ko-KR" dirty="0"/>
              <a:t>: Batch Size=100 </a:t>
            </a:r>
            <a:r>
              <a:rPr lang="ko-KR" altLang="en-US" dirty="0"/>
              <a:t>이면</a:t>
            </a:r>
            <a:r>
              <a:rPr lang="en-US" altLang="ko-KR" dirty="0"/>
              <a:t>, 100</a:t>
            </a:r>
            <a:r>
              <a:rPr lang="ko-KR" altLang="en-US" dirty="0"/>
              <a:t>문제 풀고 오답노트 정리 후 가중치 업데이트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Epoch (</a:t>
            </a:r>
            <a:r>
              <a:rPr lang="ko-KR" altLang="en-US" dirty="0" err="1"/>
              <a:t>에폭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10,000</a:t>
            </a:r>
            <a:r>
              <a:rPr lang="ko-KR" altLang="en-US" dirty="0" err="1"/>
              <a:t>문제짜리</a:t>
            </a:r>
            <a:r>
              <a:rPr lang="ko-KR" altLang="en-US" dirty="0"/>
              <a:t> 문제집 전체를 처음부터 끝까지 몇 번 반복해서 풀 것인가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 (</a:t>
            </a:r>
            <a:r>
              <a:rPr lang="ko-KR" altLang="en-US" dirty="0"/>
              <a:t>예</a:t>
            </a:r>
            <a:r>
              <a:rPr lang="en-US" altLang="ko-KR" dirty="0"/>
              <a:t>: Epoch=3 </a:t>
            </a:r>
            <a:r>
              <a:rPr lang="ko-KR" altLang="en-US" dirty="0"/>
              <a:t>이면</a:t>
            </a:r>
            <a:r>
              <a:rPr lang="en-US" altLang="ko-KR" dirty="0"/>
              <a:t>, "</a:t>
            </a:r>
            <a:r>
              <a:rPr lang="ko-KR" altLang="en-US" dirty="0"/>
              <a:t>나 이 문제집 </a:t>
            </a:r>
            <a:r>
              <a:rPr lang="en-US" altLang="ko-KR" dirty="0"/>
              <a:t>3</a:t>
            </a:r>
            <a:r>
              <a:rPr lang="ko-KR" altLang="en-US" dirty="0"/>
              <a:t>회 </a:t>
            </a:r>
            <a:r>
              <a:rPr lang="ko-KR" altLang="en-US" dirty="0" err="1"/>
              <a:t>했어</a:t>
            </a:r>
            <a:r>
              <a:rPr lang="en-US" altLang="ko-KR" dirty="0"/>
              <a:t>!" </a:t>
            </a:r>
            <a:r>
              <a:rPr lang="ko-KR" altLang="en-US" dirty="0"/>
              <a:t>라는 의미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학습의 단위</a:t>
            </a:r>
            <a:r>
              <a:rPr lang="en-US" altLang="ko-KR" sz="2300" dirty="0"/>
              <a:t>: Epoch &amp; Batch Size</a:t>
            </a:r>
          </a:p>
        </p:txBody>
      </p:sp>
    </p:spTree>
    <p:extLst>
      <p:ext uri="{BB962C8B-B14F-4D97-AF65-F5344CB8AC3E}">
        <p14:creationId xmlns:p14="http://schemas.microsoft.com/office/powerpoint/2010/main" val="3623149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500" b="1" dirty="0" err="1">
                <a:solidFill>
                  <a:schemeClr val="bg1"/>
                </a:solidFill>
              </a:rPr>
              <a:t>PyTorch</a:t>
            </a:r>
            <a:endParaRPr lang="ko-KR" altLang="en-US" sz="3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643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텐서는</a:t>
            </a:r>
            <a:r>
              <a:rPr lang="ko-KR" altLang="en-US" dirty="0"/>
              <a:t> 복잡한 숫자를 체계적으로 담는 다차원 엑셀 표와 같습니다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차원은 익숙한 </a:t>
            </a:r>
            <a:r>
              <a:rPr lang="ko-KR" altLang="en-US" dirty="0" err="1"/>
              <a:t>파이썬의</a:t>
            </a:r>
            <a:r>
              <a:rPr lang="ko-KR" altLang="en-US" dirty="0"/>
              <a:t> 리스트</a:t>
            </a:r>
            <a:r>
              <a:rPr lang="en-US" altLang="ko-KR" dirty="0"/>
              <a:t>, 2</a:t>
            </a:r>
            <a:r>
              <a:rPr lang="ko-KR" altLang="en-US" dirty="0"/>
              <a:t>차원은 표</a:t>
            </a:r>
            <a:r>
              <a:rPr lang="en-US" altLang="ko-KR" dirty="0"/>
              <a:t>(</a:t>
            </a:r>
            <a:r>
              <a:rPr lang="ko-KR" altLang="en-US" dirty="0"/>
              <a:t>행렬</a:t>
            </a:r>
            <a:r>
              <a:rPr lang="en-US" altLang="ko-KR" dirty="0"/>
              <a:t>)</a:t>
            </a:r>
            <a:r>
              <a:rPr lang="ko-KR" altLang="en-US" dirty="0"/>
              <a:t>로 이해하면 매우 쉽습니다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파이토치는</a:t>
            </a:r>
            <a:r>
              <a:rPr lang="ko-KR" altLang="en-US" dirty="0"/>
              <a:t> 이 </a:t>
            </a:r>
            <a:r>
              <a:rPr lang="ko-KR" altLang="en-US" dirty="0" err="1"/>
              <a:t>텐서들을</a:t>
            </a:r>
            <a:r>
              <a:rPr lang="ko-KR" altLang="en-US" dirty="0"/>
              <a:t> 이용해 마치 레고 블록을 조립하듯 직관적으로 딥러닝 모델을 구축합니다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텐서</a:t>
            </a:r>
            <a:r>
              <a:rPr lang="en-US" altLang="ko-KR" sz="2300" dirty="0"/>
              <a:t>(Tensor)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295115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학습 루프 </a:t>
            </a:r>
            <a:r>
              <a:rPr lang="en-US" altLang="ko-KR" sz="2300" dirty="0"/>
              <a:t>5</a:t>
            </a:r>
            <a:r>
              <a:rPr lang="ko-KR" altLang="en-US" sz="2300" dirty="0"/>
              <a:t>단계 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A77156F-E269-4FFF-B651-ECE07195A64F}"/>
              </a:ext>
            </a:extLst>
          </p:cNvPr>
          <p:cNvGrpSpPr/>
          <p:nvPr/>
        </p:nvGrpSpPr>
        <p:grpSpPr>
          <a:xfrm>
            <a:off x="276051" y="1957644"/>
            <a:ext cx="4223941" cy="1910259"/>
            <a:chOff x="476250" y="1374725"/>
            <a:chExt cx="5500687" cy="2487662"/>
          </a:xfrm>
        </p:grpSpPr>
        <p:pic>
          <p:nvPicPr>
            <p:cNvPr id="34" name="Google Shape;103;p15" descr="image.png">
              <a:extLst>
                <a:ext uri="{FF2B5EF4-FFF2-40B4-BE49-F238E27FC236}">
                  <a16:creationId xmlns:a16="http://schemas.microsoft.com/office/drawing/2014/main" id="{0ABE7A50-DD00-42C1-9338-05B114FEF8B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6250" y="1374725"/>
              <a:ext cx="5500687" cy="24876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108;p15">
              <a:extLst>
                <a:ext uri="{FF2B5EF4-FFF2-40B4-BE49-F238E27FC236}">
                  <a16:creationId xmlns:a16="http://schemas.microsoft.com/office/drawing/2014/main" id="{D00C01FB-ADF4-4FD9-918D-9441EEDF0B77}"/>
                </a:ext>
              </a:extLst>
            </p:cNvPr>
            <p:cNvSpPr txBox="1"/>
            <p:nvPr/>
          </p:nvSpPr>
          <p:spPr>
            <a:xfrm>
              <a:off x="809624" y="2634405"/>
              <a:ext cx="4833937" cy="11543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model(x)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로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예측값을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출력하고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, </a:t>
              </a:r>
              <a:r>
                <a:rPr lang="en-US" sz="1200" b="1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criterion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(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손실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함수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)을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통해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모델의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정답과의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오차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(Loss)를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정확히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계산합니다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 sz="1200" dirty="0"/>
            </a:p>
          </p:txBody>
        </p:sp>
        <p:pic>
          <p:nvPicPr>
            <p:cNvPr id="36" name="Google Shape;112;p15" descr="image.png">
              <a:extLst>
                <a:ext uri="{FF2B5EF4-FFF2-40B4-BE49-F238E27FC236}">
                  <a16:creationId xmlns:a16="http://schemas.microsoft.com/office/drawing/2014/main" id="{B7E98044-8251-4BFC-9648-99672A7B9B4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72062" y="1827162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" name="Google Shape;116;p15">
              <a:extLst>
                <a:ext uri="{FF2B5EF4-FFF2-40B4-BE49-F238E27FC236}">
                  <a16:creationId xmlns:a16="http://schemas.microsoft.com/office/drawing/2014/main" id="{4CA4BE6E-1344-403C-AF7D-059CE5D44983}"/>
                </a:ext>
              </a:extLst>
            </p:cNvPr>
            <p:cNvSpPr txBox="1"/>
            <p:nvPr/>
          </p:nvSpPr>
          <p:spPr>
            <a:xfrm>
              <a:off x="809624" y="1602897"/>
              <a:ext cx="1476376" cy="480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Step 1 &amp; 2</a:t>
              </a:r>
              <a:endParaRPr sz="1500" dirty="0"/>
            </a:p>
          </p:txBody>
        </p:sp>
        <p:sp>
          <p:nvSpPr>
            <p:cNvPr id="38" name="Google Shape;117;p15">
              <a:extLst>
                <a:ext uri="{FF2B5EF4-FFF2-40B4-BE49-F238E27FC236}">
                  <a16:creationId xmlns:a16="http://schemas.microsoft.com/office/drawing/2014/main" id="{D8914DA5-DC74-4E1E-92FF-EF4B92BF7DB3}"/>
                </a:ext>
              </a:extLst>
            </p:cNvPr>
            <p:cNvSpPr txBox="1"/>
            <p:nvPr/>
          </p:nvSpPr>
          <p:spPr>
            <a:xfrm>
              <a:off x="809624" y="2165538"/>
              <a:ext cx="1980606" cy="4168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예측</a:t>
              </a:r>
              <a:r>
                <a:rPr lang="en-US" sz="13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및 </a:t>
              </a:r>
              <a:r>
                <a:rPr lang="en-US" sz="13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오차</a:t>
              </a:r>
              <a:r>
                <a:rPr lang="en-US" sz="13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계산</a:t>
              </a:r>
              <a:endParaRPr sz="1300" dirty="0"/>
            </a:p>
          </p:txBody>
        </p:sp>
        <p:pic>
          <p:nvPicPr>
            <p:cNvPr id="39" name="Google Shape;118;p15" descr="image.png">
              <a:extLst>
                <a:ext uri="{FF2B5EF4-FFF2-40B4-BE49-F238E27FC236}">
                  <a16:creationId xmlns:a16="http://schemas.microsoft.com/office/drawing/2014/main" id="{7E2A1B92-6E41-4735-B42E-4FCA5B8C7A3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29225" y="1998612"/>
              <a:ext cx="257175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306C508-DE34-4377-84B3-66294B7BCBA3}"/>
              </a:ext>
            </a:extLst>
          </p:cNvPr>
          <p:cNvGrpSpPr/>
          <p:nvPr/>
        </p:nvGrpSpPr>
        <p:grpSpPr>
          <a:xfrm>
            <a:off x="4644008" y="1949039"/>
            <a:ext cx="4223941" cy="1910259"/>
            <a:chOff x="6215062" y="1374726"/>
            <a:chExt cx="5500686" cy="2487662"/>
          </a:xfrm>
        </p:grpSpPr>
        <p:pic>
          <p:nvPicPr>
            <p:cNvPr id="41" name="Google Shape;104;p15" descr="image.png">
              <a:extLst>
                <a:ext uri="{FF2B5EF4-FFF2-40B4-BE49-F238E27FC236}">
                  <a16:creationId xmlns:a16="http://schemas.microsoft.com/office/drawing/2014/main" id="{B45E80C2-4F3F-4EB0-9315-1D41A40B8EF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215062" y="1374726"/>
              <a:ext cx="5500686" cy="24876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109;p15">
              <a:extLst>
                <a:ext uri="{FF2B5EF4-FFF2-40B4-BE49-F238E27FC236}">
                  <a16:creationId xmlns:a16="http://schemas.microsoft.com/office/drawing/2014/main" id="{52B1EF67-2ED2-4E20-B529-C3C238023014}"/>
                </a:ext>
              </a:extLst>
            </p:cNvPr>
            <p:cNvSpPr txBox="1"/>
            <p:nvPr/>
          </p:nvSpPr>
          <p:spPr>
            <a:xfrm>
              <a:off x="6548436" y="2616570"/>
              <a:ext cx="4833937" cy="11543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optimizer.zero_grad</a:t>
              </a:r>
              <a:r>
                <a:rPr lang="en-US" sz="1200" b="1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()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를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호출하여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이전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루프의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기울기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값이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현재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계산에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누적되지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않도록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매번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백지화합니다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. (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가장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흔한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실수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!)</a:t>
              </a:r>
              <a:endParaRPr sz="1200" dirty="0"/>
            </a:p>
          </p:txBody>
        </p:sp>
        <p:pic>
          <p:nvPicPr>
            <p:cNvPr id="43" name="Google Shape;113;p15" descr="image.png">
              <a:extLst>
                <a:ext uri="{FF2B5EF4-FFF2-40B4-BE49-F238E27FC236}">
                  <a16:creationId xmlns:a16="http://schemas.microsoft.com/office/drawing/2014/main" id="{7810E872-EC76-46BD-AE3F-BCAA0BD9AFDF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810875" y="1827162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119;p15">
              <a:extLst>
                <a:ext uri="{FF2B5EF4-FFF2-40B4-BE49-F238E27FC236}">
                  <a16:creationId xmlns:a16="http://schemas.microsoft.com/office/drawing/2014/main" id="{117834D3-A17A-40B5-B112-B75D15DE54F2}"/>
                </a:ext>
              </a:extLst>
            </p:cNvPr>
            <p:cNvSpPr txBox="1"/>
            <p:nvPr/>
          </p:nvSpPr>
          <p:spPr>
            <a:xfrm>
              <a:off x="6548436" y="1602004"/>
              <a:ext cx="1190625" cy="480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Step 3</a:t>
              </a:r>
              <a:endParaRPr sz="1500" dirty="0"/>
            </a:p>
          </p:txBody>
        </p:sp>
        <p:sp>
          <p:nvSpPr>
            <p:cNvPr id="45" name="Google Shape;120;p15">
              <a:extLst>
                <a:ext uri="{FF2B5EF4-FFF2-40B4-BE49-F238E27FC236}">
                  <a16:creationId xmlns:a16="http://schemas.microsoft.com/office/drawing/2014/main" id="{EE7A8EFD-9777-48C1-91B2-01ED0EAC6E10}"/>
                </a:ext>
              </a:extLst>
            </p:cNvPr>
            <p:cNvSpPr txBox="1"/>
            <p:nvPr/>
          </p:nvSpPr>
          <p:spPr>
            <a:xfrm>
              <a:off x="6548436" y="2176745"/>
              <a:ext cx="2502993" cy="4168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기울기</a:t>
              </a:r>
              <a:r>
                <a:rPr lang="en-US" sz="13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초기화</a:t>
              </a:r>
              <a:endParaRPr sz="1300" dirty="0"/>
            </a:p>
          </p:txBody>
        </p:sp>
        <p:pic>
          <p:nvPicPr>
            <p:cNvPr id="46" name="Google Shape;121;p15" descr="image.png">
              <a:extLst>
                <a:ext uri="{FF2B5EF4-FFF2-40B4-BE49-F238E27FC236}">
                  <a16:creationId xmlns:a16="http://schemas.microsoft.com/office/drawing/2014/main" id="{58CFE69D-FA7B-4645-8639-2F112EB14941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0968037" y="1998612"/>
              <a:ext cx="257175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34B7A76-87CC-40E2-AA47-74BFA923990A}"/>
              </a:ext>
            </a:extLst>
          </p:cNvPr>
          <p:cNvGrpSpPr/>
          <p:nvPr/>
        </p:nvGrpSpPr>
        <p:grpSpPr>
          <a:xfrm>
            <a:off x="276051" y="4026455"/>
            <a:ext cx="4223941" cy="1910259"/>
            <a:chOff x="476250" y="4100512"/>
            <a:chExt cx="5500687" cy="2487662"/>
          </a:xfrm>
        </p:grpSpPr>
        <p:pic>
          <p:nvPicPr>
            <p:cNvPr id="48" name="Google Shape;105;p15" descr="image.png">
              <a:extLst>
                <a:ext uri="{FF2B5EF4-FFF2-40B4-BE49-F238E27FC236}">
                  <a16:creationId xmlns:a16="http://schemas.microsoft.com/office/drawing/2014/main" id="{D4991118-1130-4804-9FBD-3A312FBFE380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76250" y="4100512"/>
              <a:ext cx="5500687" cy="24876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110;p15">
              <a:extLst>
                <a:ext uri="{FF2B5EF4-FFF2-40B4-BE49-F238E27FC236}">
                  <a16:creationId xmlns:a16="http://schemas.microsoft.com/office/drawing/2014/main" id="{11609ACF-C1B6-4002-A033-5383F03BBDC3}"/>
                </a:ext>
              </a:extLst>
            </p:cNvPr>
            <p:cNvSpPr txBox="1"/>
            <p:nvPr/>
          </p:nvSpPr>
          <p:spPr>
            <a:xfrm>
              <a:off x="809624" y="5291710"/>
              <a:ext cx="4833937" cy="11543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loss.backward</a:t>
              </a:r>
              <a:r>
                <a:rPr lang="en-US" sz="1200" b="1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()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단 한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줄로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복잡한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미분값을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자동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계산합니다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.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오차가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줄어드는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가장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가파른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내리막길을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찾는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과정입니다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 sz="1200" dirty="0"/>
            </a:p>
          </p:txBody>
        </p:sp>
        <p:pic>
          <p:nvPicPr>
            <p:cNvPr id="50" name="Google Shape;114;p15" descr="image.png">
              <a:extLst>
                <a:ext uri="{FF2B5EF4-FFF2-40B4-BE49-F238E27FC236}">
                  <a16:creationId xmlns:a16="http://schemas.microsoft.com/office/drawing/2014/main" id="{6355930D-FCA5-47EC-A819-4158710E1E4F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072062" y="45529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122;p15">
              <a:extLst>
                <a:ext uri="{FF2B5EF4-FFF2-40B4-BE49-F238E27FC236}">
                  <a16:creationId xmlns:a16="http://schemas.microsoft.com/office/drawing/2014/main" id="{80A4FBFE-5F0C-4695-BED5-5D27DF687031}"/>
                </a:ext>
              </a:extLst>
            </p:cNvPr>
            <p:cNvSpPr txBox="1"/>
            <p:nvPr/>
          </p:nvSpPr>
          <p:spPr>
            <a:xfrm>
              <a:off x="809624" y="4260202"/>
              <a:ext cx="1571624" cy="480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Step 4</a:t>
              </a:r>
              <a:endParaRPr sz="1500" dirty="0"/>
            </a:p>
          </p:txBody>
        </p:sp>
        <p:sp>
          <p:nvSpPr>
            <p:cNvPr id="52" name="Google Shape;123;p15">
              <a:extLst>
                <a:ext uri="{FF2B5EF4-FFF2-40B4-BE49-F238E27FC236}">
                  <a16:creationId xmlns:a16="http://schemas.microsoft.com/office/drawing/2014/main" id="{CB93BCD6-6B4F-4B17-8EC3-2813E4539880}"/>
                </a:ext>
              </a:extLst>
            </p:cNvPr>
            <p:cNvSpPr txBox="1"/>
            <p:nvPr/>
          </p:nvSpPr>
          <p:spPr>
            <a:xfrm>
              <a:off x="809624" y="4916616"/>
              <a:ext cx="2187171" cy="4168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역전파</a:t>
              </a:r>
              <a:r>
                <a:rPr lang="en-US" sz="13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(Backward)</a:t>
              </a:r>
              <a:endParaRPr sz="1300" dirty="0"/>
            </a:p>
          </p:txBody>
        </p:sp>
        <p:pic>
          <p:nvPicPr>
            <p:cNvPr id="53" name="Google Shape;124;p15" descr="image.png">
              <a:extLst>
                <a:ext uri="{FF2B5EF4-FFF2-40B4-BE49-F238E27FC236}">
                  <a16:creationId xmlns:a16="http://schemas.microsoft.com/office/drawing/2014/main" id="{B0950142-F221-4A94-8B57-9D393638FA0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243512" y="4724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7E981F3-0032-4C6F-9684-10406BACC5D3}"/>
              </a:ext>
            </a:extLst>
          </p:cNvPr>
          <p:cNvGrpSpPr/>
          <p:nvPr/>
        </p:nvGrpSpPr>
        <p:grpSpPr>
          <a:xfrm>
            <a:off x="4572000" y="4023990"/>
            <a:ext cx="4223941" cy="1910259"/>
            <a:chOff x="6215062" y="4100512"/>
            <a:chExt cx="5500687" cy="2487662"/>
          </a:xfrm>
        </p:grpSpPr>
        <p:pic>
          <p:nvPicPr>
            <p:cNvPr id="55" name="Google Shape;106;p15" descr="image.png">
              <a:extLst>
                <a:ext uri="{FF2B5EF4-FFF2-40B4-BE49-F238E27FC236}">
                  <a16:creationId xmlns:a16="http://schemas.microsoft.com/office/drawing/2014/main" id="{BEFA3C1D-5EEB-4518-BA90-BF15F78455BA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215062" y="4100512"/>
              <a:ext cx="5500687" cy="24876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111;p15">
              <a:extLst>
                <a:ext uri="{FF2B5EF4-FFF2-40B4-BE49-F238E27FC236}">
                  <a16:creationId xmlns:a16="http://schemas.microsoft.com/office/drawing/2014/main" id="{5E815BDC-D466-4D25-A5AC-7295C4873F04}"/>
                </a:ext>
              </a:extLst>
            </p:cNvPr>
            <p:cNvSpPr txBox="1"/>
            <p:nvPr/>
          </p:nvSpPr>
          <p:spPr>
            <a:xfrm>
              <a:off x="6548436" y="5294920"/>
              <a:ext cx="4833937" cy="11543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optimizer.step</a:t>
              </a:r>
              <a:r>
                <a:rPr lang="en-US" sz="1200" b="1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()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을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통해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앞서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찾아낸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최적의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방향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(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기울기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)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으로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가중치를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실제로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수정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(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업데이트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)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하며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학습을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진행합니다</a:t>
              </a:r>
              <a:r>
                <a:rPr lang="en-US" sz="12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 sz="1200" dirty="0"/>
            </a:p>
          </p:txBody>
        </p:sp>
        <p:pic>
          <p:nvPicPr>
            <p:cNvPr id="57" name="Google Shape;115;p15" descr="image.png">
              <a:extLst>
                <a:ext uri="{FF2B5EF4-FFF2-40B4-BE49-F238E27FC236}">
                  <a16:creationId xmlns:a16="http://schemas.microsoft.com/office/drawing/2014/main" id="{1ED94366-46DC-4205-BD05-2700C9CB8E87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0810875" y="45529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125;p15">
              <a:extLst>
                <a:ext uri="{FF2B5EF4-FFF2-40B4-BE49-F238E27FC236}">
                  <a16:creationId xmlns:a16="http://schemas.microsoft.com/office/drawing/2014/main" id="{7516DECD-8543-445E-8093-E3A481BF6178}"/>
                </a:ext>
              </a:extLst>
            </p:cNvPr>
            <p:cNvSpPr txBox="1"/>
            <p:nvPr/>
          </p:nvSpPr>
          <p:spPr>
            <a:xfrm>
              <a:off x="6548436" y="4357186"/>
              <a:ext cx="1381125" cy="480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Step 5</a:t>
              </a:r>
              <a:endParaRPr sz="1500" dirty="0"/>
            </a:p>
          </p:txBody>
        </p:sp>
        <p:sp>
          <p:nvSpPr>
            <p:cNvPr id="59" name="Google Shape;126;p15">
              <a:extLst>
                <a:ext uri="{FF2B5EF4-FFF2-40B4-BE49-F238E27FC236}">
                  <a16:creationId xmlns:a16="http://schemas.microsoft.com/office/drawing/2014/main" id="{F99FD8A5-BDF5-49C4-9FA7-7E9BCC2A06C4}"/>
                </a:ext>
              </a:extLst>
            </p:cNvPr>
            <p:cNvSpPr txBox="1"/>
            <p:nvPr/>
          </p:nvSpPr>
          <p:spPr>
            <a:xfrm>
              <a:off x="6548436" y="4919826"/>
              <a:ext cx="1840503" cy="4168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가중치</a:t>
              </a:r>
              <a:r>
                <a:rPr lang="en-US" sz="1300" b="0" i="0" u="none" strike="noStrike" cap="none" dirty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업데이트</a:t>
              </a:r>
              <a:endParaRPr sz="1300" dirty="0"/>
            </a:p>
          </p:txBody>
        </p:sp>
        <p:pic>
          <p:nvPicPr>
            <p:cNvPr id="60" name="Google Shape;127;p15" descr="image.png">
              <a:extLst>
                <a:ext uri="{FF2B5EF4-FFF2-40B4-BE49-F238E27FC236}">
                  <a16:creationId xmlns:a16="http://schemas.microsoft.com/office/drawing/2014/main" id="{73898C58-FAB0-4F6A-AEA1-8DEEEAC61E28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10968037" y="4724400"/>
              <a:ext cx="257175" cy="2286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03520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nn.Module</a:t>
            </a:r>
            <a:r>
              <a:rPr lang="ko-KR" altLang="en-US" dirty="0"/>
              <a:t>은 </a:t>
            </a:r>
            <a:r>
              <a:rPr lang="ko-KR" altLang="en-US" dirty="0" err="1"/>
              <a:t>파이토치에서</a:t>
            </a:r>
            <a:r>
              <a:rPr lang="ko-KR" altLang="en-US" dirty="0"/>
              <a:t> 인공 신경망을 만드는 가장 튼튼한 기본 뼈대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 </a:t>
            </a:r>
            <a:r>
              <a:rPr lang="ko-KR" altLang="en-US" dirty="0"/>
              <a:t>함수</a:t>
            </a:r>
            <a:r>
              <a:rPr lang="en-US" altLang="ko-KR" dirty="0"/>
              <a:t>: </a:t>
            </a:r>
            <a:r>
              <a:rPr lang="ko-KR" altLang="en-US" dirty="0"/>
              <a:t>요리를 시작하기 전 재료를 준비하듯</a:t>
            </a:r>
            <a:r>
              <a:rPr lang="en-US" altLang="ko-KR" dirty="0"/>
              <a:t>, </a:t>
            </a:r>
            <a:r>
              <a:rPr lang="ko-KR" altLang="en-US" dirty="0"/>
              <a:t>사용할 레고 블록</a:t>
            </a:r>
            <a:r>
              <a:rPr lang="en-US" altLang="ko-KR" dirty="0"/>
              <a:t>(Linear </a:t>
            </a:r>
            <a:r>
              <a:rPr lang="ko-KR" altLang="en-US" dirty="0"/>
              <a:t>레이어 등</a:t>
            </a:r>
            <a:r>
              <a:rPr lang="en-US" altLang="ko-KR" dirty="0"/>
              <a:t>)</a:t>
            </a:r>
            <a:r>
              <a:rPr lang="ko-KR" altLang="en-US" dirty="0"/>
              <a:t>을 미리 선언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forward </a:t>
            </a:r>
            <a:r>
              <a:rPr lang="ko-KR" altLang="en-US" dirty="0"/>
              <a:t>함수</a:t>
            </a:r>
            <a:r>
              <a:rPr lang="en-US" altLang="ko-KR" dirty="0"/>
              <a:t>: </a:t>
            </a:r>
            <a:r>
              <a:rPr lang="ko-KR" altLang="en-US" dirty="0"/>
              <a:t>준비된 블록들을 어떤 순서로 끼워 맞춰 데이터를 통과시킬지 조립 레시피를 정의합니다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신경망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nn.Module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449207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인공 신경망은 사람 뇌의 신경세포</a:t>
            </a:r>
            <a:r>
              <a:rPr lang="en-US" altLang="ko-KR" dirty="0"/>
              <a:t>(</a:t>
            </a:r>
            <a:r>
              <a:rPr lang="ko-KR" altLang="en-US" dirty="0"/>
              <a:t>뉴런</a:t>
            </a:r>
            <a:r>
              <a:rPr lang="en-US" altLang="ko-KR" dirty="0"/>
              <a:t>)</a:t>
            </a:r>
            <a:r>
              <a:rPr lang="ko-KR" altLang="en-US" dirty="0"/>
              <a:t>가 복잡하게 연결되어 학습하는 방식을 완벽하게 흉내 낸 수학적 모델입니다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수많은 형태의 입력 데이터에 가중치</a:t>
            </a:r>
            <a:r>
              <a:rPr lang="en-US" altLang="ko-KR" dirty="0"/>
              <a:t>(</a:t>
            </a:r>
            <a:r>
              <a:rPr lang="ko-KR" altLang="en-US" dirty="0"/>
              <a:t>중요도</a:t>
            </a:r>
            <a:r>
              <a:rPr lang="en-US" altLang="ko-KR" dirty="0"/>
              <a:t>)</a:t>
            </a:r>
            <a:r>
              <a:rPr lang="ko-KR" altLang="en-US" dirty="0"/>
              <a:t>를 곱하고 편향</a:t>
            </a:r>
            <a:r>
              <a:rPr lang="en-US" altLang="ko-KR" dirty="0"/>
              <a:t>(</a:t>
            </a:r>
            <a:r>
              <a:rPr lang="ko-KR" altLang="en-US" dirty="0"/>
              <a:t>기준치</a:t>
            </a:r>
            <a:r>
              <a:rPr lang="en-US" altLang="ko-KR" dirty="0"/>
              <a:t>)</a:t>
            </a:r>
            <a:r>
              <a:rPr lang="ko-KR" altLang="en-US" dirty="0"/>
              <a:t>을 더한 후</a:t>
            </a:r>
            <a:r>
              <a:rPr lang="en-US" altLang="ko-KR" dirty="0"/>
              <a:t>, </a:t>
            </a:r>
            <a:r>
              <a:rPr lang="ko-KR" altLang="en-US" dirty="0"/>
              <a:t>다음 단계로 넘어갈지 판단하는 과정을 거칩니다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인공 신경망</a:t>
            </a:r>
            <a:r>
              <a:rPr lang="en-US" altLang="ko-KR" sz="2300" dirty="0"/>
              <a:t>(ANN)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978531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94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가중치</a:t>
            </a:r>
            <a:r>
              <a:rPr lang="en-US" altLang="ko-KR" dirty="0"/>
              <a:t>(Weight) &amp; </a:t>
            </a:r>
            <a:r>
              <a:rPr lang="ko-KR" altLang="en-US" dirty="0"/>
              <a:t>편향</a:t>
            </a:r>
            <a:r>
              <a:rPr lang="en-US" altLang="ko-KR" dirty="0"/>
              <a:t>(Bias)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가중치는 들어오는 각 정보의 상대적인 </a:t>
            </a:r>
            <a:r>
              <a:rPr lang="en-US" altLang="ko-KR" dirty="0"/>
              <a:t>'</a:t>
            </a:r>
            <a:r>
              <a:rPr lang="ko-KR" altLang="en-US" dirty="0"/>
              <a:t>중요도</a:t>
            </a:r>
            <a:r>
              <a:rPr lang="en-US" altLang="ko-KR" dirty="0"/>
              <a:t>'</a:t>
            </a:r>
            <a:r>
              <a:rPr lang="ko-KR" altLang="en-US" dirty="0"/>
              <a:t>를 결정하며</a:t>
            </a:r>
            <a:r>
              <a:rPr lang="en-US" altLang="ko-KR" dirty="0"/>
              <a:t>, </a:t>
            </a:r>
            <a:r>
              <a:rPr lang="ko-KR" altLang="en-US" dirty="0"/>
              <a:t>편향은 신경망이 활성화되기 위한 </a:t>
            </a:r>
            <a:r>
              <a:rPr lang="en-US" altLang="ko-KR" dirty="0"/>
              <a:t>'</a:t>
            </a:r>
            <a:r>
              <a:rPr lang="ko-KR" altLang="en-US" dirty="0"/>
              <a:t>기준선</a:t>
            </a:r>
            <a:r>
              <a:rPr lang="en-US" altLang="ko-KR" dirty="0"/>
              <a:t>' </a:t>
            </a:r>
            <a:r>
              <a:rPr lang="ko-KR" altLang="en-US" dirty="0"/>
              <a:t>역할을 수행합니다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딥러닝 모델이 데이터를 보고 </a:t>
            </a:r>
            <a:r>
              <a:rPr lang="en-US" altLang="ko-KR" dirty="0"/>
              <a:t>"</a:t>
            </a:r>
            <a:r>
              <a:rPr lang="ko-KR" altLang="en-US" dirty="0"/>
              <a:t>학습한다</a:t>
            </a:r>
            <a:r>
              <a:rPr lang="en-US" altLang="ko-KR" dirty="0"/>
              <a:t>"</a:t>
            </a:r>
            <a:r>
              <a:rPr lang="ko-KR" altLang="en-US" dirty="0"/>
              <a:t>는 것은</a:t>
            </a:r>
            <a:r>
              <a:rPr lang="en-US" altLang="ko-KR" dirty="0"/>
              <a:t>, </a:t>
            </a:r>
            <a:r>
              <a:rPr lang="ko-KR" altLang="en-US" dirty="0"/>
              <a:t>결국 오차를 줄이기 위해 이 두 개의 숫자 파라미터를 끊임없이 수정해 나가는 과정을 의미합니다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ANN </a:t>
            </a:r>
            <a:r>
              <a:rPr lang="ko-KR" altLang="en-US" sz="2300" dirty="0"/>
              <a:t>핵심 구성 요소</a:t>
            </a:r>
          </a:p>
        </p:txBody>
      </p:sp>
    </p:spTree>
    <p:extLst>
      <p:ext uri="{BB962C8B-B14F-4D97-AF65-F5344CB8AC3E}">
        <p14:creationId xmlns:p14="http://schemas.microsoft.com/office/powerpoint/2010/main" val="1508453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3362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자동 미분 </a:t>
            </a:r>
            <a:r>
              <a:rPr lang="en-US" altLang="ko-KR" dirty="0"/>
              <a:t>(</a:t>
            </a:r>
            <a:r>
              <a:rPr lang="en-US" altLang="ko-KR" dirty="0" err="1"/>
              <a:t>Autograd</a:t>
            </a:r>
            <a:r>
              <a:rPr lang="en-US" altLang="ko-KR" dirty="0"/>
              <a:t>): </a:t>
            </a:r>
            <a:r>
              <a:rPr lang="ko-KR" altLang="en-US" dirty="0"/>
              <a:t>내비게이션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어느 방향으로 가야 오차가 줄어드는지 방향</a:t>
            </a:r>
            <a:r>
              <a:rPr lang="en-US" altLang="ko-KR" dirty="0"/>
              <a:t>(</a:t>
            </a:r>
            <a:r>
              <a:rPr lang="ko-KR" altLang="en-US" dirty="0"/>
              <a:t>기울기</a:t>
            </a:r>
            <a:r>
              <a:rPr lang="en-US" altLang="ko-KR" dirty="0"/>
              <a:t>)</a:t>
            </a:r>
            <a:r>
              <a:rPr lang="ko-KR" altLang="en-US" dirty="0"/>
              <a:t>만 알려줍니다</a:t>
            </a:r>
            <a:r>
              <a:rPr lang="en-US" altLang="ko-KR" dirty="0"/>
              <a:t>. </a:t>
            </a:r>
            <a:r>
              <a:rPr lang="ko-KR" altLang="en-US" dirty="0"/>
              <a:t>실제 이동은 하지 않습니다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최적화 </a:t>
            </a:r>
            <a:r>
              <a:rPr lang="en-US" altLang="ko-KR" dirty="0"/>
              <a:t>(Optimizer): </a:t>
            </a:r>
            <a:r>
              <a:rPr lang="ko-KR" altLang="en-US" dirty="0"/>
              <a:t>운전자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내비게이션이 알려준 방향으로 보폭을 얼마나 크게 할지</a:t>
            </a:r>
            <a:r>
              <a:rPr lang="en-US" altLang="ko-KR" dirty="0"/>
              <a:t>, </a:t>
            </a:r>
            <a:r>
              <a:rPr lang="ko-KR" altLang="en-US" dirty="0"/>
              <a:t>관성을 어떻게 줄지 결정하며 실제로 모델을 이동시키는</a:t>
            </a:r>
            <a:r>
              <a:rPr lang="en-US" altLang="ko-KR" dirty="0"/>
              <a:t>(</a:t>
            </a:r>
            <a:r>
              <a:rPr lang="ko-KR" altLang="en-US" dirty="0"/>
              <a:t>학습시키는</a:t>
            </a:r>
            <a:r>
              <a:rPr lang="en-US" altLang="ko-KR" dirty="0"/>
              <a:t>) </a:t>
            </a:r>
            <a:r>
              <a:rPr lang="ko-KR" altLang="en-US" dirty="0"/>
              <a:t>역할을 합니다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자동 미분 </a:t>
            </a:r>
            <a:r>
              <a:rPr lang="en-US" altLang="ko-KR" sz="2300" dirty="0"/>
              <a:t>vs </a:t>
            </a:r>
            <a:r>
              <a:rPr lang="ko-KR" altLang="en-US" sz="2300" dirty="0"/>
              <a:t>최적화</a:t>
            </a:r>
            <a:r>
              <a:rPr lang="en-US" altLang="ko-KR" sz="2300" dirty="0"/>
              <a:t>(Optimizer)</a:t>
            </a:r>
          </a:p>
        </p:txBody>
      </p:sp>
    </p:spTree>
    <p:extLst>
      <p:ext uri="{BB962C8B-B14F-4D97-AF65-F5344CB8AC3E}">
        <p14:creationId xmlns:p14="http://schemas.microsoft.com/office/powerpoint/2010/main" val="1193846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최적화 알고리즘의 진화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DCA32A2-B354-4304-AD5D-5D0BA38C7E6C}"/>
              </a:ext>
            </a:extLst>
          </p:cNvPr>
          <p:cNvGrpSpPr/>
          <p:nvPr/>
        </p:nvGrpSpPr>
        <p:grpSpPr>
          <a:xfrm>
            <a:off x="462461" y="1916832"/>
            <a:ext cx="8219078" cy="3488854"/>
            <a:chOff x="571500" y="1596330"/>
            <a:chExt cx="11049148" cy="4690169"/>
          </a:xfrm>
        </p:grpSpPr>
        <p:pic>
          <p:nvPicPr>
            <p:cNvPr id="8" name="Google Shape;186;p21" descr="image.png">
              <a:extLst>
                <a:ext uri="{FF2B5EF4-FFF2-40B4-BE49-F238E27FC236}">
                  <a16:creationId xmlns:a16="http://schemas.microsoft.com/office/drawing/2014/main" id="{B29D95CC-3619-4E8A-B65F-E31F3FF4F1C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1596330"/>
              <a:ext cx="3492549" cy="46901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87;p21" descr="image.png">
              <a:extLst>
                <a:ext uri="{FF2B5EF4-FFF2-40B4-BE49-F238E27FC236}">
                  <a16:creationId xmlns:a16="http://schemas.microsoft.com/office/drawing/2014/main" id="{766161AB-97E1-425C-90E7-6EB4C928A0E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349799" y="1596330"/>
              <a:ext cx="3492549" cy="46901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88;p21" descr="image.png">
              <a:extLst>
                <a:ext uri="{FF2B5EF4-FFF2-40B4-BE49-F238E27FC236}">
                  <a16:creationId xmlns:a16="http://schemas.microsoft.com/office/drawing/2014/main" id="{07BB3150-8CC5-4063-9158-C535DAF96C6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28099" y="1596330"/>
              <a:ext cx="3492549" cy="46901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89;p21" descr="image.png">
              <a:extLst>
                <a:ext uri="{FF2B5EF4-FFF2-40B4-BE49-F238E27FC236}">
                  <a16:creationId xmlns:a16="http://schemas.microsoft.com/office/drawing/2014/main" id="{62A0D0A3-246F-47BA-B5A6-E481C1FDAFAE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6775" y="1986855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90;p21">
              <a:extLst>
                <a:ext uri="{FF2B5EF4-FFF2-40B4-BE49-F238E27FC236}">
                  <a16:creationId xmlns:a16="http://schemas.microsoft.com/office/drawing/2014/main" id="{0FD3B47C-2849-46E1-9B95-2D737112E900}"/>
                </a:ext>
              </a:extLst>
            </p:cNvPr>
            <p:cNvSpPr txBox="1"/>
            <p:nvPr/>
          </p:nvSpPr>
          <p:spPr>
            <a:xfrm>
              <a:off x="866775" y="2986980"/>
              <a:ext cx="30471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 dirty="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SGD</a:t>
              </a:r>
              <a:endParaRPr dirty="0"/>
            </a:p>
          </p:txBody>
        </p:sp>
        <p:sp>
          <p:nvSpPr>
            <p:cNvPr id="14" name="Google Shape;191;p21">
              <a:extLst>
                <a:ext uri="{FF2B5EF4-FFF2-40B4-BE49-F238E27FC236}">
                  <a16:creationId xmlns:a16="http://schemas.microsoft.com/office/drawing/2014/main" id="{1EA6847E-F216-44D1-B3B2-05DE8B0288A0}"/>
                </a:ext>
              </a:extLst>
            </p:cNvPr>
            <p:cNvSpPr txBox="1"/>
            <p:nvPr/>
          </p:nvSpPr>
          <p:spPr>
            <a:xfrm>
              <a:off x="866775" y="3476476"/>
              <a:ext cx="29019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확률적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경사하강법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dirty="0"/>
            </a:p>
          </p:txBody>
        </p:sp>
        <p:sp>
          <p:nvSpPr>
            <p:cNvPr id="15" name="Google Shape;192;p21">
              <a:extLst>
                <a:ext uri="{FF2B5EF4-FFF2-40B4-BE49-F238E27FC236}">
                  <a16:creationId xmlns:a16="http://schemas.microsoft.com/office/drawing/2014/main" id="{6048612C-BB02-43FA-94C3-F893FB98DA21}"/>
                </a:ext>
              </a:extLst>
            </p:cNvPr>
            <p:cNvSpPr txBox="1"/>
            <p:nvPr/>
          </p:nvSpPr>
          <p:spPr>
            <a:xfrm>
              <a:off x="866775" y="4073222"/>
              <a:ext cx="2901900" cy="1588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눈을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가리고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지팡이로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앞을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짚어가며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1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한 </a:t>
              </a:r>
              <a:r>
                <a:rPr lang="en-US" sz="1200" b="1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걸음씩</a:t>
              </a:r>
              <a:r>
                <a:rPr lang="en-US" sz="1200" b="1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1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조심스럽게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내려갑니다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속도가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느리고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웅덩이에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빠지기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쉽습니다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200" dirty="0"/>
            </a:p>
          </p:txBody>
        </p:sp>
        <p:pic>
          <p:nvPicPr>
            <p:cNvPr id="16" name="Google Shape;193;p21" descr="image.png">
              <a:extLst>
                <a:ext uri="{FF2B5EF4-FFF2-40B4-BE49-F238E27FC236}">
                  <a16:creationId xmlns:a16="http://schemas.microsoft.com/office/drawing/2014/main" id="{769F8CCD-E5B9-4959-96AF-8B99DFD0872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45074" y="1986855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94;p21">
              <a:extLst>
                <a:ext uri="{FF2B5EF4-FFF2-40B4-BE49-F238E27FC236}">
                  <a16:creationId xmlns:a16="http://schemas.microsoft.com/office/drawing/2014/main" id="{31FB9BC7-CEC9-4E8D-95B7-B449DB00D475}"/>
                </a:ext>
              </a:extLst>
            </p:cNvPr>
            <p:cNvSpPr txBox="1"/>
            <p:nvPr/>
          </p:nvSpPr>
          <p:spPr>
            <a:xfrm>
              <a:off x="4645074" y="2986980"/>
              <a:ext cx="30471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Momentum</a:t>
              </a:r>
              <a:endParaRPr/>
            </a:p>
          </p:txBody>
        </p:sp>
        <p:sp>
          <p:nvSpPr>
            <p:cNvPr id="18" name="Google Shape;195;p21">
              <a:extLst>
                <a:ext uri="{FF2B5EF4-FFF2-40B4-BE49-F238E27FC236}">
                  <a16:creationId xmlns:a16="http://schemas.microsoft.com/office/drawing/2014/main" id="{AC62F4A6-B85D-4B5C-945E-847DAF9050DB}"/>
                </a:ext>
              </a:extLst>
            </p:cNvPr>
            <p:cNvSpPr txBox="1"/>
            <p:nvPr/>
          </p:nvSpPr>
          <p:spPr>
            <a:xfrm>
              <a:off x="4645074" y="3476476"/>
              <a:ext cx="29019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(관성 추가)</a:t>
              </a:r>
              <a:endParaRPr/>
            </a:p>
          </p:txBody>
        </p:sp>
        <p:sp>
          <p:nvSpPr>
            <p:cNvPr id="19" name="Google Shape;196;p21">
              <a:extLst>
                <a:ext uri="{FF2B5EF4-FFF2-40B4-BE49-F238E27FC236}">
                  <a16:creationId xmlns:a16="http://schemas.microsoft.com/office/drawing/2014/main" id="{A60B95E7-58BF-4F74-9ADA-F17AEC21D086}"/>
                </a:ext>
              </a:extLst>
            </p:cNvPr>
            <p:cNvSpPr txBox="1"/>
            <p:nvPr/>
          </p:nvSpPr>
          <p:spPr>
            <a:xfrm>
              <a:off x="4645073" y="4092231"/>
              <a:ext cx="2901900" cy="1588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내리막길에서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굴러가는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1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눈덩이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와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같습니다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이전에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이동하던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가속도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관성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)를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기억하여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작은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웅덩이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정도는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밀고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넘어갑니다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200" dirty="0"/>
            </a:p>
          </p:txBody>
        </p:sp>
        <p:pic>
          <p:nvPicPr>
            <p:cNvPr id="20" name="Google Shape;197;p21" descr="image.png">
              <a:extLst>
                <a:ext uri="{FF2B5EF4-FFF2-40B4-BE49-F238E27FC236}">
                  <a16:creationId xmlns:a16="http://schemas.microsoft.com/office/drawing/2014/main" id="{F4DB5C98-F4A8-4F61-B360-CE92576F7803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423374" y="1986855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98;p21">
              <a:extLst>
                <a:ext uri="{FF2B5EF4-FFF2-40B4-BE49-F238E27FC236}">
                  <a16:creationId xmlns:a16="http://schemas.microsoft.com/office/drawing/2014/main" id="{7651BD36-DDBE-4E4E-88A4-61CA79BBC461}"/>
                </a:ext>
              </a:extLst>
            </p:cNvPr>
            <p:cNvSpPr txBox="1"/>
            <p:nvPr/>
          </p:nvSpPr>
          <p:spPr>
            <a:xfrm>
              <a:off x="8423374" y="2986980"/>
              <a:ext cx="30471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Adam</a:t>
              </a:r>
              <a:endParaRPr/>
            </a:p>
          </p:txBody>
        </p:sp>
        <p:sp>
          <p:nvSpPr>
            <p:cNvPr id="22" name="Google Shape;199;p21">
              <a:extLst>
                <a:ext uri="{FF2B5EF4-FFF2-40B4-BE49-F238E27FC236}">
                  <a16:creationId xmlns:a16="http://schemas.microsoft.com/office/drawing/2014/main" id="{BADE1B24-298F-464C-B7CD-29F004650334}"/>
                </a:ext>
              </a:extLst>
            </p:cNvPr>
            <p:cNvSpPr txBox="1"/>
            <p:nvPr/>
          </p:nvSpPr>
          <p:spPr>
            <a:xfrm>
              <a:off x="8423374" y="3476476"/>
              <a:ext cx="29019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(딥러닝계의 국룰)</a:t>
              </a:r>
              <a:endParaRPr/>
            </a:p>
          </p:txBody>
        </p:sp>
        <p:sp>
          <p:nvSpPr>
            <p:cNvPr id="23" name="Google Shape;200;p21">
              <a:extLst>
                <a:ext uri="{FF2B5EF4-FFF2-40B4-BE49-F238E27FC236}">
                  <a16:creationId xmlns:a16="http://schemas.microsoft.com/office/drawing/2014/main" id="{76A1F6C3-3B06-4356-B765-969402CA5D3C}"/>
                </a:ext>
              </a:extLst>
            </p:cNvPr>
            <p:cNvSpPr txBox="1"/>
            <p:nvPr/>
          </p:nvSpPr>
          <p:spPr>
            <a:xfrm>
              <a:off x="8423374" y="4072941"/>
              <a:ext cx="2901900" cy="1588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Momentum(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방향성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)과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보폭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조절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능력을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합친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1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자율주행</a:t>
              </a:r>
              <a:r>
                <a:rPr lang="en-US" sz="1200" b="1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1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자동차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입니다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실무에서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가장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기본으로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사용하는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만능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알고리즘입니다</a:t>
              </a:r>
              <a:r>
                <a:rPr lang="en-US" sz="1200" b="0" i="0" u="none" strike="noStrike" cap="none" dirty="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200" dirty="0"/>
            </a:p>
          </p:txBody>
        </p:sp>
        <p:pic>
          <p:nvPicPr>
            <p:cNvPr id="24" name="Google Shape;201;p21" descr="image.png">
              <a:extLst>
                <a:ext uri="{FF2B5EF4-FFF2-40B4-BE49-F238E27FC236}">
                  <a16:creationId xmlns:a16="http://schemas.microsoft.com/office/drawing/2014/main" id="{FF9FBFB7-914B-4565-A639-BA7C9299CDBE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62025" y="2139255"/>
              <a:ext cx="5715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02;p21" descr="image.png">
              <a:extLst>
                <a:ext uri="{FF2B5EF4-FFF2-40B4-BE49-F238E27FC236}">
                  <a16:creationId xmlns:a16="http://schemas.microsoft.com/office/drawing/2014/main" id="{FFE3EDF1-B41A-47D1-86FC-64A4540B34CB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26049" y="2139255"/>
              <a:ext cx="40005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03;p21" descr="image.png">
              <a:extLst>
                <a:ext uri="{FF2B5EF4-FFF2-40B4-BE49-F238E27FC236}">
                  <a16:creationId xmlns:a16="http://schemas.microsoft.com/office/drawing/2014/main" id="{74605120-6B70-463A-9A9F-D54BB2B3E1F5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518624" y="2139255"/>
              <a:ext cx="571500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27854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5024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보폭의 크기</a:t>
            </a:r>
            <a:r>
              <a:rPr lang="en-US" altLang="ko-KR" dirty="0"/>
              <a:t>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모델이 오차를 줄이는 방향으로 한 번 이동할 때 </a:t>
            </a:r>
            <a:r>
              <a:rPr lang="en-US" altLang="ko-KR" dirty="0"/>
              <a:t>'</a:t>
            </a:r>
            <a:r>
              <a:rPr lang="ko-KR" altLang="en-US" dirty="0"/>
              <a:t>얼마나 크게 걸음을 내디딜 것인가</a:t>
            </a:r>
            <a:r>
              <a:rPr lang="en-US" altLang="ko-KR" dirty="0"/>
              <a:t>'</a:t>
            </a:r>
            <a:r>
              <a:rPr lang="ko-KR" altLang="en-US" dirty="0"/>
              <a:t>를 결정합니다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lr</a:t>
            </a:r>
            <a:r>
              <a:rPr lang="en-US" altLang="ko-KR" dirty="0"/>
              <a:t> = 10 (</a:t>
            </a:r>
            <a:r>
              <a:rPr lang="ko-KR" altLang="en-US" dirty="0"/>
              <a:t>너무 큼</a:t>
            </a:r>
            <a:r>
              <a:rPr lang="en-US" altLang="ko-KR" dirty="0"/>
              <a:t>): </a:t>
            </a:r>
            <a:r>
              <a:rPr lang="ko-KR" altLang="en-US" dirty="0"/>
              <a:t>거인의 걸음입니다</a:t>
            </a:r>
            <a:r>
              <a:rPr lang="en-US" altLang="ko-KR" dirty="0"/>
              <a:t>. </a:t>
            </a:r>
            <a:r>
              <a:rPr lang="ko-KR" altLang="en-US" dirty="0"/>
              <a:t>계곡을 건너뛰어 반대편 산 위로 날아갑니다</a:t>
            </a:r>
            <a:r>
              <a:rPr lang="en-US" altLang="ko-KR" dirty="0"/>
              <a:t>. (</a:t>
            </a:r>
            <a:r>
              <a:rPr lang="ko-KR" altLang="en-US" dirty="0"/>
              <a:t>발산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lr</a:t>
            </a:r>
            <a:r>
              <a:rPr lang="en-US" altLang="ko-KR" dirty="0"/>
              <a:t> = 0.00001 (</a:t>
            </a:r>
            <a:r>
              <a:rPr lang="ko-KR" altLang="en-US" dirty="0"/>
              <a:t>너무 작음</a:t>
            </a:r>
            <a:r>
              <a:rPr lang="en-US" altLang="ko-KR" dirty="0"/>
              <a:t>): </a:t>
            </a:r>
            <a:r>
              <a:rPr lang="ko-KR" altLang="en-US" dirty="0"/>
              <a:t>개미의 걸음입니다</a:t>
            </a:r>
            <a:r>
              <a:rPr lang="en-US" altLang="ko-KR" dirty="0"/>
              <a:t>. </a:t>
            </a:r>
            <a:r>
              <a:rPr lang="ko-KR" altLang="en-US" dirty="0"/>
              <a:t>바닥에 도착하려면 평생이 걸립니다</a:t>
            </a:r>
            <a:r>
              <a:rPr lang="en-US" altLang="ko-KR" dirty="0"/>
              <a:t>. (</a:t>
            </a:r>
            <a:r>
              <a:rPr lang="ko-KR" altLang="en-US" dirty="0"/>
              <a:t>학습 지연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lr</a:t>
            </a:r>
            <a:r>
              <a:rPr lang="en-US" altLang="ko-KR" dirty="0"/>
              <a:t> = 0.01 (</a:t>
            </a:r>
            <a:r>
              <a:rPr lang="ko-KR" altLang="en-US" dirty="0"/>
              <a:t>적절함</a:t>
            </a:r>
            <a:r>
              <a:rPr lang="en-US" altLang="ko-KR" dirty="0"/>
              <a:t>): </a:t>
            </a:r>
            <a:r>
              <a:rPr lang="ko-KR" altLang="en-US" dirty="0"/>
              <a:t>사람의 걸음으로 안정적으로 산을 내려갑니다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핵심 파라미터 </a:t>
            </a:r>
            <a:r>
              <a:rPr lang="en-US" altLang="ko-KR" sz="2300" dirty="0"/>
              <a:t>1: </a:t>
            </a:r>
            <a:r>
              <a:rPr lang="ko-KR" altLang="en-US" sz="2300" dirty="0" err="1"/>
              <a:t>학습률</a:t>
            </a:r>
            <a:r>
              <a:rPr lang="ko-KR" altLang="en-US" sz="2300" dirty="0"/>
              <a:t> </a:t>
            </a:r>
            <a:r>
              <a:rPr lang="en-US" altLang="ko-KR" sz="2300" dirty="0"/>
              <a:t>(</a:t>
            </a:r>
            <a:r>
              <a:rPr lang="en-US" altLang="ko-KR" sz="2300" dirty="0" err="1"/>
              <a:t>lr</a:t>
            </a:r>
            <a:r>
              <a:rPr lang="en-US" altLang="ko-KR" sz="2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82363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과거의 관성 유지 비율</a:t>
            </a:r>
            <a:r>
              <a:rPr lang="en-US" altLang="ko-KR" dirty="0"/>
              <a:t>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방지턱</a:t>
            </a:r>
            <a:r>
              <a:rPr lang="en-US" altLang="ko-KR" dirty="0"/>
              <a:t>(Local Minima)</a:t>
            </a:r>
            <a:r>
              <a:rPr lang="ko-KR" altLang="en-US" dirty="0"/>
              <a:t>을 만났을 때</a:t>
            </a:r>
            <a:r>
              <a:rPr lang="en-US" altLang="ko-KR" dirty="0"/>
              <a:t>, </a:t>
            </a:r>
            <a:r>
              <a:rPr lang="ko-KR" altLang="en-US" dirty="0"/>
              <a:t>브레이크를 밟지 않고 기존에 달려오던 힘</a:t>
            </a:r>
            <a:r>
              <a:rPr lang="en-US" altLang="ko-KR" dirty="0"/>
              <a:t>(</a:t>
            </a:r>
            <a:r>
              <a:rPr lang="ko-KR" altLang="en-US" dirty="0"/>
              <a:t>관성</a:t>
            </a:r>
            <a:r>
              <a:rPr lang="en-US" altLang="ko-KR" dirty="0"/>
              <a:t>)</a:t>
            </a:r>
            <a:r>
              <a:rPr lang="ko-KR" altLang="en-US" dirty="0"/>
              <a:t>을 이용해 가뿐히 타고 넘어가는 원리입니다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momentum = 0.9 </a:t>
            </a:r>
            <a:r>
              <a:rPr lang="ko-KR" altLang="en-US" dirty="0"/>
              <a:t>의 의미</a:t>
            </a:r>
            <a:endParaRPr lang="en-US" altLang="ko-KR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방금 전까지 달려오던 속도와 방향을 </a:t>
            </a:r>
            <a:r>
              <a:rPr lang="en-US" altLang="ko-KR" dirty="0"/>
              <a:t>90% </a:t>
            </a:r>
            <a:r>
              <a:rPr lang="ko-KR" altLang="en-US" dirty="0"/>
              <a:t>유지하고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ko-KR" altLang="en-US" dirty="0" err="1"/>
              <a:t>발밑의</a:t>
            </a:r>
            <a:r>
              <a:rPr lang="ko-KR" altLang="en-US" dirty="0"/>
              <a:t> 새로운 경사는 </a:t>
            </a:r>
            <a:r>
              <a:rPr lang="en-US" altLang="ko-KR" dirty="0"/>
              <a:t>10%</a:t>
            </a:r>
            <a:r>
              <a:rPr lang="ko-KR" altLang="en-US" dirty="0"/>
              <a:t>만 반영하겠다</a:t>
            </a:r>
            <a:r>
              <a:rPr lang="en-US" altLang="ko-KR" dirty="0"/>
              <a:t>"</a:t>
            </a:r>
            <a:r>
              <a:rPr lang="ko-KR" altLang="en-US" dirty="0"/>
              <a:t>는 뜻으로 실무에서 널리 쓰이는 표준 수치입니다</a:t>
            </a:r>
            <a:r>
              <a:rPr lang="en-US" altLang="ko-KR" dirty="0"/>
              <a:t>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핵심 파라미터 </a:t>
            </a:r>
            <a:r>
              <a:rPr lang="en-US" altLang="ko-KR" sz="2300" dirty="0"/>
              <a:t>2: </a:t>
            </a:r>
            <a:r>
              <a:rPr lang="ko-KR" altLang="en-US" sz="2300" dirty="0"/>
              <a:t>모멘텀 </a:t>
            </a:r>
            <a:r>
              <a:rPr lang="en-US" altLang="ko-KR" sz="2300" dirty="0"/>
              <a:t>(momentum)</a:t>
            </a:r>
          </a:p>
        </p:txBody>
      </p:sp>
    </p:spTree>
    <p:extLst>
      <p:ext uri="{BB962C8B-B14F-4D97-AF65-F5344CB8AC3E}">
        <p14:creationId xmlns:p14="http://schemas.microsoft.com/office/powerpoint/2010/main" val="3301157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500" b="1" dirty="0">
                <a:solidFill>
                  <a:schemeClr val="bg1"/>
                </a:solidFill>
              </a:rPr>
              <a:t>RNN</a:t>
            </a:r>
          </a:p>
        </p:txBody>
      </p:sp>
    </p:spTree>
    <p:extLst>
      <p:ext uri="{BB962C8B-B14F-4D97-AF65-F5344CB8AC3E}">
        <p14:creationId xmlns:p14="http://schemas.microsoft.com/office/powerpoint/2010/main" val="1840763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시계열 데이터</a:t>
            </a:r>
            <a:r>
              <a:rPr lang="en-US" altLang="ko-KR" dirty="0"/>
              <a:t>(Time-Series Data)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주식 가격</a:t>
            </a:r>
            <a:r>
              <a:rPr lang="en-US" altLang="ko-KR" dirty="0"/>
              <a:t>, </a:t>
            </a:r>
            <a:r>
              <a:rPr lang="ko-KR" altLang="en-US" dirty="0"/>
              <a:t>날씨</a:t>
            </a:r>
            <a:r>
              <a:rPr lang="en-US" altLang="ko-KR" dirty="0"/>
              <a:t>, </a:t>
            </a:r>
            <a:r>
              <a:rPr lang="ko-KR" altLang="en-US" dirty="0" err="1"/>
              <a:t>센서값처럼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/>
              <a:t>시간의 흐름</a:t>
            </a:r>
            <a:r>
              <a:rPr lang="en-US" altLang="ko-KR" dirty="0"/>
              <a:t>'</a:t>
            </a:r>
            <a:r>
              <a:rPr lang="ko-KR" altLang="en-US" dirty="0"/>
              <a:t>에 따라 순서대로 기록된 데이터를 의미합니다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주식 차트 비유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오늘 하루의 가격표만 보고 내일의 주가를 맞출 수는 없습니다</a:t>
            </a:r>
            <a:r>
              <a:rPr lang="en-US" altLang="ko-KR" dirty="0"/>
              <a:t>. </a:t>
            </a:r>
            <a:r>
              <a:rPr lang="ko-KR" altLang="en-US" dirty="0"/>
              <a:t>한 달 전부터 어제까지 이어져 온 </a:t>
            </a:r>
            <a:r>
              <a:rPr lang="en-US" altLang="ko-KR" dirty="0"/>
              <a:t>'</a:t>
            </a:r>
            <a:r>
              <a:rPr lang="ko-KR" altLang="en-US" dirty="0"/>
              <a:t>상승</a:t>
            </a:r>
            <a:r>
              <a:rPr lang="en-US" altLang="ko-KR" dirty="0"/>
              <a:t>/</a:t>
            </a:r>
            <a:r>
              <a:rPr lang="ko-KR" altLang="en-US" dirty="0"/>
              <a:t>하락 추세</a:t>
            </a:r>
            <a:r>
              <a:rPr lang="en-US" altLang="ko-KR" dirty="0"/>
              <a:t>'</a:t>
            </a:r>
            <a:r>
              <a:rPr lang="ko-KR" altLang="en-US" dirty="0"/>
              <a:t>를 기억해야 흐름을 이해할 수 있습니다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RNN(</a:t>
            </a:r>
            <a:r>
              <a:rPr lang="ko-KR" altLang="en-US" dirty="0"/>
              <a:t>순환 신경망</a:t>
            </a:r>
            <a:r>
              <a:rPr lang="en-US" altLang="ko-KR" dirty="0"/>
              <a:t>)</a:t>
            </a:r>
            <a:r>
              <a:rPr lang="ko-KR" altLang="en-US" dirty="0"/>
              <a:t>의 역할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과거의 패턴 정보를 내부에 </a:t>
            </a:r>
            <a:r>
              <a:rPr lang="en-US" altLang="ko-KR" dirty="0"/>
              <a:t>'</a:t>
            </a:r>
            <a:r>
              <a:rPr lang="ko-KR" altLang="en-US" dirty="0"/>
              <a:t>기억</a:t>
            </a:r>
            <a:r>
              <a:rPr lang="en-US" altLang="ko-KR" dirty="0"/>
              <a:t>(Memory)'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이를 다음 시점의 분석으로 계속 전달해 주는 시계열 특화 딥러닝 모델입니다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RNN</a:t>
            </a:r>
            <a:r>
              <a:rPr lang="ko-KR" altLang="en-US" sz="2300" dirty="0"/>
              <a:t>이란</a:t>
            </a:r>
            <a:r>
              <a:rPr lang="en-US" altLang="ko-KR" sz="23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87465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RNN</a:t>
            </a:r>
            <a:r>
              <a:rPr lang="ko-KR" altLang="en-US" sz="2300" dirty="0"/>
              <a:t>의 산업별 시계열 활용 사례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E63FF17-BD5A-48B3-9BDC-E93F8FA0462D}"/>
              </a:ext>
            </a:extLst>
          </p:cNvPr>
          <p:cNvGrpSpPr/>
          <p:nvPr/>
        </p:nvGrpSpPr>
        <p:grpSpPr>
          <a:xfrm>
            <a:off x="571500" y="2297236"/>
            <a:ext cx="8183092" cy="2715940"/>
            <a:chOff x="571500" y="2081212"/>
            <a:chExt cx="11049000" cy="3667125"/>
          </a:xfrm>
        </p:grpSpPr>
        <p:pic>
          <p:nvPicPr>
            <p:cNvPr id="10" name="Google Shape;106;p15" descr="image.png">
              <a:extLst>
                <a:ext uri="{FF2B5EF4-FFF2-40B4-BE49-F238E27FC236}">
                  <a16:creationId xmlns:a16="http://schemas.microsoft.com/office/drawing/2014/main" id="{5BD4BC96-ECE3-4793-9F76-8B67E41F0E7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2081212"/>
              <a:ext cx="3429000" cy="3667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07;p15" descr="image.png">
              <a:extLst>
                <a:ext uri="{FF2B5EF4-FFF2-40B4-BE49-F238E27FC236}">
                  <a16:creationId xmlns:a16="http://schemas.microsoft.com/office/drawing/2014/main" id="{4632EC5F-E51C-4D42-A252-A60AD2E3593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381500" y="2081212"/>
              <a:ext cx="3429000" cy="3667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08;p15" descr="image.png">
              <a:extLst>
                <a:ext uri="{FF2B5EF4-FFF2-40B4-BE49-F238E27FC236}">
                  <a16:creationId xmlns:a16="http://schemas.microsoft.com/office/drawing/2014/main" id="{BC1D4DAC-0E03-4018-8466-7EB2D5468FD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91500" y="2081212"/>
              <a:ext cx="3429000" cy="3667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09;p15">
              <a:extLst>
                <a:ext uri="{FF2B5EF4-FFF2-40B4-BE49-F238E27FC236}">
                  <a16:creationId xmlns:a16="http://schemas.microsoft.com/office/drawing/2014/main" id="{4EEA7EC0-6D2E-426A-AECD-EFD9C1038473}"/>
                </a:ext>
              </a:extLst>
            </p:cNvPr>
            <p:cNvSpPr txBox="1"/>
            <p:nvPr/>
          </p:nvSpPr>
          <p:spPr>
            <a:xfrm>
              <a:off x="1165860" y="3376612"/>
              <a:ext cx="2240279" cy="332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 err="1">
                  <a:solidFill>
                    <a:srgbClr val="E6F1FF"/>
                  </a:solidFill>
                  <a:latin typeface="+mj-lt"/>
                  <a:ea typeface="Poppins"/>
                  <a:cs typeface="Poppins"/>
                  <a:sym typeface="Poppins"/>
                </a:rPr>
                <a:t>주식</a:t>
              </a:r>
              <a:r>
                <a:rPr lang="en-US" sz="1600" b="1" i="0" u="none" strike="noStrike" cap="none" dirty="0">
                  <a:solidFill>
                    <a:srgbClr val="E6F1FF"/>
                  </a:solidFill>
                  <a:latin typeface="+mj-lt"/>
                  <a:ea typeface="Poppins"/>
                  <a:cs typeface="Poppins"/>
                  <a:sym typeface="Poppins"/>
                </a:rPr>
                <a:t> 및 </a:t>
              </a:r>
              <a:r>
                <a:rPr lang="en-US" sz="1600" b="1" i="0" u="none" strike="noStrike" cap="none" dirty="0" err="1">
                  <a:solidFill>
                    <a:srgbClr val="E6F1FF"/>
                  </a:solidFill>
                  <a:latin typeface="+mj-lt"/>
                  <a:ea typeface="Poppins"/>
                  <a:cs typeface="Poppins"/>
                  <a:sym typeface="Poppins"/>
                </a:rPr>
                <a:t>금융</a:t>
              </a:r>
              <a:r>
                <a:rPr lang="en-US" sz="1600" b="1" i="0" u="none" strike="noStrike" cap="none" dirty="0">
                  <a:solidFill>
                    <a:srgbClr val="E6F1FF"/>
                  </a:solidFill>
                  <a:latin typeface="+mj-lt"/>
                  <a:ea typeface="Poppins"/>
                  <a:cs typeface="Poppins"/>
                  <a:sym typeface="Poppins"/>
                </a:rPr>
                <a:t> </a:t>
              </a:r>
              <a:r>
                <a:rPr lang="en-US" sz="1600" b="1" i="0" u="none" strike="noStrike" cap="none" dirty="0" err="1">
                  <a:solidFill>
                    <a:srgbClr val="E6F1FF"/>
                  </a:solidFill>
                  <a:latin typeface="+mj-lt"/>
                  <a:ea typeface="Poppins"/>
                  <a:cs typeface="Poppins"/>
                  <a:sym typeface="Poppins"/>
                </a:rPr>
                <a:t>예측</a:t>
              </a:r>
              <a:endParaRPr sz="1600" dirty="0">
                <a:latin typeface="+mj-lt"/>
              </a:endParaRPr>
            </a:p>
          </p:txBody>
        </p:sp>
        <p:sp>
          <p:nvSpPr>
            <p:cNvPr id="14" name="Google Shape;110;p15">
              <a:extLst>
                <a:ext uri="{FF2B5EF4-FFF2-40B4-BE49-F238E27FC236}">
                  <a16:creationId xmlns:a16="http://schemas.microsoft.com/office/drawing/2014/main" id="{4632155C-24AD-4602-AF2A-11AFE1E78549}"/>
                </a:ext>
              </a:extLst>
            </p:cNvPr>
            <p:cNvSpPr txBox="1"/>
            <p:nvPr/>
          </p:nvSpPr>
          <p:spPr>
            <a:xfrm>
              <a:off x="866775" y="3995738"/>
              <a:ext cx="2838450" cy="1595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과거의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주가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흐름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,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거래량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등의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시계열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패턴을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학습하여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내일의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자산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가격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변동성이나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시장의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방향을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예측합니다</a:t>
              </a:r>
              <a:r>
                <a:rPr lang="en-US" sz="1200" b="0" i="0" u="none" strike="noStrike" cap="none" dirty="0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.</a:t>
              </a:r>
              <a:endParaRPr sz="1200" dirty="0">
                <a:latin typeface="+mj-lt"/>
              </a:endParaRPr>
            </a:p>
          </p:txBody>
        </p:sp>
        <p:sp>
          <p:nvSpPr>
            <p:cNvPr id="15" name="Google Shape;111;p15">
              <a:extLst>
                <a:ext uri="{FF2B5EF4-FFF2-40B4-BE49-F238E27FC236}">
                  <a16:creationId xmlns:a16="http://schemas.microsoft.com/office/drawing/2014/main" id="{2F773344-99D7-4B8D-8F90-DE7333EBC7F3}"/>
                </a:ext>
              </a:extLst>
            </p:cNvPr>
            <p:cNvSpPr txBox="1"/>
            <p:nvPr/>
          </p:nvSpPr>
          <p:spPr>
            <a:xfrm>
              <a:off x="5015865" y="3376612"/>
              <a:ext cx="2160271" cy="332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E6F1FF"/>
                  </a:solidFill>
                  <a:latin typeface="+mj-lt"/>
                  <a:ea typeface="Poppins"/>
                  <a:cs typeface="Poppins"/>
                  <a:sym typeface="Poppins"/>
                </a:rPr>
                <a:t>센서 및 IoT 분석</a:t>
              </a:r>
              <a:endParaRPr sz="1600">
                <a:latin typeface="+mj-lt"/>
              </a:endParaRPr>
            </a:p>
          </p:txBody>
        </p:sp>
        <p:sp>
          <p:nvSpPr>
            <p:cNvPr id="16" name="Google Shape;112;p15">
              <a:extLst>
                <a:ext uri="{FF2B5EF4-FFF2-40B4-BE49-F238E27FC236}">
                  <a16:creationId xmlns:a16="http://schemas.microsoft.com/office/drawing/2014/main" id="{BB007F54-38A6-4229-9452-02D05ABF0CA7}"/>
                </a:ext>
              </a:extLst>
            </p:cNvPr>
            <p:cNvSpPr txBox="1"/>
            <p:nvPr/>
          </p:nvSpPr>
          <p:spPr>
            <a:xfrm>
              <a:off x="4676775" y="3995738"/>
              <a:ext cx="2838450" cy="1595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스마트 팩토리의 기계 설비에서 1초 단위로 뿜어져 나오는 진동/온도 데이터를 실시간 분석해 고장을 사전 감지합니다.</a:t>
              </a:r>
              <a:endParaRPr sz="1200">
                <a:latin typeface="+mj-lt"/>
              </a:endParaRPr>
            </a:p>
          </p:txBody>
        </p:sp>
        <p:sp>
          <p:nvSpPr>
            <p:cNvPr id="17" name="Google Shape;113;p15">
              <a:extLst>
                <a:ext uri="{FF2B5EF4-FFF2-40B4-BE49-F238E27FC236}">
                  <a16:creationId xmlns:a16="http://schemas.microsoft.com/office/drawing/2014/main" id="{8899C80A-A09A-489E-A9E8-C4224CA7A21E}"/>
                </a:ext>
              </a:extLst>
            </p:cNvPr>
            <p:cNvSpPr txBox="1"/>
            <p:nvPr/>
          </p:nvSpPr>
          <p:spPr>
            <a:xfrm>
              <a:off x="8785860" y="3376612"/>
              <a:ext cx="2240279" cy="332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E6F1FF"/>
                  </a:solidFill>
                  <a:latin typeface="+mj-lt"/>
                  <a:ea typeface="Poppins"/>
                  <a:cs typeface="Poppins"/>
                  <a:sym typeface="Poppins"/>
                </a:rPr>
                <a:t>수요 및 재고 예측</a:t>
              </a:r>
              <a:endParaRPr sz="1600">
                <a:latin typeface="+mj-lt"/>
              </a:endParaRPr>
            </a:p>
          </p:txBody>
        </p:sp>
        <p:sp>
          <p:nvSpPr>
            <p:cNvPr id="18" name="Google Shape;114;p15">
              <a:extLst>
                <a:ext uri="{FF2B5EF4-FFF2-40B4-BE49-F238E27FC236}">
                  <a16:creationId xmlns:a16="http://schemas.microsoft.com/office/drawing/2014/main" id="{977E1FED-9298-4433-95CF-5B1BF1A99692}"/>
                </a:ext>
              </a:extLst>
            </p:cNvPr>
            <p:cNvSpPr txBox="1"/>
            <p:nvPr/>
          </p:nvSpPr>
          <p:spPr>
            <a:xfrm>
              <a:off x="8486775" y="3995738"/>
              <a:ext cx="2838450" cy="1595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CCD6F6"/>
                  </a:solidFill>
                  <a:latin typeface="+mj-lt"/>
                  <a:ea typeface="Noto Sans KR"/>
                  <a:cs typeface="Noto Sans KR"/>
                  <a:sym typeface="Noto Sans KR"/>
                </a:rPr>
                <a:t>쇼핑몰의 과거 판매량 추이, 요일별/계절별 시계열 특성을 파악하여 다음 달에 필요한 재고량을 계산합니다.</a:t>
              </a:r>
              <a:endParaRPr sz="1200">
                <a:latin typeface="+mj-lt"/>
              </a:endParaRPr>
            </a:p>
          </p:txBody>
        </p:sp>
        <p:pic>
          <p:nvPicPr>
            <p:cNvPr id="19" name="Google Shape;115;p15" descr="image.png">
              <a:extLst>
                <a:ext uri="{FF2B5EF4-FFF2-40B4-BE49-F238E27FC236}">
                  <a16:creationId xmlns:a16="http://schemas.microsoft.com/office/drawing/2014/main" id="{B336ADE4-023B-4150-9163-3DFC4D22D07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057400" y="2605087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16;p15" descr="image.png">
              <a:extLst>
                <a:ext uri="{FF2B5EF4-FFF2-40B4-BE49-F238E27FC236}">
                  <a16:creationId xmlns:a16="http://schemas.microsoft.com/office/drawing/2014/main" id="{C1228E3B-2455-44C3-A219-75833660ACFC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38825" y="2605087"/>
              <a:ext cx="51435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117;p15" descr="image.png">
              <a:extLst>
                <a:ext uri="{FF2B5EF4-FFF2-40B4-BE49-F238E27FC236}">
                  <a16:creationId xmlns:a16="http://schemas.microsoft.com/office/drawing/2014/main" id="{CF9E6C5E-8101-47FB-80AC-BFFEED983F7E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620250" y="2605087"/>
              <a:ext cx="571500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00486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294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시계열 데이터를 분석할 때 </a:t>
            </a:r>
            <a:r>
              <a:rPr lang="en-US" altLang="ko-KR" dirty="0"/>
              <a:t>RNN</a:t>
            </a:r>
            <a:r>
              <a:rPr lang="ko-KR" altLang="en-US" dirty="0"/>
              <a:t>은 매 시점</a:t>
            </a:r>
            <a:r>
              <a:rPr lang="en-US" altLang="ko-KR" dirty="0"/>
              <a:t>(t)</a:t>
            </a:r>
            <a:r>
              <a:rPr lang="ko-KR" altLang="en-US" dirty="0"/>
              <a:t>마다 </a:t>
            </a:r>
            <a:r>
              <a:rPr lang="en-US" altLang="ko-KR" dirty="0"/>
              <a:t>'</a:t>
            </a:r>
            <a:r>
              <a:rPr lang="ko-KR" altLang="en-US" dirty="0"/>
              <a:t>현재 들어온 센서</a:t>
            </a:r>
            <a:r>
              <a:rPr lang="en-US" altLang="ko-KR" dirty="0"/>
              <a:t>/</a:t>
            </a:r>
            <a:r>
              <a:rPr lang="ko-KR" altLang="en-US" dirty="0"/>
              <a:t>가격 데이터</a:t>
            </a:r>
            <a:r>
              <a:rPr lang="en-US" altLang="ko-KR" dirty="0"/>
              <a:t>'</a:t>
            </a:r>
            <a:r>
              <a:rPr lang="ko-KR" altLang="en-US" dirty="0"/>
              <a:t>와 </a:t>
            </a:r>
            <a:r>
              <a:rPr lang="en-US" altLang="ko-KR" dirty="0"/>
              <a:t>'</a:t>
            </a:r>
            <a:r>
              <a:rPr lang="ko-KR" altLang="en-US" dirty="0"/>
              <a:t>이전 시점까지 누적된 추세 정보</a:t>
            </a:r>
            <a:r>
              <a:rPr lang="en-US" altLang="ko-KR" dirty="0"/>
              <a:t>(</a:t>
            </a:r>
            <a:r>
              <a:rPr lang="ko-KR" altLang="en-US" dirty="0"/>
              <a:t>은닉 상태</a:t>
            </a:r>
            <a:r>
              <a:rPr lang="en-US" altLang="ko-KR" dirty="0"/>
              <a:t>)'</a:t>
            </a:r>
            <a:r>
              <a:rPr lang="ko-KR" altLang="en-US" dirty="0"/>
              <a:t>를 함께 결합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이렇게 만들어진 현재 시점의 새로운 요약본은</a:t>
            </a:r>
            <a:r>
              <a:rPr lang="en-US" altLang="ko-KR" dirty="0"/>
              <a:t>, </a:t>
            </a:r>
            <a:r>
              <a:rPr lang="ko-KR" altLang="en-US" dirty="0"/>
              <a:t>순환 고리</a:t>
            </a:r>
            <a:r>
              <a:rPr lang="en-US" altLang="ko-KR" dirty="0"/>
              <a:t>(Recurrent Loop)</a:t>
            </a:r>
            <a:r>
              <a:rPr lang="ko-KR" altLang="en-US" dirty="0"/>
              <a:t>를 타고 다음 시간대</a:t>
            </a:r>
            <a:r>
              <a:rPr lang="en-US" altLang="ko-KR" dirty="0"/>
              <a:t>(t+1)</a:t>
            </a:r>
            <a:r>
              <a:rPr lang="ko-KR" altLang="en-US" dirty="0"/>
              <a:t>의 데이터를 해석하는 데 매우 중요한 기준점이 됩니다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핵심 구조</a:t>
            </a:r>
            <a:r>
              <a:rPr lang="en-US" altLang="ko-KR" sz="2300" dirty="0"/>
              <a:t>: </a:t>
            </a:r>
            <a:r>
              <a:rPr lang="ko-KR" altLang="en-US" sz="2300" dirty="0"/>
              <a:t>시간의 흐름을 잇는 은닉 상태</a:t>
            </a:r>
          </a:p>
        </p:txBody>
      </p:sp>
    </p:spTree>
    <p:extLst>
      <p:ext uri="{BB962C8B-B14F-4D97-AF65-F5344CB8AC3E}">
        <p14:creationId xmlns:p14="http://schemas.microsoft.com/office/powerpoint/2010/main" val="2496937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새로운 시점의 추세 업데이트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시계열 </a:t>
            </a:r>
            <a:r>
              <a:rPr lang="ko-KR" altLang="en-US" dirty="0" err="1"/>
              <a:t>예측값</a:t>
            </a:r>
            <a:r>
              <a:rPr lang="ko-KR" altLang="en-US" dirty="0"/>
              <a:t> 출력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RNN</a:t>
            </a:r>
            <a:r>
              <a:rPr lang="ko-KR" altLang="en-US" sz="2300" dirty="0"/>
              <a:t>의 수학적 작동 원리</a:t>
            </a:r>
          </a:p>
        </p:txBody>
      </p:sp>
      <p:pic>
        <p:nvPicPr>
          <p:cNvPr id="8" name="Google Shape;135;p17" descr="image.png">
            <a:extLst>
              <a:ext uri="{FF2B5EF4-FFF2-40B4-BE49-F238E27FC236}">
                <a16:creationId xmlns:a16="http://schemas.microsoft.com/office/drawing/2014/main" id="{C975434C-E336-4881-BF03-A84D1169CD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9712" y="2338186"/>
            <a:ext cx="5003750" cy="727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41;p17" descr="image.png">
            <a:extLst>
              <a:ext uri="{FF2B5EF4-FFF2-40B4-BE49-F238E27FC236}">
                <a16:creationId xmlns:a16="http://schemas.microsoft.com/office/drawing/2014/main" id="{9C000F36-003A-4D91-B52E-155D9B2A6BE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55937" y="2576311"/>
            <a:ext cx="4489400" cy="25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6;p17" descr="image.png">
            <a:extLst>
              <a:ext uri="{FF2B5EF4-FFF2-40B4-BE49-F238E27FC236}">
                <a16:creationId xmlns:a16="http://schemas.microsoft.com/office/drawing/2014/main" id="{3CCF464E-2C20-4F6C-BD51-F35B178AB9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3768" y="3933056"/>
            <a:ext cx="4006899" cy="785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45;p17" descr="image.png">
            <a:extLst>
              <a:ext uri="{FF2B5EF4-FFF2-40B4-BE49-F238E27FC236}">
                <a16:creationId xmlns:a16="http://schemas.microsoft.com/office/drawing/2014/main" id="{F4263C92-5797-44B0-AF4E-1F1FD5270C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62871" y="4171181"/>
            <a:ext cx="2686794" cy="3088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1384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41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수학적 원인</a:t>
            </a:r>
            <a:r>
              <a:rPr lang="en-US" altLang="ko-KR" dirty="0"/>
              <a:t>: BPTT </a:t>
            </a:r>
            <a:r>
              <a:rPr lang="ko-KR" altLang="en-US" dirty="0"/>
              <a:t>연쇄 법칙</a:t>
            </a:r>
            <a:br>
              <a:rPr lang="ko-KR" altLang="en-US" dirty="0"/>
            </a:br>
            <a:r>
              <a:rPr lang="ko-KR" altLang="en-US" dirty="0"/>
              <a:t> 시계열 데이터가 매우 길 때</a:t>
            </a:r>
            <a:r>
              <a:rPr lang="en-US" altLang="ko-KR" dirty="0"/>
              <a:t>, </a:t>
            </a:r>
            <a:r>
              <a:rPr lang="ko-KR" altLang="en-US" dirty="0"/>
              <a:t>오차를 과거로 되돌려 보내며 학습</a:t>
            </a:r>
            <a:r>
              <a:rPr lang="en-US" altLang="ko-KR" dirty="0"/>
              <a:t>(</a:t>
            </a:r>
            <a:r>
              <a:rPr lang="ko-KR" altLang="en-US" dirty="0" err="1"/>
              <a:t>역전파</a:t>
            </a:r>
            <a:r>
              <a:rPr lang="en-US" altLang="ko-KR" dirty="0"/>
              <a:t>)</a:t>
            </a:r>
            <a:r>
              <a:rPr lang="ko-KR" altLang="en-US" dirty="0"/>
              <a:t>하면 연쇄 법칙에 의해 가중치 행렬이 반복적으로 곱해집니다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망각 현상 발생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만약 곱해지는 가중치의 크기가 </a:t>
            </a:r>
            <a:r>
              <a:rPr lang="en-US" altLang="ko-KR" dirty="0"/>
              <a:t>1</a:t>
            </a:r>
            <a:r>
              <a:rPr lang="ko-KR" altLang="en-US" dirty="0"/>
              <a:t>보다 작다면</a:t>
            </a:r>
            <a:r>
              <a:rPr lang="en-US" altLang="ko-KR" dirty="0"/>
              <a:t>, </a:t>
            </a:r>
            <a:r>
              <a:rPr lang="ko-KR" altLang="en-US" dirty="0"/>
              <a:t>시간의 격차가 커질수록 이 값은 </a:t>
            </a:r>
            <a:r>
              <a:rPr lang="en-US" altLang="ko-KR" dirty="0"/>
              <a:t>0</a:t>
            </a:r>
            <a:r>
              <a:rPr lang="ko-KR" altLang="en-US" dirty="0"/>
              <a:t>에 수렴합니다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RNN</a:t>
            </a:r>
            <a:r>
              <a:rPr lang="ko-KR" altLang="en-US" sz="2300" dirty="0"/>
              <a:t>의 수학적 한계</a:t>
            </a:r>
            <a:r>
              <a:rPr lang="en-US" altLang="ko-KR" sz="2300" dirty="0"/>
              <a:t>: </a:t>
            </a:r>
            <a:r>
              <a:rPr lang="ko-KR" altLang="en-US" sz="2300" dirty="0"/>
              <a:t>기울기 소실과 망각</a:t>
            </a:r>
          </a:p>
        </p:txBody>
      </p:sp>
      <p:pic>
        <p:nvPicPr>
          <p:cNvPr id="7" name="Google Shape;136;p17" descr="image.png">
            <a:extLst>
              <a:ext uri="{FF2B5EF4-FFF2-40B4-BE49-F238E27FC236}">
                <a16:creationId xmlns:a16="http://schemas.microsoft.com/office/drawing/2014/main" id="{17D1BFA8-5CD6-43C5-8BF5-F3A9B79B56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2546" y="3356992"/>
            <a:ext cx="4006899" cy="785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75;p19" descr="image.png">
            <a:extLst>
              <a:ext uri="{FF2B5EF4-FFF2-40B4-BE49-F238E27FC236}">
                <a16:creationId xmlns:a16="http://schemas.microsoft.com/office/drawing/2014/main" id="{B757DC43-9C2C-4C25-877A-384CE0A034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6470" y="3543994"/>
            <a:ext cx="2159049" cy="411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3553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500" b="1" dirty="0">
                <a:solidFill>
                  <a:schemeClr val="bg1"/>
                </a:solidFill>
              </a:rPr>
              <a:t>LSTM</a:t>
            </a:r>
          </a:p>
        </p:txBody>
      </p:sp>
    </p:spTree>
    <p:extLst>
      <p:ext uri="{BB962C8B-B14F-4D97-AF65-F5344CB8AC3E}">
        <p14:creationId xmlns:p14="http://schemas.microsoft.com/office/powerpoint/2010/main" val="2452217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단기 기억 </a:t>
            </a:r>
            <a:r>
              <a:rPr lang="ko-KR" altLang="en-US" dirty="0" err="1"/>
              <a:t>상실증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기울기 소실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기존 </a:t>
            </a:r>
            <a:r>
              <a:rPr lang="en-US" altLang="ko-KR" dirty="0"/>
              <a:t>RNN</a:t>
            </a:r>
            <a:r>
              <a:rPr lang="ko-KR" altLang="en-US" dirty="0"/>
              <a:t>은 들어오는 모든 새로운 정보를 무작정 덮어쓰기 방식으로 기억에 저장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시계열 데이터나 문장이 조금만 길어져도</a:t>
            </a:r>
            <a:r>
              <a:rPr lang="en-US" altLang="ko-KR" dirty="0"/>
              <a:t>, </a:t>
            </a:r>
            <a:r>
              <a:rPr lang="ko-KR" altLang="en-US" dirty="0"/>
              <a:t>앞서 들어온 중요한 정보가 뒤로 갈수록 희미해짐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 단계마다 동일한 가중치</a:t>
            </a:r>
            <a:r>
              <a:rPr lang="en-US" altLang="ko-KR" dirty="0"/>
              <a:t>(</a:t>
            </a:r>
            <a:r>
              <a:rPr lang="ko-KR" altLang="en-US" dirty="0"/>
              <a:t>행렬</a:t>
            </a:r>
            <a:r>
              <a:rPr lang="en-US" altLang="ko-KR" dirty="0"/>
              <a:t>)</a:t>
            </a:r>
            <a:r>
              <a:rPr lang="ko-KR" altLang="en-US" dirty="0"/>
              <a:t>를 반복해서 곱하기 때문에</a:t>
            </a:r>
            <a:r>
              <a:rPr lang="en-US" altLang="ko-KR" dirty="0"/>
              <a:t>, 0.5</a:t>
            </a:r>
            <a:r>
              <a:rPr lang="ko-KR" altLang="en-US" dirty="0"/>
              <a:t>를 계속 곱하면 </a:t>
            </a:r>
            <a:r>
              <a:rPr lang="en-US" altLang="ko-KR" dirty="0"/>
              <a:t>0</a:t>
            </a:r>
            <a:r>
              <a:rPr lang="ko-KR" altLang="en-US" dirty="0"/>
              <a:t>에 수렴하듯 정보 소실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기울기 소실</a:t>
            </a:r>
            <a:r>
              <a:rPr lang="en-US" altLang="ko-KR" dirty="0"/>
              <a:t>(Vanishing Gradient) </a:t>
            </a:r>
            <a:r>
              <a:rPr lang="ko-KR" altLang="en-US" dirty="0"/>
              <a:t>문제라고 부르며</a:t>
            </a:r>
            <a:r>
              <a:rPr lang="en-US" altLang="ko-KR" dirty="0"/>
              <a:t>, </a:t>
            </a:r>
            <a:r>
              <a:rPr lang="ko-KR" altLang="en-US" dirty="0"/>
              <a:t>이를 해결하기 위해 </a:t>
            </a:r>
            <a:r>
              <a:rPr lang="en-US" altLang="ko-KR" dirty="0"/>
              <a:t>LSTM</a:t>
            </a:r>
            <a:r>
              <a:rPr lang="ko-KR" altLang="en-US" dirty="0"/>
              <a:t>이 탄생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기존 </a:t>
            </a:r>
            <a:r>
              <a:rPr lang="en-US" altLang="ko-KR" sz="2300" dirty="0"/>
              <a:t>RNN</a:t>
            </a:r>
            <a:r>
              <a:rPr lang="ko-KR" altLang="en-US" sz="2300" dirty="0"/>
              <a:t>의 한계</a:t>
            </a:r>
          </a:p>
        </p:txBody>
      </p:sp>
    </p:spTree>
    <p:extLst>
      <p:ext uri="{BB962C8B-B14F-4D97-AF65-F5344CB8AC3E}">
        <p14:creationId xmlns:p14="http://schemas.microsoft.com/office/powerpoint/2010/main" val="2030830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LSTM</a:t>
            </a:r>
            <a:r>
              <a:rPr lang="ko-KR" altLang="en-US" sz="2300" dirty="0"/>
              <a:t>의 특징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307B259-7902-4570-8EAD-CA297854F441}"/>
              </a:ext>
            </a:extLst>
          </p:cNvPr>
          <p:cNvGrpSpPr/>
          <p:nvPr/>
        </p:nvGrpSpPr>
        <p:grpSpPr>
          <a:xfrm>
            <a:off x="571500" y="1866900"/>
            <a:ext cx="8136966" cy="3002260"/>
            <a:chOff x="571500" y="1866900"/>
            <a:chExt cx="11049000" cy="4076700"/>
          </a:xfrm>
        </p:grpSpPr>
        <p:pic>
          <p:nvPicPr>
            <p:cNvPr id="8" name="Google Shape;116;p16" descr="image.png">
              <a:extLst>
                <a:ext uri="{FF2B5EF4-FFF2-40B4-BE49-F238E27FC236}">
                  <a16:creationId xmlns:a16="http://schemas.microsoft.com/office/drawing/2014/main" id="{62DB39FD-B977-4BEC-B7A5-0CD05D09AD0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1866900"/>
              <a:ext cx="3429000" cy="407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17;p16" descr="image.png">
              <a:extLst>
                <a:ext uri="{FF2B5EF4-FFF2-40B4-BE49-F238E27FC236}">
                  <a16:creationId xmlns:a16="http://schemas.microsoft.com/office/drawing/2014/main" id="{350D15D9-591F-4756-AB78-99FD3AF0576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381500" y="1866900"/>
              <a:ext cx="3429000" cy="407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8;p16" descr="image.png">
              <a:extLst>
                <a:ext uri="{FF2B5EF4-FFF2-40B4-BE49-F238E27FC236}">
                  <a16:creationId xmlns:a16="http://schemas.microsoft.com/office/drawing/2014/main" id="{543D742B-CDCA-446C-A7FE-77C20F003E0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91500" y="1866900"/>
              <a:ext cx="3429000" cy="407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19;p16">
              <a:extLst>
                <a:ext uri="{FF2B5EF4-FFF2-40B4-BE49-F238E27FC236}">
                  <a16:creationId xmlns:a16="http://schemas.microsoft.com/office/drawing/2014/main" id="{54C3823D-FB7E-4B6C-A016-D6E280DED718}"/>
                </a:ext>
              </a:extLst>
            </p:cNvPr>
            <p:cNvSpPr txBox="1"/>
            <p:nvPr/>
          </p:nvSpPr>
          <p:spPr>
            <a:xfrm>
              <a:off x="895826" y="3133725"/>
              <a:ext cx="2780347" cy="313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F8FAFC"/>
                  </a:solidFill>
                  <a:latin typeface="+mj-ea"/>
                  <a:ea typeface="+mj-ea"/>
                  <a:cs typeface="Poppins"/>
                  <a:sym typeface="Poppins"/>
                </a:rPr>
                <a:t>셀 </a:t>
              </a:r>
              <a:r>
                <a:rPr lang="en-US" sz="1500" b="0" i="0" u="none" strike="noStrike" cap="none" dirty="0" err="1">
                  <a:solidFill>
                    <a:srgbClr val="F8FAFC"/>
                  </a:solidFill>
                  <a:latin typeface="+mj-ea"/>
                  <a:ea typeface="+mj-ea"/>
                  <a:cs typeface="Poppins"/>
                  <a:sym typeface="Poppins"/>
                </a:rPr>
                <a:t>상태</a:t>
              </a:r>
              <a:r>
                <a:rPr lang="en-US" sz="1500" b="0" i="0" u="none" strike="noStrike" cap="none" dirty="0">
                  <a:solidFill>
                    <a:srgbClr val="F8FAFC"/>
                  </a:solidFill>
                  <a:latin typeface="+mj-ea"/>
                  <a:ea typeface="+mj-ea"/>
                  <a:cs typeface="Poppins"/>
                  <a:sym typeface="Poppins"/>
                </a:rPr>
                <a:t> (Cell State)</a:t>
              </a:r>
              <a:endParaRPr sz="1500" dirty="0">
                <a:latin typeface="+mj-ea"/>
                <a:ea typeface="+mj-ea"/>
              </a:endParaRPr>
            </a:p>
          </p:txBody>
        </p:sp>
        <p:sp>
          <p:nvSpPr>
            <p:cNvPr id="13" name="Google Shape;120;p16">
              <a:extLst>
                <a:ext uri="{FF2B5EF4-FFF2-40B4-BE49-F238E27FC236}">
                  <a16:creationId xmlns:a16="http://schemas.microsoft.com/office/drawing/2014/main" id="{DEED61DF-E37F-48EC-9B42-DB9AD73F113F}"/>
                </a:ext>
              </a:extLst>
            </p:cNvPr>
            <p:cNvSpPr txBox="1"/>
            <p:nvPr/>
          </p:nvSpPr>
          <p:spPr>
            <a:xfrm>
              <a:off x="962025" y="3694706"/>
              <a:ext cx="2647950" cy="217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가중치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곱셈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없이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직통으로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흐르는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고속도로를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뚫어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, 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과거의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데이터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(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장기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기억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)가 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훼손되지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않고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보존됩니다</a:t>
              </a:r>
              <a:r>
                <a:rPr lang="en-US" sz="1300" b="0" i="0" u="none" strike="noStrike" cap="none" dirty="0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.</a:t>
              </a:r>
              <a:endParaRPr sz="1300" dirty="0">
                <a:latin typeface="+mj-ea"/>
                <a:ea typeface="+mj-ea"/>
              </a:endParaRPr>
            </a:p>
          </p:txBody>
        </p:sp>
        <p:sp>
          <p:nvSpPr>
            <p:cNvPr id="14" name="Google Shape;121;p16">
              <a:extLst>
                <a:ext uri="{FF2B5EF4-FFF2-40B4-BE49-F238E27FC236}">
                  <a16:creationId xmlns:a16="http://schemas.microsoft.com/office/drawing/2014/main" id="{2907630F-EE32-400A-810C-BE5BC595F032}"/>
                </a:ext>
              </a:extLst>
            </p:cNvPr>
            <p:cNvSpPr txBox="1"/>
            <p:nvPr/>
          </p:nvSpPr>
          <p:spPr>
            <a:xfrm>
              <a:off x="4965858" y="3133725"/>
              <a:ext cx="2260282" cy="313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solidFill>
                    <a:srgbClr val="F8FAFC"/>
                  </a:solidFill>
                  <a:latin typeface="+mj-ea"/>
                  <a:ea typeface="+mj-ea"/>
                  <a:cs typeface="Poppins"/>
                  <a:sym typeface="Poppins"/>
                </a:rPr>
                <a:t>게이트</a:t>
              </a:r>
              <a:r>
                <a:rPr lang="en-US" sz="1500" b="0" i="0" u="none" strike="noStrike" cap="none" dirty="0">
                  <a:solidFill>
                    <a:srgbClr val="F8FAFC"/>
                  </a:solidFill>
                  <a:latin typeface="+mj-ea"/>
                  <a:ea typeface="+mj-ea"/>
                  <a:cs typeface="Poppins"/>
                  <a:sym typeface="Poppins"/>
                </a:rPr>
                <a:t> (Gates)</a:t>
              </a:r>
              <a:endParaRPr sz="1500" dirty="0">
                <a:latin typeface="+mj-ea"/>
                <a:ea typeface="+mj-ea"/>
              </a:endParaRPr>
            </a:p>
          </p:txBody>
        </p:sp>
        <p:sp>
          <p:nvSpPr>
            <p:cNvPr id="15" name="Google Shape;122;p16">
              <a:extLst>
                <a:ext uri="{FF2B5EF4-FFF2-40B4-BE49-F238E27FC236}">
                  <a16:creationId xmlns:a16="http://schemas.microsoft.com/office/drawing/2014/main" id="{8F69F666-130F-4664-9BB7-99043C852D17}"/>
                </a:ext>
              </a:extLst>
            </p:cNvPr>
            <p:cNvSpPr txBox="1"/>
            <p:nvPr/>
          </p:nvSpPr>
          <p:spPr>
            <a:xfrm>
              <a:off x="4772025" y="3733800"/>
              <a:ext cx="2647950" cy="217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정보를 무조건 받아들이는 대신, 3개의 문(망각, 입력, 출력)이 정보의 흐름을 똑똑하게 통제하고 걸러냅니다.</a:t>
              </a:r>
              <a:endParaRPr sz="1300">
                <a:latin typeface="+mj-ea"/>
                <a:ea typeface="+mj-ea"/>
              </a:endParaRPr>
            </a:p>
          </p:txBody>
        </p:sp>
        <p:sp>
          <p:nvSpPr>
            <p:cNvPr id="16" name="Google Shape;123;p16">
              <a:extLst>
                <a:ext uri="{FF2B5EF4-FFF2-40B4-BE49-F238E27FC236}">
                  <a16:creationId xmlns:a16="http://schemas.microsoft.com/office/drawing/2014/main" id="{82833DBA-615B-4BC6-BD98-1A96CF8E4721}"/>
                </a:ext>
              </a:extLst>
            </p:cNvPr>
            <p:cNvSpPr txBox="1"/>
            <p:nvPr/>
          </p:nvSpPr>
          <p:spPr>
            <a:xfrm>
              <a:off x="8695849" y="3133725"/>
              <a:ext cx="2420302" cy="313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solidFill>
                    <a:srgbClr val="F8FAFC"/>
                  </a:solidFill>
                  <a:latin typeface="+mj-ea"/>
                  <a:ea typeface="+mj-ea"/>
                  <a:cs typeface="Poppins"/>
                  <a:sym typeface="Poppins"/>
                </a:rPr>
                <a:t>장기</a:t>
              </a:r>
              <a:r>
                <a:rPr lang="en-US" sz="1500" b="0" i="0" u="none" strike="noStrike" cap="none" dirty="0">
                  <a:solidFill>
                    <a:srgbClr val="F8FAFC"/>
                  </a:solidFill>
                  <a:latin typeface="+mj-ea"/>
                  <a:ea typeface="+mj-ea"/>
                  <a:cs typeface="Poppins"/>
                  <a:sym typeface="Poppins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F8FAFC"/>
                  </a:solidFill>
                  <a:latin typeface="+mj-ea"/>
                  <a:ea typeface="+mj-ea"/>
                  <a:cs typeface="Poppins"/>
                  <a:sym typeface="Poppins"/>
                </a:rPr>
                <a:t>의존성</a:t>
              </a:r>
              <a:r>
                <a:rPr lang="en-US" sz="1500" b="0" i="0" u="none" strike="noStrike" cap="none" dirty="0">
                  <a:solidFill>
                    <a:srgbClr val="F8FAFC"/>
                  </a:solidFill>
                  <a:latin typeface="+mj-ea"/>
                  <a:ea typeface="+mj-ea"/>
                  <a:cs typeface="Poppins"/>
                  <a:sym typeface="Poppins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F8FAFC"/>
                  </a:solidFill>
                  <a:latin typeface="+mj-ea"/>
                  <a:ea typeface="+mj-ea"/>
                  <a:cs typeface="Poppins"/>
                  <a:sym typeface="Poppins"/>
                </a:rPr>
                <a:t>해결</a:t>
              </a:r>
              <a:endParaRPr sz="1500" dirty="0">
                <a:latin typeface="+mj-ea"/>
                <a:ea typeface="+mj-ea"/>
              </a:endParaRPr>
            </a:p>
          </p:txBody>
        </p:sp>
        <p:sp>
          <p:nvSpPr>
            <p:cNvPr id="17" name="Google Shape;124;p16">
              <a:extLst>
                <a:ext uri="{FF2B5EF4-FFF2-40B4-BE49-F238E27FC236}">
                  <a16:creationId xmlns:a16="http://schemas.microsoft.com/office/drawing/2014/main" id="{C34DB9F4-DE2E-4740-9C06-D92C56704407}"/>
                </a:ext>
              </a:extLst>
            </p:cNvPr>
            <p:cNvSpPr txBox="1"/>
            <p:nvPr/>
          </p:nvSpPr>
          <p:spPr>
            <a:xfrm>
              <a:off x="8582025" y="3733800"/>
              <a:ext cx="2647950" cy="217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>
                  <a:solidFill>
                    <a:srgbClr val="CBD5E1"/>
                  </a:solidFill>
                  <a:latin typeface="+mj-ea"/>
                  <a:ea typeface="+mj-ea"/>
                  <a:cs typeface="Lato"/>
                  <a:sym typeface="Lato"/>
                </a:rPr>
                <a:t>과거의 패턴이 끊기지 않고 오래 유지되어, 수십 일 전의 시계열 데이터도 오늘을 예측하는 데 활용될 수 있습니다.</a:t>
              </a:r>
              <a:endParaRPr sz="1300">
                <a:latin typeface="+mj-ea"/>
                <a:ea typeface="+mj-ea"/>
              </a:endParaRPr>
            </a:p>
          </p:txBody>
        </p:sp>
        <p:pic>
          <p:nvPicPr>
            <p:cNvPr id="18" name="Google Shape;125;p16" descr="image.png">
              <a:extLst>
                <a:ext uri="{FF2B5EF4-FFF2-40B4-BE49-F238E27FC236}">
                  <a16:creationId xmlns:a16="http://schemas.microsoft.com/office/drawing/2014/main" id="{62449BAD-340E-4099-A0FD-87E6D375F4D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85962" y="2314575"/>
              <a:ext cx="600075" cy="53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26;p16" descr="image.png">
              <a:extLst>
                <a:ext uri="{FF2B5EF4-FFF2-40B4-BE49-F238E27FC236}">
                  <a16:creationId xmlns:a16="http://schemas.microsoft.com/office/drawing/2014/main" id="{A4F29711-C397-4CC5-BBCE-0EE381549A9F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95962" y="2314575"/>
              <a:ext cx="600075" cy="53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27;p16" descr="image.png">
              <a:extLst>
                <a:ext uri="{FF2B5EF4-FFF2-40B4-BE49-F238E27FC236}">
                  <a16:creationId xmlns:a16="http://schemas.microsoft.com/office/drawing/2014/main" id="{7A2B9191-7159-4869-90EB-CF0A44E0A356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639300" y="2314575"/>
              <a:ext cx="533400" cy="5334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118765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LSTM</a:t>
            </a:r>
            <a:r>
              <a:rPr lang="ko-KR" altLang="en-US" dirty="0"/>
              <a:t>의 핵심은 상단을 가로지르는 </a:t>
            </a:r>
            <a:r>
              <a:rPr lang="en-US" altLang="ko-KR" dirty="0"/>
              <a:t>'</a:t>
            </a:r>
            <a:r>
              <a:rPr lang="ko-KR" altLang="en-US" dirty="0"/>
              <a:t>셀 상태</a:t>
            </a:r>
            <a:r>
              <a:rPr lang="en-US" altLang="ko-KR" dirty="0"/>
              <a:t>(Cell State)'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기존 </a:t>
            </a:r>
            <a:r>
              <a:rPr lang="en-US" altLang="ko-KR" dirty="0"/>
              <a:t>RNN</a:t>
            </a:r>
            <a:r>
              <a:rPr lang="ko-KR" altLang="en-US" dirty="0"/>
              <a:t>이 매번 가중치 행렬을 복잡하게 곱하며 정보가 손실된 것과 다르게</a:t>
            </a:r>
            <a:r>
              <a:rPr lang="en-US" altLang="ko-KR" dirty="0"/>
              <a:t>, </a:t>
            </a:r>
            <a:r>
              <a:rPr lang="ko-KR" altLang="en-US" dirty="0"/>
              <a:t>셀 상태는 아주 단순한 선형적인 덧셈과 곱셈 연산만을 수행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컨베이어 벨트</a:t>
            </a:r>
            <a:r>
              <a:rPr lang="en-US" altLang="ko-KR" sz="2300" dirty="0"/>
              <a:t>: </a:t>
            </a:r>
            <a:r>
              <a:rPr lang="ko-KR" altLang="en-US" sz="2300" dirty="0"/>
              <a:t>셀 상태</a:t>
            </a:r>
          </a:p>
        </p:txBody>
      </p:sp>
      <p:pic>
        <p:nvPicPr>
          <p:cNvPr id="7" name="Google Shape;134;p17" descr="image.png">
            <a:extLst>
              <a:ext uri="{FF2B5EF4-FFF2-40B4-BE49-F238E27FC236}">
                <a16:creationId xmlns:a16="http://schemas.microsoft.com/office/drawing/2014/main" id="{B660447A-E483-4BC4-BC66-CF27A1AED9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8812" y="3591031"/>
            <a:ext cx="528637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40;p17" descr="image.png">
            <a:extLst>
              <a:ext uri="{FF2B5EF4-FFF2-40B4-BE49-F238E27FC236}">
                <a16:creationId xmlns:a16="http://schemas.microsoft.com/office/drawing/2014/main" id="{E921D4C2-3EFA-4E47-8AAC-565739D21E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1963" y="3790460"/>
            <a:ext cx="2479923" cy="2954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25785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게이트의 종류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DEC3B4F-642C-426C-92A3-A2A102F51229}"/>
              </a:ext>
            </a:extLst>
          </p:cNvPr>
          <p:cNvGrpSpPr/>
          <p:nvPr/>
        </p:nvGrpSpPr>
        <p:grpSpPr>
          <a:xfrm>
            <a:off x="571500" y="2474118"/>
            <a:ext cx="8133551" cy="3043114"/>
            <a:chOff x="571500" y="2474118"/>
            <a:chExt cx="11049000" cy="4133909"/>
          </a:xfrm>
        </p:grpSpPr>
        <p:pic>
          <p:nvPicPr>
            <p:cNvPr id="8" name="Google Shape;146;p18" descr="image.png">
              <a:extLst>
                <a:ext uri="{FF2B5EF4-FFF2-40B4-BE49-F238E27FC236}">
                  <a16:creationId xmlns:a16="http://schemas.microsoft.com/office/drawing/2014/main" id="{9CB3ECFC-370A-4E08-B86C-0C42732E722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2474118"/>
              <a:ext cx="5286374" cy="4133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47;p18" descr="image.png">
              <a:extLst>
                <a:ext uri="{FF2B5EF4-FFF2-40B4-BE49-F238E27FC236}">
                  <a16:creationId xmlns:a16="http://schemas.microsoft.com/office/drawing/2014/main" id="{3B07F737-28BA-4041-85E6-F618DE8C61D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334126" y="2474118"/>
              <a:ext cx="5286374" cy="41339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48;p18">
              <a:extLst>
                <a:ext uri="{FF2B5EF4-FFF2-40B4-BE49-F238E27FC236}">
                  <a16:creationId xmlns:a16="http://schemas.microsoft.com/office/drawing/2014/main" id="{95B7AA47-8658-4320-8699-022CE17404BE}"/>
                </a:ext>
              </a:extLst>
            </p:cNvPr>
            <p:cNvSpPr txBox="1"/>
            <p:nvPr/>
          </p:nvSpPr>
          <p:spPr>
            <a:xfrm>
              <a:off x="849391" y="2864643"/>
              <a:ext cx="4730592" cy="418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B7185"/>
                  </a:solidFill>
                  <a:ea typeface="Poppins"/>
                  <a:cs typeface="Poppins"/>
                  <a:sym typeface="Poppins"/>
                </a:rPr>
                <a:t>망각</a:t>
              </a:r>
              <a:r>
                <a:rPr lang="en-US" sz="2000" b="0" i="0" u="none" strike="noStrike" cap="none" dirty="0">
                  <a:solidFill>
                    <a:srgbClr val="FB7185"/>
                  </a:solidFill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FB7185"/>
                  </a:solidFill>
                  <a:ea typeface="Poppins"/>
                  <a:cs typeface="Poppins"/>
                  <a:sym typeface="Poppins"/>
                </a:rPr>
                <a:t>게이트</a:t>
              </a:r>
              <a:r>
                <a:rPr lang="en-US" sz="2000" b="0" i="0" u="none" strike="noStrike" cap="none" dirty="0">
                  <a:solidFill>
                    <a:srgbClr val="FB7185"/>
                  </a:solidFill>
                  <a:ea typeface="Poppins"/>
                  <a:cs typeface="Poppins"/>
                  <a:sym typeface="Poppins"/>
                </a:rPr>
                <a:t> (Forget Gate)</a:t>
              </a:r>
              <a:endParaRPr sz="2000" dirty="0"/>
            </a:p>
          </p:txBody>
        </p:sp>
        <p:sp>
          <p:nvSpPr>
            <p:cNvPr id="12" name="Google Shape;149;p18">
              <a:extLst>
                <a:ext uri="{FF2B5EF4-FFF2-40B4-BE49-F238E27FC236}">
                  <a16:creationId xmlns:a16="http://schemas.microsoft.com/office/drawing/2014/main" id="{8B314D2E-5CB0-4E8F-A9BF-F819FADF5AB6}"/>
                </a:ext>
              </a:extLst>
            </p:cNvPr>
            <p:cNvSpPr txBox="1"/>
            <p:nvPr/>
          </p:nvSpPr>
          <p:spPr>
            <a:xfrm>
              <a:off x="962025" y="3464718"/>
              <a:ext cx="4505326" cy="2006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어제까지의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장기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기억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중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얼마나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지워버릴지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결정합니다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.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시그모이드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함수를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통해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0(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모두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지움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)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에서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1(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모두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기억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)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사이의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비율을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산출합니다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.</a:t>
              </a:r>
              <a:endParaRPr dirty="0"/>
            </a:p>
          </p:txBody>
        </p:sp>
        <p:sp>
          <p:nvSpPr>
            <p:cNvPr id="13" name="Google Shape;150;p18">
              <a:extLst>
                <a:ext uri="{FF2B5EF4-FFF2-40B4-BE49-F238E27FC236}">
                  <a16:creationId xmlns:a16="http://schemas.microsoft.com/office/drawing/2014/main" id="{362DD4BF-1E03-42B0-AA49-9299DA6F814A}"/>
                </a:ext>
              </a:extLst>
            </p:cNvPr>
            <p:cNvSpPr txBox="1"/>
            <p:nvPr/>
          </p:nvSpPr>
          <p:spPr>
            <a:xfrm>
              <a:off x="6612016" y="2864643"/>
              <a:ext cx="4730592" cy="418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2DD4BF"/>
                  </a:solidFill>
                  <a:ea typeface="Poppins"/>
                  <a:cs typeface="Poppins"/>
                  <a:sym typeface="Poppins"/>
                </a:rPr>
                <a:t>입력</a:t>
              </a:r>
              <a:r>
                <a:rPr lang="en-US" sz="2000" b="0" i="0" u="none" strike="noStrike" cap="none" dirty="0">
                  <a:solidFill>
                    <a:srgbClr val="2DD4BF"/>
                  </a:solidFill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2DD4BF"/>
                  </a:solidFill>
                  <a:ea typeface="Poppins"/>
                  <a:cs typeface="Poppins"/>
                  <a:sym typeface="Poppins"/>
                </a:rPr>
                <a:t>게이트</a:t>
              </a:r>
              <a:r>
                <a:rPr lang="en-US" sz="2000" b="0" i="0" u="none" strike="noStrike" cap="none" dirty="0">
                  <a:solidFill>
                    <a:srgbClr val="2DD4BF"/>
                  </a:solidFill>
                  <a:ea typeface="Poppins"/>
                  <a:cs typeface="Poppins"/>
                  <a:sym typeface="Poppins"/>
                </a:rPr>
                <a:t> (Input Gate)</a:t>
              </a:r>
              <a:endParaRPr sz="2000" dirty="0"/>
            </a:p>
          </p:txBody>
        </p:sp>
        <p:sp>
          <p:nvSpPr>
            <p:cNvPr id="14" name="Google Shape;151;p18">
              <a:extLst>
                <a:ext uri="{FF2B5EF4-FFF2-40B4-BE49-F238E27FC236}">
                  <a16:creationId xmlns:a16="http://schemas.microsoft.com/office/drawing/2014/main" id="{26515529-B29B-4518-87AB-78F225C40FCC}"/>
                </a:ext>
              </a:extLst>
            </p:cNvPr>
            <p:cNvSpPr txBox="1"/>
            <p:nvPr/>
          </p:nvSpPr>
          <p:spPr>
            <a:xfrm>
              <a:off x="6724651" y="3464718"/>
              <a:ext cx="4505326" cy="2006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ea typeface="Lato"/>
                  <a:cs typeface="Lato"/>
                  <a:sym typeface="Lato"/>
                </a:rPr>
                <a:t>오늘 새롭게 들어온 정보 중 어떤 것을 장기 기억에 추가할지 판단합니다. 더하기 연산을 통해 가중치 간섭 없이 컨베이어 벨트에 올라탑니다.</a:t>
              </a:r>
              <a:endParaRPr/>
            </a:p>
          </p:txBody>
        </p:sp>
        <p:pic>
          <p:nvPicPr>
            <p:cNvPr id="15" name="Google Shape;152;p18" descr="image.png">
              <a:extLst>
                <a:ext uri="{FF2B5EF4-FFF2-40B4-BE49-F238E27FC236}">
                  <a16:creationId xmlns:a16="http://schemas.microsoft.com/office/drawing/2014/main" id="{D6F0F582-9EA4-445D-A929-083F6A46B06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115015" y="5825475"/>
              <a:ext cx="4282635" cy="2934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53;p18" descr="image.png">
              <a:extLst>
                <a:ext uri="{FF2B5EF4-FFF2-40B4-BE49-F238E27FC236}">
                  <a16:creationId xmlns:a16="http://schemas.microsoft.com/office/drawing/2014/main" id="{1F26E32E-4F67-4FBB-950E-62AC4E86496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892968" y="5825475"/>
              <a:ext cx="4240859" cy="29345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744622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LSTM</a:t>
            </a:r>
            <a:r>
              <a:rPr lang="ko-KR" altLang="en-US" dirty="0"/>
              <a:t>은 기본 </a:t>
            </a:r>
            <a:r>
              <a:rPr lang="en-US" altLang="ko-KR" dirty="0"/>
              <a:t>RNN</a:t>
            </a:r>
            <a:r>
              <a:rPr lang="ko-KR" altLang="en-US" dirty="0"/>
              <a:t>과 비교했을 때 파라미터</a:t>
            </a:r>
            <a:r>
              <a:rPr lang="en-US" altLang="ko-KR" dirty="0"/>
              <a:t>(</a:t>
            </a:r>
            <a:r>
              <a:rPr lang="ko-KR" altLang="en-US" dirty="0"/>
              <a:t>학습해야 할 가중치의 개수</a:t>
            </a:r>
            <a:r>
              <a:rPr lang="en-US" altLang="ko-KR" dirty="0"/>
              <a:t>)</a:t>
            </a:r>
            <a:r>
              <a:rPr lang="ko-KR" altLang="en-US" dirty="0"/>
              <a:t>가 정확히 약 </a:t>
            </a:r>
            <a:r>
              <a:rPr lang="en-US" altLang="ko-KR" dirty="0"/>
              <a:t>4</a:t>
            </a:r>
            <a:r>
              <a:rPr lang="ko-KR" altLang="en-US" dirty="0"/>
              <a:t>배 더 많다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모델 내부에 망각</a:t>
            </a:r>
            <a:r>
              <a:rPr lang="en-US" altLang="ko-KR" dirty="0"/>
              <a:t>, </a:t>
            </a:r>
            <a:r>
              <a:rPr lang="ko-KR" altLang="en-US" dirty="0"/>
              <a:t>입력</a:t>
            </a:r>
            <a:r>
              <a:rPr lang="en-US" altLang="ko-KR" dirty="0"/>
              <a:t>, </a:t>
            </a:r>
            <a:r>
              <a:rPr lang="ko-KR" altLang="en-US" dirty="0"/>
              <a:t>출력 게이트와 셀 상태를 업데이트하는 총 </a:t>
            </a:r>
            <a:r>
              <a:rPr lang="en-US" altLang="ko-KR" dirty="0"/>
              <a:t>4</a:t>
            </a:r>
            <a:r>
              <a:rPr lang="ko-KR" altLang="en-US" dirty="0"/>
              <a:t>개의 독립적인 신경망 계층이 동시에 작동하기 때문입니다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성능은 뛰어나지만</a:t>
            </a:r>
            <a:r>
              <a:rPr lang="en-US" altLang="ko-KR" dirty="0"/>
              <a:t>, </a:t>
            </a:r>
            <a:r>
              <a:rPr lang="ko-KR" altLang="en-US" dirty="0"/>
              <a:t>연산 비용이 높고 학습 시간이 더 길어진다는 트레이드오프</a:t>
            </a:r>
            <a:r>
              <a:rPr lang="en-US" altLang="ko-KR" dirty="0"/>
              <a:t>(Trade-off)</a:t>
            </a:r>
            <a:r>
              <a:rPr lang="ko-KR" altLang="en-US" dirty="0"/>
              <a:t>가 존재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RNN</a:t>
            </a:r>
            <a:r>
              <a:rPr lang="ko-KR" altLang="en-US" sz="2300" dirty="0"/>
              <a:t>보다 더 무거운 이유</a:t>
            </a:r>
          </a:p>
        </p:txBody>
      </p:sp>
    </p:spTree>
    <p:extLst>
      <p:ext uri="{BB962C8B-B14F-4D97-AF65-F5344CB8AC3E}">
        <p14:creationId xmlns:p14="http://schemas.microsoft.com/office/powerpoint/2010/main" val="22177252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3362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구조적 변화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코로나</a:t>
            </a:r>
            <a:r>
              <a:rPr lang="en-US" altLang="ko-KR" dirty="0"/>
              <a:t>19</a:t>
            </a:r>
            <a:r>
              <a:rPr lang="ko-KR" altLang="en-US" dirty="0"/>
              <a:t>처럼 세상의 룰이 완전히 바뀌었을 때</a:t>
            </a:r>
            <a:r>
              <a:rPr lang="en-US" altLang="ko-KR" dirty="0"/>
              <a:t>, </a:t>
            </a:r>
            <a:r>
              <a:rPr lang="ko-KR" altLang="en-US" dirty="0"/>
              <a:t>과거의 패턴이 미래 예측에 오히려 방해가 되므로 망각 게이트는 과거 기억을 </a:t>
            </a:r>
            <a:r>
              <a:rPr lang="en-US" altLang="ko-KR" dirty="0"/>
              <a:t>0</a:t>
            </a:r>
            <a:r>
              <a:rPr lang="ko-KR" altLang="en-US" dirty="0"/>
              <a:t>에 가깝게 비워냅니다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이상치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순간적인 센서 오류 등으로 비정상적인 데이터가 들어올 때</a:t>
            </a:r>
            <a:r>
              <a:rPr lang="en-US" altLang="ko-KR" dirty="0"/>
              <a:t>, </a:t>
            </a:r>
            <a:r>
              <a:rPr lang="ko-KR" altLang="en-US" dirty="0"/>
              <a:t>이 노이즈 값이 장기적인 추세를 오염시키지 않도록 망각 게이트가 개입합니다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망각이 필요한 경우</a:t>
            </a:r>
          </a:p>
        </p:txBody>
      </p:sp>
    </p:spTree>
    <p:extLst>
      <p:ext uri="{BB962C8B-B14F-4D97-AF65-F5344CB8AC3E}">
        <p14:creationId xmlns:p14="http://schemas.microsoft.com/office/powerpoint/2010/main" val="4166824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4536525"/>
            <a:ext cx="7200800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t=50 </a:t>
            </a:r>
            <a:r>
              <a:rPr lang="ko-KR" altLang="en-US" dirty="0"/>
              <a:t>시점에 발생한 큰 사건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전염병</a:t>
            </a:r>
            <a:r>
              <a:rPr lang="en-US" altLang="ko-KR" dirty="0"/>
              <a:t>, </a:t>
            </a:r>
            <a:r>
              <a:rPr lang="ko-KR" altLang="en-US" dirty="0"/>
              <a:t>규제 완화</a:t>
            </a:r>
            <a:r>
              <a:rPr lang="en-US" altLang="ko-KR" dirty="0"/>
              <a:t>)</a:t>
            </a:r>
            <a:r>
              <a:rPr lang="ko-KR" altLang="en-US" dirty="0"/>
              <a:t>으로 인해 과거의 상승 추세가 무너졌습니다</a:t>
            </a:r>
            <a:r>
              <a:rPr lang="en-US" altLang="ko-KR" dirty="0"/>
              <a:t>. </a:t>
            </a:r>
            <a:r>
              <a:rPr lang="ko-KR" altLang="en-US" dirty="0"/>
              <a:t>이때 망각 게이트가 활성화되어 셀 상태를 비워내고 하락장의 새로운 패턴을 장기 기억에 쓰기 시작합니다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구조적 변화와 모델의 대응 </a:t>
            </a:r>
          </a:p>
        </p:txBody>
      </p:sp>
      <p:pic>
        <p:nvPicPr>
          <p:cNvPr id="7" name="Google Shape;193;p22" descr="image.png">
            <a:extLst>
              <a:ext uri="{FF2B5EF4-FFF2-40B4-BE49-F238E27FC236}">
                <a16:creationId xmlns:a16="http://schemas.microsoft.com/office/drawing/2014/main" id="{D98F7FDC-4F28-4C87-85E4-CD2EFC2E19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536" y="1411634"/>
            <a:ext cx="8298127" cy="37455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2326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18178</TotalTime>
  <Words>2123</Words>
  <Application>Microsoft Office PowerPoint</Application>
  <PresentationFormat>화면 슬라이드 쇼(4:3)</PresentationFormat>
  <Paragraphs>244</Paragraphs>
  <Slides>33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HY헤드라인M</vt:lpstr>
      <vt:lpstr>Urbanist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병선 문</cp:lastModifiedBy>
  <cp:revision>169</cp:revision>
  <dcterms:created xsi:type="dcterms:W3CDTF">2016-11-03T20:47:04Z</dcterms:created>
  <dcterms:modified xsi:type="dcterms:W3CDTF">2026-05-25T13:58:07Z</dcterms:modified>
</cp:coreProperties>
</file>