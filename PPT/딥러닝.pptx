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334" r:id="rId2"/>
    <p:sldId id="322" r:id="rId3"/>
    <p:sldId id="287" r:id="rId4"/>
    <p:sldId id="371" r:id="rId5"/>
    <p:sldId id="372" r:id="rId6"/>
    <p:sldId id="373" r:id="rId7"/>
    <p:sldId id="366" r:id="rId8"/>
    <p:sldId id="374" r:id="rId9"/>
    <p:sldId id="375" r:id="rId10"/>
    <p:sldId id="376" r:id="rId11"/>
    <p:sldId id="365" r:id="rId12"/>
    <p:sldId id="377" r:id="rId13"/>
    <p:sldId id="378" r:id="rId14"/>
    <p:sldId id="379" r:id="rId15"/>
    <p:sldId id="380" r:id="rId16"/>
    <p:sldId id="381" r:id="rId17"/>
    <p:sldId id="382" r:id="rId18"/>
    <p:sldId id="383" r:id="rId19"/>
    <p:sldId id="321" r:id="rId20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3810" autoAdjust="0"/>
  </p:normalViewPr>
  <p:slideViewPr>
    <p:cSldViewPr>
      <p:cViewPr varScale="1">
        <p:scale>
          <a:sx n="101" d="100"/>
          <a:sy n="101" d="100"/>
        </p:scale>
        <p:origin x="126" y="12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319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771C21-3757-4199-83DE-22960358A2A5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A4E647-5A0F-41E6-A0EF-B58D8C1C6CD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037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476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659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5811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69258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2145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7864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31492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7033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4977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4962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5106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8746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3933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0842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62355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00944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003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393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1520" y="620688"/>
            <a:ext cx="8640960" cy="5976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타원 9"/>
          <p:cNvSpPr/>
          <p:nvPr userDrawn="1"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2FE722-38C7-4231-8BB5-7A27D4E5977D}" type="datetimeFigureOut">
              <a:rPr lang="ko-KR" altLang="en-US" smtClean="0"/>
              <a:pPr/>
              <a:t>2026-05-19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835696" y="2708920"/>
            <a:ext cx="54726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spc="-150" dirty="0">
                <a:solidFill>
                  <a:schemeClr val="bg1"/>
                </a:solidFill>
              </a:rPr>
              <a:t>딥러닝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3768" y="2276872"/>
            <a:ext cx="425647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dist"/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딥 러 </a:t>
            </a:r>
            <a:r>
              <a:rPr lang="ko-KR" altLang="en-US" sz="1400" b="1" dirty="0" err="1">
                <a:solidFill>
                  <a:schemeClr val="tx2">
                    <a:lumMod val="50000"/>
                  </a:schemeClr>
                </a:solidFill>
              </a:rPr>
              <a:t>닝</a:t>
            </a:r>
            <a:endParaRPr lang="ko-KR" altLang="en-US" sz="1400" b="1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6873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딥러닝</a:t>
            </a:r>
          </a:p>
        </p:txBody>
      </p:sp>
    </p:spTree>
    <p:extLst>
      <p:ext uri="{BB962C8B-B14F-4D97-AF65-F5344CB8AC3E}">
        <p14:creationId xmlns:p14="http://schemas.microsoft.com/office/powerpoint/2010/main" val="11927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인공지능 </a:t>
            </a:r>
            <a:r>
              <a:rPr lang="en-US" altLang="ko-KR" dirty="0"/>
              <a:t>(AI)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사람의 지능을 흉내 내는 기계의 모든 기술 </a:t>
            </a:r>
            <a:r>
              <a:rPr lang="en-US" altLang="ko-KR" dirty="0"/>
              <a:t>(</a:t>
            </a:r>
            <a:r>
              <a:rPr lang="ko-KR" altLang="en-US" dirty="0"/>
              <a:t>가장 넓은 의미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머신러닝</a:t>
            </a:r>
            <a:r>
              <a:rPr lang="ko-KR" altLang="en-US" dirty="0"/>
              <a:t> </a:t>
            </a:r>
            <a:r>
              <a:rPr lang="en-US" altLang="ko-KR" dirty="0"/>
              <a:t>(ML)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사람이 규칙을 일일이 짜주지 않고</a:t>
            </a:r>
            <a:r>
              <a:rPr lang="en-US" altLang="ko-KR" dirty="0"/>
              <a:t>, </a:t>
            </a:r>
            <a:r>
              <a:rPr lang="ko-KR" altLang="en-US" dirty="0"/>
              <a:t>데이터를 주어 기계가 스스로 규칙을 학습하게 만드는 방법론</a:t>
            </a:r>
            <a:br>
              <a:rPr lang="en-US" altLang="ko-KR" dirty="0"/>
            </a:b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딥러닝 </a:t>
            </a:r>
            <a:r>
              <a:rPr lang="en-US" altLang="ko-KR" dirty="0"/>
              <a:t>(DL)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머신러닝</a:t>
            </a:r>
            <a:r>
              <a:rPr lang="ko-KR" altLang="en-US" dirty="0"/>
              <a:t> 중에서도 사람의 뇌</a:t>
            </a:r>
            <a:r>
              <a:rPr lang="en-US" altLang="ko-KR" dirty="0"/>
              <a:t>(</a:t>
            </a:r>
            <a:r>
              <a:rPr lang="ko-KR" altLang="en-US" dirty="0"/>
              <a:t>신경망</a:t>
            </a:r>
            <a:r>
              <a:rPr lang="en-US" altLang="ko-KR" dirty="0"/>
              <a:t>) </a:t>
            </a:r>
            <a:r>
              <a:rPr lang="ko-KR" altLang="en-US" dirty="0"/>
              <a:t>구조를 모방하여 복잡하고 방대한 데이터를 처리하는 최신 기술</a:t>
            </a:r>
            <a:r>
              <a:rPr lang="en-US" altLang="ko-KR" dirty="0"/>
              <a:t>.</a:t>
            </a:r>
          </a:p>
          <a:p>
            <a:br>
              <a:rPr lang="en-US" altLang="ko-KR" dirty="0"/>
            </a:br>
            <a:r>
              <a:rPr lang="en-US" altLang="ko-KR" dirty="0"/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AI, </a:t>
            </a:r>
            <a:r>
              <a:rPr lang="ko-KR" altLang="en-US" sz="2300" dirty="0" err="1"/>
              <a:t>머신러닝</a:t>
            </a:r>
            <a:r>
              <a:rPr lang="en-US" altLang="ko-KR" sz="2300" dirty="0"/>
              <a:t>, </a:t>
            </a:r>
            <a:r>
              <a:rPr lang="ko-KR" altLang="en-US" sz="2300" dirty="0"/>
              <a:t>딥러닝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우리 뇌의 신경세포</a:t>
            </a:r>
            <a:r>
              <a:rPr lang="en-US" altLang="ko-KR" dirty="0"/>
              <a:t>(</a:t>
            </a:r>
            <a:r>
              <a:rPr lang="ko-KR" altLang="en-US" dirty="0"/>
              <a:t>뉴런</a:t>
            </a:r>
            <a:r>
              <a:rPr lang="en-US" altLang="ko-KR" dirty="0"/>
              <a:t>)</a:t>
            </a:r>
            <a:r>
              <a:rPr lang="ko-KR" altLang="en-US" dirty="0"/>
              <a:t>는 전기 신호를 받아 일정 기준치를 넘으면 다음 뉴런으로 신호를 전달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퍼셉트론은</a:t>
            </a:r>
            <a:r>
              <a:rPr lang="ko-KR" altLang="en-US" dirty="0"/>
              <a:t> 이 생물학적 뉴런을 수학적 공식으로 옮겨 놓은 인공 뉴런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 데이터에 가중치</a:t>
            </a:r>
            <a:r>
              <a:rPr lang="en-US" altLang="ko-KR" dirty="0"/>
              <a:t>(</a:t>
            </a:r>
            <a:r>
              <a:rPr lang="ko-KR" altLang="en-US" dirty="0"/>
              <a:t>중요도</a:t>
            </a:r>
            <a:r>
              <a:rPr lang="en-US" altLang="ko-KR" dirty="0"/>
              <a:t>)</a:t>
            </a:r>
            <a:r>
              <a:rPr lang="ko-KR" altLang="en-US" dirty="0"/>
              <a:t>를 곱하고 편향</a:t>
            </a:r>
            <a:r>
              <a:rPr lang="en-US" altLang="ko-KR" dirty="0"/>
              <a:t>(</a:t>
            </a:r>
            <a:r>
              <a:rPr lang="ko-KR" altLang="en-US" dirty="0"/>
              <a:t>기준치</a:t>
            </a:r>
            <a:r>
              <a:rPr lang="en-US" altLang="ko-KR" dirty="0"/>
              <a:t>)</a:t>
            </a:r>
            <a:r>
              <a:rPr lang="ko-KR" altLang="en-US" dirty="0"/>
              <a:t>을 더한 뒤</a:t>
            </a:r>
            <a:r>
              <a:rPr lang="en-US" altLang="ko-KR" dirty="0"/>
              <a:t>, </a:t>
            </a:r>
            <a:r>
              <a:rPr lang="ko-KR" altLang="en-US" dirty="0"/>
              <a:t>활성화 함수라는 스위치를 켭니다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/>
              <a:t>딥러닝의</a:t>
            </a:r>
            <a:r>
              <a:rPr lang="ko-KR" altLang="en-US" sz="2300" dirty="0"/>
              <a:t> 세포</a:t>
            </a:r>
            <a:r>
              <a:rPr lang="en-US" altLang="ko-KR" sz="2300" dirty="0"/>
              <a:t>: </a:t>
            </a:r>
            <a:r>
              <a:rPr lang="ko-KR" altLang="en-US" sz="2300" dirty="0" err="1"/>
              <a:t>퍼셉트론</a:t>
            </a:r>
            <a:r>
              <a:rPr lang="ko-KR" altLang="en-US" sz="2300" dirty="0"/>
              <a:t> </a:t>
            </a:r>
            <a:r>
              <a:rPr lang="en-US" altLang="ko-KR" sz="2300" dirty="0"/>
              <a:t>(Perceptron)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F3000F-1D18-456C-B4E9-B1671DF96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0633" y="4005064"/>
            <a:ext cx="1990725" cy="561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3805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데이터의 흐름</a:t>
            </a:r>
            <a:r>
              <a:rPr lang="en-US" altLang="ko-KR" sz="2300" dirty="0"/>
              <a:t>: </a:t>
            </a:r>
            <a:r>
              <a:rPr lang="ko-KR" altLang="en-US" sz="2300" dirty="0" err="1"/>
              <a:t>순전파</a:t>
            </a:r>
            <a:r>
              <a:rPr lang="ko-KR" altLang="en-US" sz="2300" dirty="0"/>
              <a:t> </a:t>
            </a:r>
            <a:r>
              <a:rPr lang="en-US" altLang="ko-KR" sz="2300" dirty="0"/>
              <a:t>(Forward Propagation)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9294AD6-EEF8-4FBF-B8E5-2BD6667455EB}"/>
              </a:ext>
            </a:extLst>
          </p:cNvPr>
          <p:cNvGrpSpPr/>
          <p:nvPr/>
        </p:nvGrpSpPr>
        <p:grpSpPr>
          <a:xfrm>
            <a:off x="468251" y="2175420"/>
            <a:ext cx="8207497" cy="3053780"/>
            <a:chOff x="571500" y="2175420"/>
            <a:chExt cx="11049148" cy="4111079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A0CBFBFF-4672-4729-8B82-59EDA915E503}"/>
                </a:ext>
              </a:extLst>
            </p:cNvPr>
            <p:cNvGrpSpPr/>
            <p:nvPr/>
          </p:nvGrpSpPr>
          <p:grpSpPr>
            <a:xfrm>
              <a:off x="571500" y="2175420"/>
              <a:ext cx="3492549" cy="4111079"/>
              <a:chOff x="571500" y="2175420"/>
              <a:chExt cx="3492549" cy="4111079"/>
            </a:xfrm>
          </p:grpSpPr>
          <p:pic>
            <p:nvPicPr>
              <p:cNvPr id="22" name="Google Shape;123;p16" descr="image.png">
                <a:extLst>
                  <a:ext uri="{FF2B5EF4-FFF2-40B4-BE49-F238E27FC236}">
                    <a16:creationId xmlns:a16="http://schemas.microsoft.com/office/drawing/2014/main" id="{E0082B95-432C-4DAB-92E3-3F2EA48B5E16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571500" y="2175420"/>
                <a:ext cx="3492549" cy="411107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127;p16" descr="image.png">
                <a:extLst>
                  <a:ext uri="{FF2B5EF4-FFF2-40B4-BE49-F238E27FC236}">
                    <a16:creationId xmlns:a16="http://schemas.microsoft.com/office/drawing/2014/main" id="{253B699F-AFE7-4FAB-83BB-46583BA5DECC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866775" y="2565945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" name="Google Shape;128;p16">
                <a:extLst>
                  <a:ext uri="{FF2B5EF4-FFF2-40B4-BE49-F238E27FC236}">
                    <a16:creationId xmlns:a16="http://schemas.microsoft.com/office/drawing/2014/main" id="{B5D7D567-3D59-4D79-B764-3897D7D08805}"/>
                  </a:ext>
                </a:extLst>
              </p:cNvPr>
              <p:cNvSpPr txBox="1"/>
              <p:nvPr/>
            </p:nvSpPr>
            <p:spPr>
              <a:xfrm>
                <a:off x="866775" y="3566070"/>
                <a:ext cx="3047099" cy="4039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1. </a:t>
                </a:r>
                <a:r>
                  <a:rPr lang="en-US" sz="1500" b="1" i="0" u="none" strike="noStrike" cap="none" dirty="0" err="1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입력</a:t>
                </a: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 (Input)</a:t>
                </a:r>
                <a:endParaRPr sz="1500" dirty="0"/>
              </a:p>
            </p:txBody>
          </p:sp>
          <p:sp>
            <p:nvSpPr>
              <p:cNvPr id="25" name="Google Shape;129;p16">
                <a:extLst>
                  <a:ext uri="{FF2B5EF4-FFF2-40B4-BE49-F238E27FC236}">
                    <a16:creationId xmlns:a16="http://schemas.microsoft.com/office/drawing/2014/main" id="{EA9D739A-B28C-4633-870E-C4A41CF3D46B}"/>
                  </a:ext>
                </a:extLst>
              </p:cNvPr>
              <p:cNvSpPr txBox="1"/>
              <p:nvPr/>
            </p:nvSpPr>
            <p:spPr>
              <a:xfrm>
                <a:off x="866775" y="4080420"/>
                <a:ext cx="2901998" cy="17236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6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이미지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텍스트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숫자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등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모델이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풀어야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할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문제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데이터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)가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신경망의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첫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번째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층으로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들어옵니다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  <a:endParaRPr sz="1300" dirty="0"/>
              </a:p>
            </p:txBody>
          </p:sp>
          <p:pic>
            <p:nvPicPr>
              <p:cNvPr id="26" name="Google Shape;136;p16" descr="image.png">
                <a:extLst>
                  <a:ext uri="{FF2B5EF4-FFF2-40B4-BE49-F238E27FC236}">
                    <a16:creationId xmlns:a16="http://schemas.microsoft.com/office/drawing/2014/main" id="{C0C869C7-0D16-496E-9B1A-B72EAEDD4F13}"/>
                  </a:ext>
                </a:extLst>
              </p:cNvPr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1033462" y="2732633"/>
                <a:ext cx="428625" cy="4286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79C24DA8-9AB1-497B-A148-FDB55E5294C6}"/>
                </a:ext>
              </a:extLst>
            </p:cNvPr>
            <p:cNvGrpSpPr/>
            <p:nvPr/>
          </p:nvGrpSpPr>
          <p:grpSpPr>
            <a:xfrm>
              <a:off x="4349799" y="2175420"/>
              <a:ext cx="3492549" cy="4111079"/>
              <a:chOff x="4349799" y="2175420"/>
              <a:chExt cx="3492549" cy="4111079"/>
            </a:xfrm>
          </p:grpSpPr>
          <p:pic>
            <p:nvPicPr>
              <p:cNvPr id="17" name="Google Shape;124;p16" descr="image.png">
                <a:extLst>
                  <a:ext uri="{FF2B5EF4-FFF2-40B4-BE49-F238E27FC236}">
                    <a16:creationId xmlns:a16="http://schemas.microsoft.com/office/drawing/2014/main" id="{FFC4154B-8F58-4A02-B241-03F9D0353D93}"/>
                  </a:ext>
                </a:extLst>
              </p:cNvPr>
              <p:cNvPicPr preferRelativeResize="0"/>
              <p:nvPr/>
            </p:nvPicPr>
            <p:blipFill rotWithShape="1">
              <a:blip r:embed="rId6">
                <a:alphaModFix/>
              </a:blip>
              <a:srcRect/>
              <a:stretch/>
            </p:blipFill>
            <p:spPr>
              <a:xfrm>
                <a:off x="4349799" y="2175420"/>
                <a:ext cx="3492549" cy="411107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30;p16" descr="image.png">
                <a:extLst>
                  <a:ext uri="{FF2B5EF4-FFF2-40B4-BE49-F238E27FC236}">
                    <a16:creationId xmlns:a16="http://schemas.microsoft.com/office/drawing/2014/main" id="{FC688D05-8B6B-4106-9DF4-A2BF5274B04B}"/>
                  </a:ext>
                </a:extLst>
              </p:cNvPr>
              <p:cNvPicPr preferRelativeResize="0"/>
              <p:nvPr/>
            </p:nvPicPr>
            <p:blipFill rotWithShape="1">
              <a:blip r:embed="rId7">
                <a:alphaModFix/>
              </a:blip>
              <a:srcRect/>
              <a:stretch/>
            </p:blipFill>
            <p:spPr>
              <a:xfrm>
                <a:off x="4645074" y="2565945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9" name="Google Shape;131;p16">
                <a:extLst>
                  <a:ext uri="{FF2B5EF4-FFF2-40B4-BE49-F238E27FC236}">
                    <a16:creationId xmlns:a16="http://schemas.microsoft.com/office/drawing/2014/main" id="{498381E3-15AF-41AE-81CB-6D63EC98E523}"/>
                  </a:ext>
                </a:extLst>
              </p:cNvPr>
              <p:cNvSpPr txBox="1"/>
              <p:nvPr/>
            </p:nvSpPr>
            <p:spPr>
              <a:xfrm>
                <a:off x="4645074" y="3566070"/>
                <a:ext cx="3047099" cy="4039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2. </a:t>
                </a:r>
                <a:r>
                  <a:rPr lang="en-US" sz="1500" b="1" i="0" u="none" strike="noStrike" cap="none" dirty="0" err="1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연산</a:t>
                </a: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 (Compute)</a:t>
                </a:r>
                <a:endParaRPr sz="1500" dirty="0"/>
              </a:p>
            </p:txBody>
          </p:sp>
          <p:sp>
            <p:nvSpPr>
              <p:cNvPr id="20" name="Google Shape;132;p16">
                <a:extLst>
                  <a:ext uri="{FF2B5EF4-FFF2-40B4-BE49-F238E27FC236}">
                    <a16:creationId xmlns:a16="http://schemas.microsoft.com/office/drawing/2014/main" id="{FB092D03-CFB0-4B46-A2DA-0987DA8D5613}"/>
                  </a:ext>
                </a:extLst>
              </p:cNvPr>
              <p:cNvSpPr txBox="1"/>
              <p:nvPr/>
            </p:nvSpPr>
            <p:spPr>
              <a:xfrm>
                <a:off x="4645074" y="4080420"/>
                <a:ext cx="2901998" cy="17236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6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각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층을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통과하며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입력값에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가중치가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곱해지고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활성화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함수를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통해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데이터의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특징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패턴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)이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추출됩니다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  <a:endParaRPr sz="1300" dirty="0"/>
              </a:p>
            </p:txBody>
          </p:sp>
          <p:pic>
            <p:nvPicPr>
              <p:cNvPr id="21" name="Google Shape;137;p16" descr="image.png">
                <a:extLst>
                  <a:ext uri="{FF2B5EF4-FFF2-40B4-BE49-F238E27FC236}">
                    <a16:creationId xmlns:a16="http://schemas.microsoft.com/office/drawing/2014/main" id="{BB52502D-6149-40B4-9C7B-3026411CB48E}"/>
                  </a:ext>
                </a:extLst>
              </p:cNvPr>
              <p:cNvPicPr preferRelativeResize="0"/>
              <p:nvPr/>
            </p:nvPicPr>
            <p:blipFill rotWithShape="1">
              <a:blip r:embed="rId8">
                <a:alphaModFix/>
              </a:blip>
              <a:srcRect/>
              <a:stretch/>
            </p:blipFill>
            <p:spPr>
              <a:xfrm>
                <a:off x="4759374" y="2732633"/>
                <a:ext cx="533400" cy="4286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4AEFF7FB-6A36-4516-86C7-38F9FEB18AAA}"/>
                </a:ext>
              </a:extLst>
            </p:cNvPr>
            <p:cNvGrpSpPr/>
            <p:nvPr/>
          </p:nvGrpSpPr>
          <p:grpSpPr>
            <a:xfrm>
              <a:off x="8128099" y="2175420"/>
              <a:ext cx="3492549" cy="4111079"/>
              <a:chOff x="8128099" y="2175420"/>
              <a:chExt cx="3492549" cy="4111079"/>
            </a:xfrm>
          </p:grpSpPr>
          <p:pic>
            <p:nvPicPr>
              <p:cNvPr id="12" name="Google Shape;125;p16" descr="image.png">
                <a:extLst>
                  <a:ext uri="{FF2B5EF4-FFF2-40B4-BE49-F238E27FC236}">
                    <a16:creationId xmlns:a16="http://schemas.microsoft.com/office/drawing/2014/main" id="{AADAA898-0D6A-4D64-B01E-F021634F5F04}"/>
                  </a:ext>
                </a:extLst>
              </p:cNvPr>
              <p:cNvPicPr preferRelativeResize="0"/>
              <p:nvPr/>
            </p:nvPicPr>
            <p:blipFill rotWithShape="1">
              <a:blip r:embed="rId9">
                <a:alphaModFix/>
              </a:blip>
              <a:srcRect/>
              <a:stretch/>
            </p:blipFill>
            <p:spPr>
              <a:xfrm>
                <a:off x="8128099" y="2175420"/>
                <a:ext cx="3492549" cy="411107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3;p16" descr="image.png">
                <a:extLst>
                  <a:ext uri="{FF2B5EF4-FFF2-40B4-BE49-F238E27FC236}">
                    <a16:creationId xmlns:a16="http://schemas.microsoft.com/office/drawing/2014/main" id="{E801D3D4-BA52-4C4E-B6B4-42B3C78CCDA6}"/>
                  </a:ext>
                </a:extLst>
              </p:cNvPr>
              <p:cNvPicPr preferRelativeResize="0"/>
              <p:nvPr/>
            </p:nvPicPr>
            <p:blipFill rotWithShape="1">
              <a:blip r:embed="rId10">
                <a:alphaModFix/>
              </a:blip>
              <a:srcRect/>
              <a:stretch/>
            </p:blipFill>
            <p:spPr>
              <a:xfrm>
                <a:off x="8423374" y="2565945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4" name="Google Shape;134;p16">
                <a:extLst>
                  <a:ext uri="{FF2B5EF4-FFF2-40B4-BE49-F238E27FC236}">
                    <a16:creationId xmlns:a16="http://schemas.microsoft.com/office/drawing/2014/main" id="{24CC8AB9-374B-4A58-B6D6-38B2A83C4016}"/>
                  </a:ext>
                </a:extLst>
              </p:cNvPr>
              <p:cNvSpPr txBox="1"/>
              <p:nvPr/>
            </p:nvSpPr>
            <p:spPr>
              <a:xfrm>
                <a:off x="8423374" y="3566070"/>
                <a:ext cx="3047099" cy="4039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3. </a:t>
                </a:r>
                <a:r>
                  <a:rPr lang="en-US" sz="1500" b="1" i="0" u="none" strike="noStrike" cap="none" dirty="0" err="1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예측</a:t>
                </a:r>
                <a:r>
                  <a:rPr lang="en-US" sz="1500" b="1" i="0" u="none" strike="noStrike" cap="none" dirty="0">
                    <a:solidFill>
                      <a:srgbClr val="F9FAFB"/>
                    </a:solidFill>
                    <a:latin typeface="Arial"/>
                    <a:ea typeface="Arial"/>
                    <a:cs typeface="Arial"/>
                    <a:sym typeface="Arial"/>
                  </a:rPr>
                  <a:t> (Output)</a:t>
                </a:r>
                <a:endParaRPr sz="1500" dirty="0"/>
              </a:p>
            </p:txBody>
          </p:sp>
          <p:sp>
            <p:nvSpPr>
              <p:cNvPr id="15" name="Google Shape;135;p16">
                <a:extLst>
                  <a:ext uri="{FF2B5EF4-FFF2-40B4-BE49-F238E27FC236}">
                    <a16:creationId xmlns:a16="http://schemas.microsoft.com/office/drawing/2014/main" id="{DCBCD4D3-0595-4EFC-BF01-352CAA741E69}"/>
                  </a:ext>
                </a:extLst>
              </p:cNvPr>
              <p:cNvSpPr txBox="1"/>
              <p:nvPr/>
            </p:nvSpPr>
            <p:spPr>
              <a:xfrm>
                <a:off x="8423374" y="4080420"/>
                <a:ext cx="2901998" cy="17236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6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마지막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층을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통과하여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최종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결과물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(예: "이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사진은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90%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확률로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고양이입니다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")을 </a:t>
                </a:r>
                <a:r>
                  <a:rPr lang="en-US" sz="1300" b="0" i="0" u="none" strike="noStrike" cap="none" dirty="0" err="1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도출합니다</a:t>
                </a:r>
                <a:r>
                  <a:rPr lang="en-US" sz="1300" b="0" i="0" u="none" strike="noStrike" cap="none" dirty="0">
                    <a:solidFill>
                      <a:srgbClr val="D1D5DB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  <a:endParaRPr sz="1300" dirty="0"/>
              </a:p>
            </p:txBody>
          </p:sp>
          <p:pic>
            <p:nvPicPr>
              <p:cNvPr id="16" name="Google Shape;138;p16" descr="image.png">
                <a:extLst>
                  <a:ext uri="{FF2B5EF4-FFF2-40B4-BE49-F238E27FC236}">
                    <a16:creationId xmlns:a16="http://schemas.microsoft.com/office/drawing/2014/main" id="{F590C14B-364E-4C25-9F2E-605E8AB51831}"/>
                  </a:ext>
                </a:extLst>
              </p:cNvPr>
              <p:cNvPicPr preferRelativeResize="0"/>
              <p:nvPr/>
            </p:nvPicPr>
            <p:blipFill rotWithShape="1">
              <a:blip r:embed="rId11">
                <a:alphaModFix/>
              </a:blip>
              <a:srcRect/>
              <a:stretch/>
            </p:blipFill>
            <p:spPr>
              <a:xfrm>
                <a:off x="8618636" y="2732633"/>
                <a:ext cx="371475" cy="4286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  <p:extLst>
      <p:ext uri="{BB962C8B-B14F-4D97-AF65-F5344CB8AC3E}">
        <p14:creationId xmlns:p14="http://schemas.microsoft.com/office/powerpoint/2010/main" val="1748344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순전파를 통해 나온 </a:t>
            </a:r>
            <a:r>
              <a:rPr lang="ko-KR" altLang="en-US" dirty="0" err="1"/>
              <a:t>예측값이</a:t>
            </a:r>
            <a:r>
              <a:rPr lang="ko-KR" altLang="en-US" dirty="0"/>
              <a:t> 실제 정답과 얼마나 차이가 나는지</a:t>
            </a:r>
            <a:r>
              <a:rPr lang="en-US" altLang="ko-KR" dirty="0"/>
              <a:t>(</a:t>
            </a:r>
            <a:r>
              <a:rPr lang="ko-KR" altLang="en-US" dirty="0"/>
              <a:t>오차</a:t>
            </a:r>
            <a:r>
              <a:rPr lang="en-US" altLang="ko-KR" dirty="0"/>
              <a:t>)</a:t>
            </a:r>
            <a:r>
              <a:rPr lang="ko-KR" altLang="en-US" dirty="0"/>
              <a:t>를 채점하는 과정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회귀</a:t>
            </a:r>
            <a:r>
              <a:rPr lang="en-US" altLang="ko-KR" dirty="0"/>
              <a:t>(</a:t>
            </a:r>
            <a:r>
              <a:rPr lang="ko-KR" altLang="en-US" dirty="0"/>
              <a:t>숫자 예측</a:t>
            </a:r>
            <a:r>
              <a:rPr lang="en-US" altLang="ko-KR" dirty="0"/>
              <a:t>): MSE (</a:t>
            </a:r>
            <a:r>
              <a:rPr lang="ko-KR" altLang="en-US" dirty="0"/>
              <a:t>평균 제곱 오차</a:t>
            </a:r>
            <a:r>
              <a:rPr lang="en-US" altLang="ko-KR" dirty="0"/>
              <a:t>)</a:t>
            </a:r>
            <a:r>
              <a:rPr lang="ko-KR" altLang="en-US" dirty="0"/>
              <a:t>를 주로 사용합니다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분류</a:t>
            </a:r>
            <a:r>
              <a:rPr lang="en-US" altLang="ko-KR" dirty="0"/>
              <a:t>(</a:t>
            </a:r>
            <a:r>
              <a:rPr lang="ko-KR" altLang="en-US" dirty="0"/>
              <a:t>종류 예측</a:t>
            </a:r>
            <a:r>
              <a:rPr lang="en-US" altLang="ko-KR" dirty="0"/>
              <a:t>): Cross Entropy (</a:t>
            </a:r>
            <a:r>
              <a:rPr lang="ko-KR" altLang="en-US" dirty="0"/>
              <a:t>교차 엔트로피</a:t>
            </a:r>
            <a:r>
              <a:rPr lang="en-US" altLang="ko-KR" dirty="0"/>
              <a:t>)</a:t>
            </a:r>
            <a:r>
              <a:rPr lang="ko-KR" altLang="en-US" dirty="0"/>
              <a:t>를 주로 사용합니다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손실 함수 </a:t>
            </a:r>
            <a:r>
              <a:rPr lang="en-US" altLang="ko-KR" sz="2300" dirty="0"/>
              <a:t>(Loss Function)</a:t>
            </a:r>
          </a:p>
        </p:txBody>
      </p:sp>
    </p:spTree>
    <p:extLst>
      <p:ext uri="{BB962C8B-B14F-4D97-AF65-F5344CB8AC3E}">
        <p14:creationId xmlns:p14="http://schemas.microsoft.com/office/powerpoint/2010/main" val="1693246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출력층에서 발생한 </a:t>
            </a:r>
            <a:r>
              <a:rPr lang="en-US" altLang="ko-KR" dirty="0"/>
              <a:t>'</a:t>
            </a:r>
            <a:r>
              <a:rPr lang="ko-KR" altLang="en-US" dirty="0"/>
              <a:t>최종 오차</a:t>
            </a:r>
            <a:r>
              <a:rPr lang="en-US" altLang="ko-KR" dirty="0"/>
              <a:t>'</a:t>
            </a:r>
            <a:r>
              <a:rPr lang="ko-KR" altLang="en-US" dirty="0"/>
              <a:t>에서부터 거꾸로</a:t>
            </a:r>
            <a:r>
              <a:rPr lang="en-US" altLang="ko-KR" dirty="0"/>
              <a:t>(</a:t>
            </a:r>
            <a:r>
              <a:rPr lang="ko-KR" altLang="en-US" dirty="0"/>
              <a:t>역방향으로</a:t>
            </a:r>
            <a:r>
              <a:rPr lang="en-US" altLang="ko-KR" dirty="0"/>
              <a:t>) </a:t>
            </a:r>
            <a:r>
              <a:rPr lang="ko-KR" altLang="en-US" dirty="0"/>
              <a:t>되돌아가며</a:t>
            </a:r>
            <a:r>
              <a:rPr lang="en-US" altLang="ko-KR" dirty="0"/>
              <a:t>, "</a:t>
            </a:r>
            <a:r>
              <a:rPr lang="ko-KR" altLang="en-US" dirty="0"/>
              <a:t>어떤 가중치가 이 오차에 가장 큰 원인을 제공했는가</a:t>
            </a:r>
            <a:r>
              <a:rPr lang="en-US" altLang="ko-KR" dirty="0"/>
              <a:t>?"</a:t>
            </a:r>
            <a:r>
              <a:rPr lang="ko-KR" altLang="en-US" dirty="0"/>
              <a:t>를 추적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찾아낸 기울기를 바탕으로</a:t>
            </a:r>
            <a:r>
              <a:rPr lang="en-US" altLang="ko-KR" dirty="0"/>
              <a:t>, </a:t>
            </a:r>
            <a:r>
              <a:rPr lang="ko-KR" altLang="en-US" dirty="0"/>
              <a:t>오차를 줄이는 방향으로 가중치</a:t>
            </a:r>
            <a:r>
              <a:rPr lang="en-US" altLang="ko-KR" dirty="0"/>
              <a:t>(Weight)</a:t>
            </a:r>
            <a:r>
              <a:rPr lang="ko-KR" altLang="en-US" dirty="0"/>
              <a:t>와 편향</a:t>
            </a:r>
            <a:r>
              <a:rPr lang="en-US" altLang="ko-KR" dirty="0"/>
              <a:t>(Bias)</a:t>
            </a:r>
            <a:r>
              <a:rPr lang="ko-KR" altLang="en-US" dirty="0"/>
              <a:t>의 값을 미세하게 수정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/>
              <a:t>역전파</a:t>
            </a:r>
            <a:r>
              <a:rPr lang="ko-KR" altLang="en-US" sz="2300" dirty="0"/>
              <a:t> </a:t>
            </a:r>
            <a:r>
              <a:rPr lang="en-US" altLang="ko-KR" sz="2300" dirty="0"/>
              <a:t>(Backpropagation)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177724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Batch Size (</a:t>
            </a:r>
            <a:r>
              <a:rPr lang="ko-KR" altLang="en-US" dirty="0"/>
              <a:t>배치 크기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ko-KR" altLang="en-US" dirty="0"/>
              <a:t>한 번에 몇 </a:t>
            </a:r>
            <a:r>
              <a:rPr lang="ko-KR" altLang="en-US" dirty="0" err="1"/>
              <a:t>문제씩</a:t>
            </a:r>
            <a:r>
              <a:rPr lang="ko-KR" altLang="en-US" dirty="0"/>
              <a:t> 풀고 정답을 맞혀볼</a:t>
            </a:r>
            <a:r>
              <a:rPr lang="en-US" altLang="ko-KR" dirty="0"/>
              <a:t>(</a:t>
            </a:r>
            <a:r>
              <a:rPr lang="ko-KR" altLang="en-US" dirty="0"/>
              <a:t>채점할</a:t>
            </a:r>
            <a:r>
              <a:rPr lang="en-US" altLang="ko-KR" dirty="0"/>
              <a:t>) </a:t>
            </a:r>
            <a:r>
              <a:rPr lang="ko-KR" altLang="en-US" dirty="0"/>
              <a:t>것인가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en-US" altLang="ko-KR" dirty="0"/>
              <a:t> (</a:t>
            </a:r>
            <a:r>
              <a:rPr lang="ko-KR" altLang="en-US" dirty="0"/>
              <a:t>예</a:t>
            </a:r>
            <a:r>
              <a:rPr lang="en-US" altLang="ko-KR" dirty="0"/>
              <a:t>: Batch Size=100 </a:t>
            </a:r>
            <a:r>
              <a:rPr lang="ko-KR" altLang="en-US" dirty="0"/>
              <a:t>이면</a:t>
            </a:r>
            <a:r>
              <a:rPr lang="en-US" altLang="ko-KR" dirty="0"/>
              <a:t>, 100</a:t>
            </a:r>
            <a:r>
              <a:rPr lang="ko-KR" altLang="en-US" dirty="0"/>
              <a:t>문제 풀고 오답노트 정리 후 가중치 업데이트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Epoch (</a:t>
            </a:r>
            <a:r>
              <a:rPr lang="ko-KR" altLang="en-US" dirty="0" err="1"/>
              <a:t>에폭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altLang="ko-KR" dirty="0"/>
              <a:t>10,000</a:t>
            </a:r>
            <a:r>
              <a:rPr lang="ko-KR" altLang="en-US" dirty="0" err="1"/>
              <a:t>문제짜리</a:t>
            </a:r>
            <a:r>
              <a:rPr lang="ko-KR" altLang="en-US" dirty="0"/>
              <a:t> 문제집 전체를 처음부터 끝까지 몇 번 반복해서 풀 것인가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en-US" altLang="ko-KR" dirty="0"/>
              <a:t> (</a:t>
            </a:r>
            <a:r>
              <a:rPr lang="ko-KR" altLang="en-US" dirty="0"/>
              <a:t>예</a:t>
            </a:r>
            <a:r>
              <a:rPr lang="en-US" altLang="ko-KR" dirty="0"/>
              <a:t>: Epoch=3 </a:t>
            </a:r>
            <a:r>
              <a:rPr lang="ko-KR" altLang="en-US" dirty="0"/>
              <a:t>이면</a:t>
            </a:r>
            <a:r>
              <a:rPr lang="en-US" altLang="ko-KR" dirty="0"/>
              <a:t>, "</a:t>
            </a:r>
            <a:r>
              <a:rPr lang="ko-KR" altLang="en-US" dirty="0"/>
              <a:t>나 이 문제집 </a:t>
            </a:r>
            <a:r>
              <a:rPr lang="en-US" altLang="ko-KR" dirty="0"/>
              <a:t>3</a:t>
            </a:r>
            <a:r>
              <a:rPr lang="ko-KR" altLang="en-US" dirty="0"/>
              <a:t>회 </a:t>
            </a:r>
            <a:r>
              <a:rPr lang="ko-KR" altLang="en-US" dirty="0" err="1"/>
              <a:t>했어</a:t>
            </a:r>
            <a:r>
              <a:rPr lang="en-US" altLang="ko-KR" dirty="0"/>
              <a:t>!" </a:t>
            </a:r>
            <a:r>
              <a:rPr lang="ko-KR" altLang="en-US" dirty="0"/>
              <a:t>라는 의미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학습의 단위</a:t>
            </a:r>
            <a:r>
              <a:rPr lang="en-US" altLang="ko-KR" sz="2300" dirty="0"/>
              <a:t>: Epoch &amp; Batch Size</a:t>
            </a:r>
          </a:p>
        </p:txBody>
      </p:sp>
    </p:spTree>
    <p:extLst>
      <p:ext uri="{BB962C8B-B14F-4D97-AF65-F5344CB8AC3E}">
        <p14:creationId xmlns:p14="http://schemas.microsoft.com/office/powerpoint/2010/main" val="3623149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500" b="1" dirty="0" err="1">
                <a:solidFill>
                  <a:schemeClr val="bg1"/>
                </a:solidFill>
              </a:rPr>
              <a:t>PyTorch</a:t>
            </a:r>
            <a:endParaRPr lang="ko-KR" altLang="en-US" sz="3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4643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텐서는</a:t>
            </a:r>
            <a:r>
              <a:rPr lang="ko-KR" altLang="en-US" dirty="0"/>
              <a:t> 복잡한 숫자를 체계적으로 담는 다차원 엑셀 표와 같습니다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차원은 익숙한 </a:t>
            </a:r>
            <a:r>
              <a:rPr lang="ko-KR" altLang="en-US" dirty="0" err="1"/>
              <a:t>파이썬의</a:t>
            </a:r>
            <a:r>
              <a:rPr lang="ko-KR" altLang="en-US" dirty="0"/>
              <a:t> 리스트</a:t>
            </a:r>
            <a:r>
              <a:rPr lang="en-US" altLang="ko-KR" dirty="0"/>
              <a:t>, 2</a:t>
            </a:r>
            <a:r>
              <a:rPr lang="ko-KR" altLang="en-US" dirty="0"/>
              <a:t>차원은 표</a:t>
            </a:r>
            <a:r>
              <a:rPr lang="en-US" altLang="ko-KR" dirty="0"/>
              <a:t>(</a:t>
            </a:r>
            <a:r>
              <a:rPr lang="ko-KR" altLang="en-US" dirty="0"/>
              <a:t>행렬</a:t>
            </a:r>
            <a:r>
              <a:rPr lang="en-US" altLang="ko-KR" dirty="0"/>
              <a:t>)</a:t>
            </a:r>
            <a:r>
              <a:rPr lang="ko-KR" altLang="en-US" dirty="0"/>
              <a:t>로 이해하면 매우 쉽습니다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파이토치는</a:t>
            </a:r>
            <a:r>
              <a:rPr lang="ko-KR" altLang="en-US" dirty="0"/>
              <a:t> 이 </a:t>
            </a:r>
            <a:r>
              <a:rPr lang="ko-KR" altLang="en-US" dirty="0" err="1"/>
              <a:t>텐서들을</a:t>
            </a:r>
            <a:r>
              <a:rPr lang="ko-KR" altLang="en-US" dirty="0"/>
              <a:t> 이용해 마치 레고 블록을 조립하듯 직관적으로 딥러닝 모델을 구축합니다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/>
              <a:t>텐서</a:t>
            </a:r>
            <a:r>
              <a:rPr lang="en-US" altLang="ko-KR" sz="2300" dirty="0"/>
              <a:t>(Tensor)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295115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학습 루프 </a:t>
            </a:r>
            <a:r>
              <a:rPr lang="en-US" altLang="ko-KR" sz="2300" dirty="0"/>
              <a:t>5</a:t>
            </a:r>
            <a:r>
              <a:rPr lang="ko-KR" altLang="en-US" sz="2300" dirty="0"/>
              <a:t>단계 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CA77156F-E269-4FFF-B651-ECE07195A64F}"/>
              </a:ext>
            </a:extLst>
          </p:cNvPr>
          <p:cNvGrpSpPr/>
          <p:nvPr/>
        </p:nvGrpSpPr>
        <p:grpSpPr>
          <a:xfrm>
            <a:off x="276051" y="1957644"/>
            <a:ext cx="4223941" cy="1910259"/>
            <a:chOff x="476250" y="1374725"/>
            <a:chExt cx="5500687" cy="2487662"/>
          </a:xfrm>
        </p:grpSpPr>
        <p:pic>
          <p:nvPicPr>
            <p:cNvPr id="34" name="Google Shape;103;p15" descr="image.png">
              <a:extLst>
                <a:ext uri="{FF2B5EF4-FFF2-40B4-BE49-F238E27FC236}">
                  <a16:creationId xmlns:a16="http://schemas.microsoft.com/office/drawing/2014/main" id="{0ABE7A50-DD00-42C1-9338-05B114FEF8BB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476250" y="1374725"/>
              <a:ext cx="5500687" cy="24876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" name="Google Shape;108;p15">
              <a:extLst>
                <a:ext uri="{FF2B5EF4-FFF2-40B4-BE49-F238E27FC236}">
                  <a16:creationId xmlns:a16="http://schemas.microsoft.com/office/drawing/2014/main" id="{D00C01FB-ADF4-4FD9-918D-9441EEDF0B77}"/>
                </a:ext>
              </a:extLst>
            </p:cNvPr>
            <p:cNvSpPr txBox="1"/>
            <p:nvPr/>
          </p:nvSpPr>
          <p:spPr>
            <a:xfrm>
              <a:off x="809624" y="2634405"/>
              <a:ext cx="4833937" cy="11543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992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model(x)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로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예측값을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출력하고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, </a:t>
              </a:r>
              <a:r>
                <a:rPr lang="en-US" sz="1200" b="1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criterion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손실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함수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)을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통해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모델의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정답과의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오차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(Loss)를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정확히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계산합니다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.</a:t>
              </a:r>
              <a:endParaRPr sz="1200" dirty="0"/>
            </a:p>
          </p:txBody>
        </p:sp>
        <p:pic>
          <p:nvPicPr>
            <p:cNvPr id="36" name="Google Shape;112;p15" descr="image.png">
              <a:extLst>
                <a:ext uri="{FF2B5EF4-FFF2-40B4-BE49-F238E27FC236}">
                  <a16:creationId xmlns:a16="http://schemas.microsoft.com/office/drawing/2014/main" id="{B7E98044-8251-4BFC-9648-99672A7B9B4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072062" y="1827162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7" name="Google Shape;116;p15">
              <a:extLst>
                <a:ext uri="{FF2B5EF4-FFF2-40B4-BE49-F238E27FC236}">
                  <a16:creationId xmlns:a16="http://schemas.microsoft.com/office/drawing/2014/main" id="{4CA4BE6E-1344-403C-AF7D-059CE5D44983}"/>
                </a:ext>
              </a:extLst>
            </p:cNvPr>
            <p:cNvSpPr txBox="1"/>
            <p:nvPr/>
          </p:nvSpPr>
          <p:spPr>
            <a:xfrm>
              <a:off x="809624" y="1602897"/>
              <a:ext cx="1476376" cy="4809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 dirty="0">
                  <a:solidFill>
                    <a:srgbClr val="DEFF9A"/>
                  </a:solidFill>
                  <a:latin typeface="Urbanist"/>
                  <a:ea typeface="Urbanist"/>
                  <a:cs typeface="Urbanist"/>
                  <a:sym typeface="Urbanist"/>
                </a:rPr>
                <a:t>Step 1 &amp; 2</a:t>
              </a:r>
              <a:endParaRPr sz="1500" dirty="0"/>
            </a:p>
          </p:txBody>
        </p:sp>
        <p:sp>
          <p:nvSpPr>
            <p:cNvPr id="38" name="Google Shape;117;p15">
              <a:extLst>
                <a:ext uri="{FF2B5EF4-FFF2-40B4-BE49-F238E27FC236}">
                  <a16:creationId xmlns:a16="http://schemas.microsoft.com/office/drawing/2014/main" id="{D8914DA5-DC74-4E1E-92FF-EF4B92BF7DB3}"/>
                </a:ext>
              </a:extLst>
            </p:cNvPr>
            <p:cNvSpPr txBox="1"/>
            <p:nvPr/>
          </p:nvSpPr>
          <p:spPr>
            <a:xfrm>
              <a:off x="809624" y="2165538"/>
              <a:ext cx="1980606" cy="4168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예측</a:t>
              </a:r>
              <a:r>
                <a:rPr lang="en-US" sz="13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및 </a:t>
              </a: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오차</a:t>
              </a:r>
              <a:r>
                <a:rPr lang="en-US" sz="13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계산</a:t>
              </a:r>
              <a:endParaRPr sz="1300" dirty="0"/>
            </a:p>
          </p:txBody>
        </p:sp>
        <p:pic>
          <p:nvPicPr>
            <p:cNvPr id="39" name="Google Shape;118;p15" descr="image.png">
              <a:extLst>
                <a:ext uri="{FF2B5EF4-FFF2-40B4-BE49-F238E27FC236}">
                  <a16:creationId xmlns:a16="http://schemas.microsoft.com/office/drawing/2014/main" id="{7E2A1B92-6E41-4735-B42E-4FCA5B8C7A3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229225" y="1998612"/>
              <a:ext cx="257175" cy="228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306C508-DE34-4377-84B3-66294B7BCBA3}"/>
              </a:ext>
            </a:extLst>
          </p:cNvPr>
          <p:cNvGrpSpPr/>
          <p:nvPr/>
        </p:nvGrpSpPr>
        <p:grpSpPr>
          <a:xfrm>
            <a:off x="4644008" y="1949039"/>
            <a:ext cx="4223941" cy="1910259"/>
            <a:chOff x="6215062" y="1374726"/>
            <a:chExt cx="5500686" cy="2487662"/>
          </a:xfrm>
        </p:grpSpPr>
        <p:pic>
          <p:nvPicPr>
            <p:cNvPr id="41" name="Google Shape;104;p15" descr="image.png">
              <a:extLst>
                <a:ext uri="{FF2B5EF4-FFF2-40B4-BE49-F238E27FC236}">
                  <a16:creationId xmlns:a16="http://schemas.microsoft.com/office/drawing/2014/main" id="{B45E80C2-4F3F-4EB0-9315-1D41A40B8EF2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215062" y="1374726"/>
              <a:ext cx="5500686" cy="24876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2" name="Google Shape;109;p15">
              <a:extLst>
                <a:ext uri="{FF2B5EF4-FFF2-40B4-BE49-F238E27FC236}">
                  <a16:creationId xmlns:a16="http://schemas.microsoft.com/office/drawing/2014/main" id="{52B1EF67-2ED2-4E20-B529-C3C238023014}"/>
                </a:ext>
              </a:extLst>
            </p:cNvPr>
            <p:cNvSpPr txBox="1"/>
            <p:nvPr/>
          </p:nvSpPr>
          <p:spPr>
            <a:xfrm>
              <a:off x="6548436" y="2616570"/>
              <a:ext cx="4833937" cy="11543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992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optimizer.zero_grad</a:t>
              </a:r>
              <a:r>
                <a:rPr lang="en-US" sz="1200" b="1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()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를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호출하여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이전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루프의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기울기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값이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현재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계산에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누적되지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않도록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매번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백지화합니다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. (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가장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흔한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실수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!)</a:t>
              </a:r>
              <a:endParaRPr sz="1200" dirty="0"/>
            </a:p>
          </p:txBody>
        </p:sp>
        <p:pic>
          <p:nvPicPr>
            <p:cNvPr id="43" name="Google Shape;113;p15" descr="image.png">
              <a:extLst>
                <a:ext uri="{FF2B5EF4-FFF2-40B4-BE49-F238E27FC236}">
                  <a16:creationId xmlns:a16="http://schemas.microsoft.com/office/drawing/2014/main" id="{7810E872-EC76-46BD-AE3F-BCAA0BD9AFDF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10810875" y="1827162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Google Shape;119;p15">
              <a:extLst>
                <a:ext uri="{FF2B5EF4-FFF2-40B4-BE49-F238E27FC236}">
                  <a16:creationId xmlns:a16="http://schemas.microsoft.com/office/drawing/2014/main" id="{117834D3-A17A-40B5-B112-B75D15DE54F2}"/>
                </a:ext>
              </a:extLst>
            </p:cNvPr>
            <p:cNvSpPr txBox="1"/>
            <p:nvPr/>
          </p:nvSpPr>
          <p:spPr>
            <a:xfrm>
              <a:off x="6548436" y="1602004"/>
              <a:ext cx="1190625" cy="4809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 dirty="0">
                  <a:solidFill>
                    <a:srgbClr val="DEFF9A"/>
                  </a:solidFill>
                  <a:latin typeface="Urbanist"/>
                  <a:ea typeface="Urbanist"/>
                  <a:cs typeface="Urbanist"/>
                  <a:sym typeface="Urbanist"/>
                </a:rPr>
                <a:t>Step 3</a:t>
              </a:r>
              <a:endParaRPr sz="1500" dirty="0"/>
            </a:p>
          </p:txBody>
        </p:sp>
        <p:sp>
          <p:nvSpPr>
            <p:cNvPr id="45" name="Google Shape;120;p15">
              <a:extLst>
                <a:ext uri="{FF2B5EF4-FFF2-40B4-BE49-F238E27FC236}">
                  <a16:creationId xmlns:a16="http://schemas.microsoft.com/office/drawing/2014/main" id="{EE7A8EFD-9777-48C1-91B2-01ED0EAC6E10}"/>
                </a:ext>
              </a:extLst>
            </p:cNvPr>
            <p:cNvSpPr txBox="1"/>
            <p:nvPr/>
          </p:nvSpPr>
          <p:spPr>
            <a:xfrm>
              <a:off x="6548436" y="2176745"/>
              <a:ext cx="2502993" cy="4168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기울기</a:t>
              </a:r>
              <a:r>
                <a:rPr lang="en-US" sz="13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초기화</a:t>
              </a:r>
              <a:endParaRPr sz="1300" dirty="0"/>
            </a:p>
          </p:txBody>
        </p:sp>
        <p:pic>
          <p:nvPicPr>
            <p:cNvPr id="46" name="Google Shape;121;p15" descr="image.png">
              <a:extLst>
                <a:ext uri="{FF2B5EF4-FFF2-40B4-BE49-F238E27FC236}">
                  <a16:creationId xmlns:a16="http://schemas.microsoft.com/office/drawing/2014/main" id="{58CFE69D-FA7B-4645-8639-2F112EB14941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10968037" y="1998612"/>
              <a:ext cx="257175" cy="228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434B7A76-87CC-40E2-AA47-74BFA923990A}"/>
              </a:ext>
            </a:extLst>
          </p:cNvPr>
          <p:cNvGrpSpPr/>
          <p:nvPr/>
        </p:nvGrpSpPr>
        <p:grpSpPr>
          <a:xfrm>
            <a:off x="276051" y="4026455"/>
            <a:ext cx="4223941" cy="1910259"/>
            <a:chOff x="476250" y="4100512"/>
            <a:chExt cx="5500687" cy="2487662"/>
          </a:xfrm>
        </p:grpSpPr>
        <p:pic>
          <p:nvPicPr>
            <p:cNvPr id="48" name="Google Shape;105;p15" descr="image.png">
              <a:extLst>
                <a:ext uri="{FF2B5EF4-FFF2-40B4-BE49-F238E27FC236}">
                  <a16:creationId xmlns:a16="http://schemas.microsoft.com/office/drawing/2014/main" id="{D4991118-1130-4804-9FBD-3A312FBFE380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476250" y="4100512"/>
              <a:ext cx="5500687" cy="24876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9" name="Google Shape;110;p15">
              <a:extLst>
                <a:ext uri="{FF2B5EF4-FFF2-40B4-BE49-F238E27FC236}">
                  <a16:creationId xmlns:a16="http://schemas.microsoft.com/office/drawing/2014/main" id="{11609ACF-C1B6-4002-A033-5383F03BBDC3}"/>
                </a:ext>
              </a:extLst>
            </p:cNvPr>
            <p:cNvSpPr txBox="1"/>
            <p:nvPr/>
          </p:nvSpPr>
          <p:spPr>
            <a:xfrm>
              <a:off x="809624" y="5291710"/>
              <a:ext cx="4833937" cy="11543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992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loss.backward</a:t>
              </a:r>
              <a:r>
                <a:rPr lang="en-US" sz="1200" b="1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()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단 한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줄로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복잡한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미분값을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자동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계산합니다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.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오차가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줄어드는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가장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가파른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내리막길을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찾는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과정입니다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.</a:t>
              </a:r>
              <a:endParaRPr sz="1200" dirty="0"/>
            </a:p>
          </p:txBody>
        </p:sp>
        <p:pic>
          <p:nvPicPr>
            <p:cNvPr id="50" name="Google Shape;114;p15" descr="image.png">
              <a:extLst>
                <a:ext uri="{FF2B5EF4-FFF2-40B4-BE49-F238E27FC236}">
                  <a16:creationId xmlns:a16="http://schemas.microsoft.com/office/drawing/2014/main" id="{6355930D-FCA5-47EC-A819-4158710E1E4F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072062" y="4552950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1" name="Google Shape;122;p15">
              <a:extLst>
                <a:ext uri="{FF2B5EF4-FFF2-40B4-BE49-F238E27FC236}">
                  <a16:creationId xmlns:a16="http://schemas.microsoft.com/office/drawing/2014/main" id="{80A4FBFE-5F0C-4695-BED5-5D27DF687031}"/>
                </a:ext>
              </a:extLst>
            </p:cNvPr>
            <p:cNvSpPr txBox="1"/>
            <p:nvPr/>
          </p:nvSpPr>
          <p:spPr>
            <a:xfrm>
              <a:off x="809624" y="4260202"/>
              <a:ext cx="1571624" cy="4809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 dirty="0">
                  <a:solidFill>
                    <a:srgbClr val="DEFF9A"/>
                  </a:solidFill>
                  <a:latin typeface="Urbanist"/>
                  <a:ea typeface="Urbanist"/>
                  <a:cs typeface="Urbanist"/>
                  <a:sym typeface="Urbanist"/>
                </a:rPr>
                <a:t>Step 4</a:t>
              </a:r>
              <a:endParaRPr sz="1500" dirty="0"/>
            </a:p>
          </p:txBody>
        </p:sp>
        <p:sp>
          <p:nvSpPr>
            <p:cNvPr id="52" name="Google Shape;123;p15">
              <a:extLst>
                <a:ext uri="{FF2B5EF4-FFF2-40B4-BE49-F238E27FC236}">
                  <a16:creationId xmlns:a16="http://schemas.microsoft.com/office/drawing/2014/main" id="{CB93BCD6-6B4F-4B17-8EC3-2813E4539880}"/>
                </a:ext>
              </a:extLst>
            </p:cNvPr>
            <p:cNvSpPr txBox="1"/>
            <p:nvPr/>
          </p:nvSpPr>
          <p:spPr>
            <a:xfrm>
              <a:off x="809624" y="4916616"/>
              <a:ext cx="2187171" cy="4168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역전파</a:t>
              </a:r>
              <a:r>
                <a:rPr lang="en-US" sz="13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(Backward)</a:t>
              </a:r>
              <a:endParaRPr sz="1300" dirty="0"/>
            </a:p>
          </p:txBody>
        </p:sp>
        <p:pic>
          <p:nvPicPr>
            <p:cNvPr id="53" name="Google Shape;124;p15" descr="image.png">
              <a:extLst>
                <a:ext uri="{FF2B5EF4-FFF2-40B4-BE49-F238E27FC236}">
                  <a16:creationId xmlns:a16="http://schemas.microsoft.com/office/drawing/2014/main" id="{B0950142-F221-4A94-8B57-9D393638FA07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243512" y="4724400"/>
              <a:ext cx="228600" cy="228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F7E981F3-0032-4C6F-9684-10406BACC5D3}"/>
              </a:ext>
            </a:extLst>
          </p:cNvPr>
          <p:cNvGrpSpPr/>
          <p:nvPr/>
        </p:nvGrpSpPr>
        <p:grpSpPr>
          <a:xfrm>
            <a:off x="4572000" y="4023990"/>
            <a:ext cx="4223941" cy="1910259"/>
            <a:chOff x="6215062" y="4100512"/>
            <a:chExt cx="5500687" cy="2487662"/>
          </a:xfrm>
        </p:grpSpPr>
        <p:pic>
          <p:nvPicPr>
            <p:cNvPr id="55" name="Google Shape;106;p15" descr="image.png">
              <a:extLst>
                <a:ext uri="{FF2B5EF4-FFF2-40B4-BE49-F238E27FC236}">
                  <a16:creationId xmlns:a16="http://schemas.microsoft.com/office/drawing/2014/main" id="{BEFA3C1D-5EEB-4518-BA90-BF15F78455BA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6215062" y="4100512"/>
              <a:ext cx="5500687" cy="24876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6" name="Google Shape;111;p15">
              <a:extLst>
                <a:ext uri="{FF2B5EF4-FFF2-40B4-BE49-F238E27FC236}">
                  <a16:creationId xmlns:a16="http://schemas.microsoft.com/office/drawing/2014/main" id="{5E815BDC-D466-4D25-A5AC-7295C4873F04}"/>
                </a:ext>
              </a:extLst>
            </p:cNvPr>
            <p:cNvSpPr txBox="1"/>
            <p:nvPr/>
          </p:nvSpPr>
          <p:spPr>
            <a:xfrm>
              <a:off x="6548436" y="5294920"/>
              <a:ext cx="4833937" cy="11543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992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optimizer.step</a:t>
              </a:r>
              <a:r>
                <a:rPr lang="en-US" sz="1200" b="1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()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을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통해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앞서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찾아낸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최적의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방향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기울기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)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으로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가중치를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실제로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수정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(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업데이트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)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하며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학습을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진행합니다</a:t>
              </a:r>
              <a:r>
                <a:rPr lang="en-US" sz="12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.</a:t>
              </a:r>
              <a:endParaRPr sz="1200" dirty="0"/>
            </a:p>
          </p:txBody>
        </p:sp>
        <p:pic>
          <p:nvPicPr>
            <p:cNvPr id="57" name="Google Shape;115;p15" descr="image.png">
              <a:extLst>
                <a:ext uri="{FF2B5EF4-FFF2-40B4-BE49-F238E27FC236}">
                  <a16:creationId xmlns:a16="http://schemas.microsoft.com/office/drawing/2014/main" id="{1ED94366-46DC-4205-BD05-2700C9CB8E87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10810875" y="4552950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" name="Google Shape;125;p15">
              <a:extLst>
                <a:ext uri="{FF2B5EF4-FFF2-40B4-BE49-F238E27FC236}">
                  <a16:creationId xmlns:a16="http://schemas.microsoft.com/office/drawing/2014/main" id="{7516DECD-8543-445E-8093-E3A481BF6178}"/>
                </a:ext>
              </a:extLst>
            </p:cNvPr>
            <p:cNvSpPr txBox="1"/>
            <p:nvPr/>
          </p:nvSpPr>
          <p:spPr>
            <a:xfrm>
              <a:off x="6548436" y="4357186"/>
              <a:ext cx="1381125" cy="4809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 b="1" i="0" u="none" strike="noStrike" cap="none" dirty="0">
                  <a:solidFill>
                    <a:srgbClr val="DEFF9A"/>
                  </a:solidFill>
                  <a:latin typeface="Urbanist"/>
                  <a:ea typeface="Urbanist"/>
                  <a:cs typeface="Urbanist"/>
                  <a:sym typeface="Urbanist"/>
                </a:rPr>
                <a:t>Step 5</a:t>
              </a:r>
              <a:endParaRPr sz="1500" dirty="0"/>
            </a:p>
          </p:txBody>
        </p:sp>
        <p:sp>
          <p:nvSpPr>
            <p:cNvPr id="59" name="Google Shape;126;p15">
              <a:extLst>
                <a:ext uri="{FF2B5EF4-FFF2-40B4-BE49-F238E27FC236}">
                  <a16:creationId xmlns:a16="http://schemas.microsoft.com/office/drawing/2014/main" id="{F99FD8A5-BDF5-49C4-9FA7-7E9BCC2A06C4}"/>
                </a:ext>
              </a:extLst>
            </p:cNvPr>
            <p:cNvSpPr txBox="1"/>
            <p:nvPr/>
          </p:nvSpPr>
          <p:spPr>
            <a:xfrm>
              <a:off x="6548436" y="4919826"/>
              <a:ext cx="1840503" cy="4168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가중치</a:t>
              </a:r>
              <a:r>
                <a:rPr lang="en-US" sz="1300" b="0" i="0" u="none" strike="noStrike" cap="none" dirty="0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 </a:t>
              </a:r>
              <a:r>
                <a:rPr lang="en-US" sz="1300" b="0" i="0" u="none" strike="noStrike" cap="none" dirty="0" err="1">
                  <a:solidFill>
                    <a:srgbClr val="F5F5F5"/>
                  </a:solidFill>
                  <a:latin typeface="Urbanist"/>
                  <a:ea typeface="Urbanist"/>
                  <a:cs typeface="Urbanist"/>
                  <a:sym typeface="Urbanist"/>
                </a:rPr>
                <a:t>업데이트</a:t>
              </a:r>
              <a:endParaRPr sz="1300" dirty="0"/>
            </a:p>
          </p:txBody>
        </p:sp>
        <p:pic>
          <p:nvPicPr>
            <p:cNvPr id="60" name="Google Shape;127;p15" descr="image.png">
              <a:extLst>
                <a:ext uri="{FF2B5EF4-FFF2-40B4-BE49-F238E27FC236}">
                  <a16:creationId xmlns:a16="http://schemas.microsoft.com/office/drawing/2014/main" id="{73898C58-FAB0-4F6A-AEA1-8DEEEAC61E28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10968037" y="4724400"/>
              <a:ext cx="257175" cy="2286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035205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nn.Module</a:t>
            </a:r>
            <a:r>
              <a:rPr lang="ko-KR" altLang="en-US" dirty="0"/>
              <a:t>은 </a:t>
            </a:r>
            <a:r>
              <a:rPr lang="ko-KR" altLang="en-US" dirty="0" err="1"/>
              <a:t>파이토치에서</a:t>
            </a:r>
            <a:r>
              <a:rPr lang="ko-KR" altLang="en-US" dirty="0"/>
              <a:t> 인공 신경망을 만드는 가장 튼튼한 기본 뼈대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__</a:t>
            </a:r>
            <a:r>
              <a:rPr lang="en-US" altLang="ko-KR" dirty="0" err="1"/>
              <a:t>init</a:t>
            </a:r>
            <a:r>
              <a:rPr lang="en-US" altLang="ko-KR" dirty="0"/>
              <a:t>__ </a:t>
            </a:r>
            <a:r>
              <a:rPr lang="ko-KR" altLang="en-US" dirty="0"/>
              <a:t>함수</a:t>
            </a:r>
            <a:r>
              <a:rPr lang="en-US" altLang="ko-KR" dirty="0"/>
              <a:t>: </a:t>
            </a:r>
            <a:r>
              <a:rPr lang="ko-KR" altLang="en-US" dirty="0"/>
              <a:t>요리를 시작하기 전 재료를 준비하듯</a:t>
            </a:r>
            <a:r>
              <a:rPr lang="en-US" altLang="ko-KR" dirty="0"/>
              <a:t>, </a:t>
            </a:r>
            <a:r>
              <a:rPr lang="ko-KR" altLang="en-US" dirty="0"/>
              <a:t>사용할 레고 블록</a:t>
            </a:r>
            <a:r>
              <a:rPr lang="en-US" altLang="ko-KR" dirty="0"/>
              <a:t>(Linear </a:t>
            </a:r>
            <a:r>
              <a:rPr lang="ko-KR" altLang="en-US" dirty="0"/>
              <a:t>레이어 등</a:t>
            </a:r>
            <a:r>
              <a:rPr lang="en-US" altLang="ko-KR" dirty="0"/>
              <a:t>)</a:t>
            </a:r>
            <a:r>
              <a:rPr lang="ko-KR" altLang="en-US" dirty="0"/>
              <a:t>을 미리 선언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forward </a:t>
            </a:r>
            <a:r>
              <a:rPr lang="ko-KR" altLang="en-US" dirty="0"/>
              <a:t>함수</a:t>
            </a:r>
            <a:r>
              <a:rPr lang="en-US" altLang="ko-KR" dirty="0"/>
              <a:t>: </a:t>
            </a:r>
            <a:r>
              <a:rPr lang="ko-KR" altLang="en-US" dirty="0"/>
              <a:t>준비된 블록들을 어떤 순서로 끼워 맞춰 데이터를 통과시킬지 조립 레시피를 정의합니다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신경망</a:t>
            </a:r>
            <a:r>
              <a:rPr lang="en-US" altLang="ko-KR" sz="2300" dirty="0"/>
              <a:t>(</a:t>
            </a:r>
            <a:r>
              <a:rPr lang="en-US" altLang="ko-KR" sz="2300" dirty="0" err="1"/>
              <a:t>nn.Module</a:t>
            </a:r>
            <a:r>
              <a:rPr lang="en-US" altLang="ko-KR" sz="2300" dirty="0"/>
              <a:t>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449207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인공 신경망은 사람 뇌의 신경세포</a:t>
            </a:r>
            <a:r>
              <a:rPr lang="en-US" altLang="ko-KR" dirty="0"/>
              <a:t>(</a:t>
            </a:r>
            <a:r>
              <a:rPr lang="ko-KR" altLang="en-US" dirty="0"/>
              <a:t>뉴런</a:t>
            </a:r>
            <a:r>
              <a:rPr lang="en-US" altLang="ko-KR" dirty="0"/>
              <a:t>)</a:t>
            </a:r>
            <a:r>
              <a:rPr lang="ko-KR" altLang="en-US" dirty="0"/>
              <a:t>가 복잡하게 연결되어 학습하는 방식을 완벽하게 흉내 낸 수학적 모델입니다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수많은 형태의 입력 데이터에 가중치</a:t>
            </a:r>
            <a:r>
              <a:rPr lang="en-US" altLang="ko-KR" dirty="0"/>
              <a:t>(</a:t>
            </a:r>
            <a:r>
              <a:rPr lang="ko-KR" altLang="en-US" dirty="0"/>
              <a:t>중요도</a:t>
            </a:r>
            <a:r>
              <a:rPr lang="en-US" altLang="ko-KR" dirty="0"/>
              <a:t>)</a:t>
            </a:r>
            <a:r>
              <a:rPr lang="ko-KR" altLang="en-US" dirty="0"/>
              <a:t>를 곱하고 편향</a:t>
            </a:r>
            <a:r>
              <a:rPr lang="en-US" altLang="ko-KR" dirty="0"/>
              <a:t>(</a:t>
            </a:r>
            <a:r>
              <a:rPr lang="ko-KR" altLang="en-US" dirty="0"/>
              <a:t>기준치</a:t>
            </a:r>
            <a:r>
              <a:rPr lang="en-US" altLang="ko-KR" dirty="0"/>
              <a:t>)</a:t>
            </a:r>
            <a:r>
              <a:rPr lang="ko-KR" altLang="en-US" dirty="0"/>
              <a:t>을 더한 후</a:t>
            </a:r>
            <a:r>
              <a:rPr lang="en-US" altLang="ko-KR" dirty="0"/>
              <a:t>, </a:t>
            </a:r>
            <a:r>
              <a:rPr lang="ko-KR" altLang="en-US" dirty="0"/>
              <a:t>다음 단계로 넘어갈지 판단하는 과정을 거칩니다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인공 신경망</a:t>
            </a:r>
            <a:r>
              <a:rPr lang="en-US" altLang="ko-KR" sz="2300" dirty="0"/>
              <a:t>(ANN)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978531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가중치</a:t>
            </a:r>
            <a:r>
              <a:rPr lang="en-US" altLang="ko-KR" dirty="0"/>
              <a:t>(Weight) &amp; </a:t>
            </a:r>
            <a:r>
              <a:rPr lang="ko-KR" altLang="en-US" dirty="0"/>
              <a:t>편향</a:t>
            </a:r>
            <a:r>
              <a:rPr lang="en-US" altLang="ko-KR" dirty="0"/>
              <a:t>(Bias)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가중치는 들어오는 각 정보의 상대적인 </a:t>
            </a:r>
            <a:r>
              <a:rPr lang="en-US" altLang="ko-KR" dirty="0"/>
              <a:t>'</a:t>
            </a:r>
            <a:r>
              <a:rPr lang="ko-KR" altLang="en-US" dirty="0"/>
              <a:t>중요도</a:t>
            </a:r>
            <a:r>
              <a:rPr lang="en-US" altLang="ko-KR" dirty="0"/>
              <a:t>'</a:t>
            </a:r>
            <a:r>
              <a:rPr lang="ko-KR" altLang="en-US" dirty="0"/>
              <a:t>를 결정하며</a:t>
            </a:r>
            <a:r>
              <a:rPr lang="en-US" altLang="ko-KR" dirty="0"/>
              <a:t>, </a:t>
            </a:r>
            <a:r>
              <a:rPr lang="ko-KR" altLang="en-US" dirty="0"/>
              <a:t>편향은 신경망이 활성화되기 위한 </a:t>
            </a:r>
            <a:r>
              <a:rPr lang="en-US" altLang="ko-KR" dirty="0"/>
              <a:t>'</a:t>
            </a:r>
            <a:r>
              <a:rPr lang="ko-KR" altLang="en-US" dirty="0"/>
              <a:t>기준선</a:t>
            </a:r>
            <a:r>
              <a:rPr lang="en-US" altLang="ko-KR" dirty="0"/>
              <a:t>' </a:t>
            </a:r>
            <a:r>
              <a:rPr lang="ko-KR" altLang="en-US" dirty="0"/>
              <a:t>역할을 수행합니다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딥러닝 모델이 데이터를 보고 </a:t>
            </a:r>
            <a:r>
              <a:rPr lang="en-US" altLang="ko-KR" dirty="0"/>
              <a:t>"</a:t>
            </a:r>
            <a:r>
              <a:rPr lang="ko-KR" altLang="en-US" dirty="0"/>
              <a:t>학습한다</a:t>
            </a:r>
            <a:r>
              <a:rPr lang="en-US" altLang="ko-KR" dirty="0"/>
              <a:t>"</a:t>
            </a:r>
            <a:r>
              <a:rPr lang="ko-KR" altLang="en-US" dirty="0"/>
              <a:t>는 것은</a:t>
            </a:r>
            <a:r>
              <a:rPr lang="en-US" altLang="ko-KR" dirty="0"/>
              <a:t>, </a:t>
            </a:r>
            <a:r>
              <a:rPr lang="ko-KR" altLang="en-US" dirty="0"/>
              <a:t>결국 오차를 줄이기 위해 이 두 개의 숫자 파라미터를 끊임없이 수정해 나가는 과정을 의미합니다</a:t>
            </a:r>
            <a:r>
              <a:rPr lang="en-US" altLang="ko-KR" dirty="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ANN </a:t>
            </a:r>
            <a:r>
              <a:rPr lang="ko-KR" altLang="en-US" sz="2300" dirty="0"/>
              <a:t>핵심 구성 요소</a:t>
            </a:r>
          </a:p>
        </p:txBody>
      </p:sp>
    </p:spTree>
    <p:extLst>
      <p:ext uri="{BB962C8B-B14F-4D97-AF65-F5344CB8AC3E}">
        <p14:creationId xmlns:p14="http://schemas.microsoft.com/office/powerpoint/2010/main" val="1508453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3362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자동 미분 </a:t>
            </a:r>
            <a:r>
              <a:rPr lang="en-US" altLang="ko-KR" dirty="0"/>
              <a:t>(</a:t>
            </a:r>
            <a:r>
              <a:rPr lang="en-US" altLang="ko-KR" dirty="0" err="1"/>
              <a:t>Autograd</a:t>
            </a:r>
            <a:r>
              <a:rPr lang="en-US" altLang="ko-KR" dirty="0"/>
              <a:t>): </a:t>
            </a:r>
            <a:r>
              <a:rPr lang="ko-KR" altLang="en-US" dirty="0"/>
              <a:t>내비게이션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어느 방향으로 가야 오차가 줄어드는지 방향</a:t>
            </a:r>
            <a:r>
              <a:rPr lang="en-US" altLang="ko-KR" dirty="0"/>
              <a:t>(</a:t>
            </a:r>
            <a:r>
              <a:rPr lang="ko-KR" altLang="en-US" dirty="0"/>
              <a:t>기울기</a:t>
            </a:r>
            <a:r>
              <a:rPr lang="en-US" altLang="ko-KR" dirty="0"/>
              <a:t>)</a:t>
            </a:r>
            <a:r>
              <a:rPr lang="ko-KR" altLang="en-US" dirty="0"/>
              <a:t>만 알려줍니다</a:t>
            </a:r>
            <a:r>
              <a:rPr lang="en-US" altLang="ko-KR" dirty="0"/>
              <a:t>. </a:t>
            </a:r>
            <a:r>
              <a:rPr lang="ko-KR" altLang="en-US" dirty="0"/>
              <a:t>실제 이동은 하지 않습니다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최적화 </a:t>
            </a:r>
            <a:r>
              <a:rPr lang="en-US" altLang="ko-KR" dirty="0"/>
              <a:t>(Optimizer): </a:t>
            </a:r>
            <a:r>
              <a:rPr lang="ko-KR" altLang="en-US" dirty="0"/>
              <a:t>운전자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내비게이션이 알려준 방향으로 보폭을 얼마나 크게 할지</a:t>
            </a:r>
            <a:r>
              <a:rPr lang="en-US" altLang="ko-KR" dirty="0"/>
              <a:t>, </a:t>
            </a:r>
            <a:r>
              <a:rPr lang="ko-KR" altLang="en-US" dirty="0"/>
              <a:t>관성을 어떻게 줄지 결정하며 실제로 모델을 이동시키는</a:t>
            </a:r>
            <a:r>
              <a:rPr lang="en-US" altLang="ko-KR" dirty="0"/>
              <a:t>(</a:t>
            </a:r>
            <a:r>
              <a:rPr lang="ko-KR" altLang="en-US" dirty="0"/>
              <a:t>학습시키는</a:t>
            </a:r>
            <a:r>
              <a:rPr lang="en-US" altLang="ko-KR" dirty="0"/>
              <a:t>) </a:t>
            </a:r>
            <a:r>
              <a:rPr lang="ko-KR" altLang="en-US" dirty="0"/>
              <a:t>역할을 합니다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자동 미분 </a:t>
            </a:r>
            <a:r>
              <a:rPr lang="en-US" altLang="ko-KR" sz="2300" dirty="0"/>
              <a:t>vs </a:t>
            </a:r>
            <a:r>
              <a:rPr lang="ko-KR" altLang="en-US" sz="2300" dirty="0"/>
              <a:t>최적화</a:t>
            </a:r>
            <a:r>
              <a:rPr lang="en-US" altLang="ko-KR" sz="2300" dirty="0"/>
              <a:t>(Optimizer)</a:t>
            </a:r>
          </a:p>
        </p:txBody>
      </p:sp>
    </p:spTree>
    <p:extLst>
      <p:ext uri="{BB962C8B-B14F-4D97-AF65-F5344CB8AC3E}">
        <p14:creationId xmlns:p14="http://schemas.microsoft.com/office/powerpoint/2010/main" val="1193846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최적화 알고리즘의 진화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DCA32A2-B354-4304-AD5D-5D0BA38C7E6C}"/>
              </a:ext>
            </a:extLst>
          </p:cNvPr>
          <p:cNvGrpSpPr/>
          <p:nvPr/>
        </p:nvGrpSpPr>
        <p:grpSpPr>
          <a:xfrm>
            <a:off x="462461" y="1916832"/>
            <a:ext cx="8219078" cy="3488854"/>
            <a:chOff x="571500" y="1596330"/>
            <a:chExt cx="11049148" cy="4690169"/>
          </a:xfrm>
        </p:grpSpPr>
        <p:pic>
          <p:nvPicPr>
            <p:cNvPr id="8" name="Google Shape;186;p21" descr="image.png">
              <a:extLst>
                <a:ext uri="{FF2B5EF4-FFF2-40B4-BE49-F238E27FC236}">
                  <a16:creationId xmlns:a16="http://schemas.microsoft.com/office/drawing/2014/main" id="{B29D95CC-3619-4E8A-B65F-E31F3FF4F1CB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71500" y="1596330"/>
              <a:ext cx="3492549" cy="469016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oogle Shape;187;p21" descr="image.png">
              <a:extLst>
                <a:ext uri="{FF2B5EF4-FFF2-40B4-BE49-F238E27FC236}">
                  <a16:creationId xmlns:a16="http://schemas.microsoft.com/office/drawing/2014/main" id="{766161AB-97E1-425C-90E7-6EB4C928A0EF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349799" y="1596330"/>
              <a:ext cx="3492549" cy="469016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88;p21" descr="image.png">
              <a:extLst>
                <a:ext uri="{FF2B5EF4-FFF2-40B4-BE49-F238E27FC236}">
                  <a16:creationId xmlns:a16="http://schemas.microsoft.com/office/drawing/2014/main" id="{07BB3150-8CC5-4063-9158-C535DAF96C62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8128099" y="1596330"/>
              <a:ext cx="3492549" cy="469016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" name="Google Shape;189;p21" descr="image.png">
              <a:extLst>
                <a:ext uri="{FF2B5EF4-FFF2-40B4-BE49-F238E27FC236}">
                  <a16:creationId xmlns:a16="http://schemas.microsoft.com/office/drawing/2014/main" id="{62A0D0A3-246F-47BA-B5A6-E481C1FDAFAE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66775" y="1986855"/>
              <a:ext cx="762000" cy="76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Google Shape;190;p21">
              <a:extLst>
                <a:ext uri="{FF2B5EF4-FFF2-40B4-BE49-F238E27FC236}">
                  <a16:creationId xmlns:a16="http://schemas.microsoft.com/office/drawing/2014/main" id="{0FD3B47C-2849-46E1-9B95-2D737112E900}"/>
                </a:ext>
              </a:extLst>
            </p:cNvPr>
            <p:cNvSpPr txBox="1"/>
            <p:nvPr/>
          </p:nvSpPr>
          <p:spPr>
            <a:xfrm>
              <a:off x="866775" y="2986980"/>
              <a:ext cx="3047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99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1" i="0" u="none" strike="noStrike" cap="none" dirty="0">
                  <a:solidFill>
                    <a:srgbClr val="F8FAFC"/>
                  </a:solidFill>
                  <a:latin typeface="Arial"/>
                  <a:ea typeface="Arial"/>
                  <a:cs typeface="Arial"/>
                  <a:sym typeface="Arial"/>
                </a:rPr>
                <a:t>SGD</a:t>
              </a:r>
              <a:endParaRPr dirty="0"/>
            </a:p>
          </p:txBody>
        </p:sp>
        <p:sp>
          <p:nvSpPr>
            <p:cNvPr id="14" name="Google Shape;191;p21">
              <a:extLst>
                <a:ext uri="{FF2B5EF4-FFF2-40B4-BE49-F238E27FC236}">
                  <a16:creationId xmlns:a16="http://schemas.microsoft.com/office/drawing/2014/main" id="{1EA6847E-F216-44D1-B3B2-05DE8B0288A0}"/>
                </a:ext>
              </a:extLst>
            </p:cNvPr>
            <p:cNvSpPr txBox="1"/>
            <p:nvPr/>
          </p:nvSpPr>
          <p:spPr>
            <a:xfrm>
              <a:off x="866775" y="3476476"/>
              <a:ext cx="29019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(</a:t>
              </a:r>
              <a:r>
                <a:rPr lang="en-US" sz="1650" b="0" i="0" u="none" strike="noStrike" cap="none" dirty="0" err="1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확률적</a:t>
              </a:r>
              <a:r>
                <a:rPr lang="en-US" sz="1650" b="0" i="0" u="none" strike="noStrike" cap="none" dirty="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650" b="0" i="0" u="none" strike="noStrike" cap="none" dirty="0" err="1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경사하강법</a:t>
              </a:r>
              <a:r>
                <a:rPr lang="en-US" sz="1650" b="0" i="0" u="none" strike="noStrike" cap="none" dirty="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)</a:t>
              </a:r>
              <a:endParaRPr dirty="0"/>
            </a:p>
          </p:txBody>
        </p:sp>
        <p:sp>
          <p:nvSpPr>
            <p:cNvPr id="15" name="Google Shape;192;p21">
              <a:extLst>
                <a:ext uri="{FF2B5EF4-FFF2-40B4-BE49-F238E27FC236}">
                  <a16:creationId xmlns:a16="http://schemas.microsoft.com/office/drawing/2014/main" id="{6048612C-BB02-43FA-94C3-F893FB98DA21}"/>
                </a:ext>
              </a:extLst>
            </p:cNvPr>
            <p:cNvSpPr txBox="1"/>
            <p:nvPr/>
          </p:nvSpPr>
          <p:spPr>
            <a:xfrm>
              <a:off x="866775" y="4073222"/>
              <a:ext cx="2901900" cy="15888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눈을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가리고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지팡이로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앞을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짚어가며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1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한 </a:t>
              </a:r>
              <a:r>
                <a:rPr lang="en-US" sz="1200" b="1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걸음씩</a:t>
              </a:r>
              <a:r>
                <a:rPr lang="en-US" sz="1200" b="1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1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조심스럽게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내려갑니다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속도가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느리고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웅덩이에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빠지기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쉽습니다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endParaRPr sz="1200" dirty="0"/>
            </a:p>
          </p:txBody>
        </p:sp>
        <p:pic>
          <p:nvPicPr>
            <p:cNvPr id="16" name="Google Shape;193;p21" descr="image.png">
              <a:extLst>
                <a:ext uri="{FF2B5EF4-FFF2-40B4-BE49-F238E27FC236}">
                  <a16:creationId xmlns:a16="http://schemas.microsoft.com/office/drawing/2014/main" id="{769F8CCD-E5B9-4959-96AF-8B99DFD08722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645074" y="1986855"/>
              <a:ext cx="762000" cy="76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94;p21">
              <a:extLst>
                <a:ext uri="{FF2B5EF4-FFF2-40B4-BE49-F238E27FC236}">
                  <a16:creationId xmlns:a16="http://schemas.microsoft.com/office/drawing/2014/main" id="{31FB9BC7-CEC9-4E8D-95B7-B449DB00D475}"/>
                </a:ext>
              </a:extLst>
            </p:cNvPr>
            <p:cNvSpPr txBox="1"/>
            <p:nvPr/>
          </p:nvSpPr>
          <p:spPr>
            <a:xfrm>
              <a:off x="4645074" y="2986980"/>
              <a:ext cx="3047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99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1" i="0" u="none" strike="noStrike" cap="none">
                  <a:solidFill>
                    <a:srgbClr val="F8FAFC"/>
                  </a:solidFill>
                  <a:latin typeface="Arial"/>
                  <a:ea typeface="Arial"/>
                  <a:cs typeface="Arial"/>
                  <a:sym typeface="Arial"/>
                </a:rPr>
                <a:t>Momentum</a:t>
              </a:r>
              <a:endParaRPr/>
            </a:p>
          </p:txBody>
        </p:sp>
        <p:sp>
          <p:nvSpPr>
            <p:cNvPr id="18" name="Google Shape;195;p21">
              <a:extLst>
                <a:ext uri="{FF2B5EF4-FFF2-40B4-BE49-F238E27FC236}">
                  <a16:creationId xmlns:a16="http://schemas.microsoft.com/office/drawing/2014/main" id="{AC62F4A6-B85D-4B5C-945E-847DAF9050DB}"/>
                </a:ext>
              </a:extLst>
            </p:cNvPr>
            <p:cNvSpPr txBox="1"/>
            <p:nvPr/>
          </p:nvSpPr>
          <p:spPr>
            <a:xfrm>
              <a:off x="4645074" y="3476476"/>
              <a:ext cx="29019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(관성 추가)</a:t>
              </a:r>
              <a:endParaRPr/>
            </a:p>
          </p:txBody>
        </p:sp>
        <p:sp>
          <p:nvSpPr>
            <p:cNvPr id="19" name="Google Shape;196;p21">
              <a:extLst>
                <a:ext uri="{FF2B5EF4-FFF2-40B4-BE49-F238E27FC236}">
                  <a16:creationId xmlns:a16="http://schemas.microsoft.com/office/drawing/2014/main" id="{A60B95E7-58BF-4F74-9ADA-F17AEC21D086}"/>
                </a:ext>
              </a:extLst>
            </p:cNvPr>
            <p:cNvSpPr txBox="1"/>
            <p:nvPr/>
          </p:nvSpPr>
          <p:spPr>
            <a:xfrm>
              <a:off x="4645073" y="4092231"/>
              <a:ext cx="2901900" cy="15888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내리막길에서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굴러가는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1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눈덩이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와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같습니다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이전에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이동하던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가속도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(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관성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)를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기억하여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,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작은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웅덩이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정도는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밀고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넘어갑니다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endParaRPr sz="1200" dirty="0"/>
            </a:p>
          </p:txBody>
        </p:sp>
        <p:pic>
          <p:nvPicPr>
            <p:cNvPr id="20" name="Google Shape;197;p21" descr="image.png">
              <a:extLst>
                <a:ext uri="{FF2B5EF4-FFF2-40B4-BE49-F238E27FC236}">
                  <a16:creationId xmlns:a16="http://schemas.microsoft.com/office/drawing/2014/main" id="{F4DB5C98-F4A8-4F61-B360-CE92576F7803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423374" y="1986855"/>
              <a:ext cx="762000" cy="76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" name="Google Shape;198;p21">
              <a:extLst>
                <a:ext uri="{FF2B5EF4-FFF2-40B4-BE49-F238E27FC236}">
                  <a16:creationId xmlns:a16="http://schemas.microsoft.com/office/drawing/2014/main" id="{7651BD36-DDBE-4E4E-88A4-61CA79BBC461}"/>
                </a:ext>
              </a:extLst>
            </p:cNvPr>
            <p:cNvSpPr txBox="1"/>
            <p:nvPr/>
          </p:nvSpPr>
          <p:spPr>
            <a:xfrm>
              <a:off x="8423374" y="2986980"/>
              <a:ext cx="3047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995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00" b="1" i="0" u="none" strike="noStrike" cap="none">
                  <a:solidFill>
                    <a:srgbClr val="F8FAFC"/>
                  </a:solidFill>
                  <a:latin typeface="Arial"/>
                  <a:ea typeface="Arial"/>
                  <a:cs typeface="Arial"/>
                  <a:sym typeface="Arial"/>
                </a:rPr>
                <a:t>Adam</a:t>
              </a:r>
              <a:endParaRPr/>
            </a:p>
          </p:txBody>
        </p:sp>
        <p:sp>
          <p:nvSpPr>
            <p:cNvPr id="22" name="Google Shape;199;p21">
              <a:extLst>
                <a:ext uri="{FF2B5EF4-FFF2-40B4-BE49-F238E27FC236}">
                  <a16:creationId xmlns:a16="http://schemas.microsoft.com/office/drawing/2014/main" id="{BADE1B24-298F-464C-B7CD-29F004650334}"/>
                </a:ext>
              </a:extLst>
            </p:cNvPr>
            <p:cNvSpPr txBox="1"/>
            <p:nvPr/>
          </p:nvSpPr>
          <p:spPr>
            <a:xfrm>
              <a:off x="8423374" y="3476476"/>
              <a:ext cx="29019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(딥러닝계의 국룰)</a:t>
              </a:r>
              <a:endParaRPr/>
            </a:p>
          </p:txBody>
        </p:sp>
        <p:sp>
          <p:nvSpPr>
            <p:cNvPr id="23" name="Google Shape;200;p21">
              <a:extLst>
                <a:ext uri="{FF2B5EF4-FFF2-40B4-BE49-F238E27FC236}">
                  <a16:creationId xmlns:a16="http://schemas.microsoft.com/office/drawing/2014/main" id="{76A1F6C3-3B06-4356-B765-969402CA5D3C}"/>
                </a:ext>
              </a:extLst>
            </p:cNvPr>
            <p:cNvSpPr txBox="1"/>
            <p:nvPr/>
          </p:nvSpPr>
          <p:spPr>
            <a:xfrm>
              <a:off x="8423374" y="4072941"/>
              <a:ext cx="2901900" cy="15888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Momentum(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방향성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)과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보폭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조절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능력을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합친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1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자율주행</a:t>
              </a:r>
              <a:r>
                <a:rPr lang="en-US" sz="1200" b="1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1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자동차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입니다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실무에서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가장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기본으로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사용하는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만능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200" b="0" i="0" u="none" strike="noStrike" cap="none" dirty="0" err="1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알고리즘입니다</a:t>
              </a:r>
              <a:r>
                <a:rPr lang="en-US" sz="1200" b="0" i="0" u="none" strike="noStrike" cap="none" dirty="0">
                  <a:solidFill>
                    <a:srgbClr val="CBD5E1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endParaRPr sz="1200" dirty="0"/>
            </a:p>
          </p:txBody>
        </p:sp>
        <p:pic>
          <p:nvPicPr>
            <p:cNvPr id="24" name="Google Shape;201;p21" descr="image.png">
              <a:extLst>
                <a:ext uri="{FF2B5EF4-FFF2-40B4-BE49-F238E27FC236}">
                  <a16:creationId xmlns:a16="http://schemas.microsoft.com/office/drawing/2014/main" id="{FF9FBFB7-914B-4565-A639-BA7C9299CDBE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62025" y="2139255"/>
              <a:ext cx="571500" cy="4572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" name="Google Shape;202;p21" descr="image.png">
              <a:extLst>
                <a:ext uri="{FF2B5EF4-FFF2-40B4-BE49-F238E27FC236}">
                  <a16:creationId xmlns:a16="http://schemas.microsoft.com/office/drawing/2014/main" id="{FFE3EDF1-B41A-47D1-86FC-64A4540B34CB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26049" y="2139255"/>
              <a:ext cx="400050" cy="4572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Google Shape;203;p21" descr="image.png">
              <a:extLst>
                <a:ext uri="{FF2B5EF4-FFF2-40B4-BE49-F238E27FC236}">
                  <a16:creationId xmlns:a16="http://schemas.microsoft.com/office/drawing/2014/main" id="{74605120-6B70-463A-9A9F-D54BB2B3E1F5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8518624" y="2139255"/>
              <a:ext cx="571500" cy="4572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427854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5024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"</a:t>
            </a:r>
            <a:r>
              <a:rPr lang="ko-KR" altLang="en-US" dirty="0"/>
              <a:t>보폭의 크기</a:t>
            </a:r>
            <a:r>
              <a:rPr lang="en-US" altLang="ko-KR" dirty="0"/>
              <a:t>“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모델이 오차를 줄이는 방향으로 한 번 이동할 때 </a:t>
            </a:r>
            <a:r>
              <a:rPr lang="en-US" altLang="ko-KR" dirty="0"/>
              <a:t>'</a:t>
            </a:r>
            <a:r>
              <a:rPr lang="ko-KR" altLang="en-US" dirty="0"/>
              <a:t>얼마나 크게 걸음을 내디딜 것인가</a:t>
            </a:r>
            <a:r>
              <a:rPr lang="en-US" altLang="ko-KR" dirty="0"/>
              <a:t>'</a:t>
            </a:r>
            <a:r>
              <a:rPr lang="ko-KR" altLang="en-US" dirty="0"/>
              <a:t>를 결정합니다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lr</a:t>
            </a:r>
            <a:r>
              <a:rPr lang="en-US" altLang="ko-KR" dirty="0"/>
              <a:t> = 10 (</a:t>
            </a:r>
            <a:r>
              <a:rPr lang="ko-KR" altLang="en-US" dirty="0"/>
              <a:t>너무 큼</a:t>
            </a:r>
            <a:r>
              <a:rPr lang="en-US" altLang="ko-KR" dirty="0"/>
              <a:t>): </a:t>
            </a:r>
            <a:r>
              <a:rPr lang="ko-KR" altLang="en-US" dirty="0"/>
              <a:t>거인의 걸음입니다</a:t>
            </a:r>
            <a:r>
              <a:rPr lang="en-US" altLang="ko-KR" dirty="0"/>
              <a:t>. </a:t>
            </a:r>
            <a:r>
              <a:rPr lang="ko-KR" altLang="en-US" dirty="0"/>
              <a:t>계곡을 건너뛰어 반대편 산 위로 날아갑니다</a:t>
            </a:r>
            <a:r>
              <a:rPr lang="en-US" altLang="ko-KR" dirty="0"/>
              <a:t>. (</a:t>
            </a:r>
            <a:r>
              <a:rPr lang="ko-KR" altLang="en-US" dirty="0"/>
              <a:t>발산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lr</a:t>
            </a:r>
            <a:r>
              <a:rPr lang="en-US" altLang="ko-KR" dirty="0"/>
              <a:t> = 0.00001 (</a:t>
            </a:r>
            <a:r>
              <a:rPr lang="ko-KR" altLang="en-US" dirty="0"/>
              <a:t>너무 작음</a:t>
            </a:r>
            <a:r>
              <a:rPr lang="en-US" altLang="ko-KR" dirty="0"/>
              <a:t>): </a:t>
            </a:r>
            <a:r>
              <a:rPr lang="ko-KR" altLang="en-US" dirty="0"/>
              <a:t>개미의 걸음입니다</a:t>
            </a:r>
            <a:r>
              <a:rPr lang="en-US" altLang="ko-KR" dirty="0"/>
              <a:t>. </a:t>
            </a:r>
            <a:r>
              <a:rPr lang="ko-KR" altLang="en-US" dirty="0"/>
              <a:t>바닥에 도착하려면 평생이 걸립니다</a:t>
            </a:r>
            <a:r>
              <a:rPr lang="en-US" altLang="ko-KR" dirty="0"/>
              <a:t>. (</a:t>
            </a:r>
            <a:r>
              <a:rPr lang="ko-KR" altLang="en-US" dirty="0"/>
              <a:t>학습 지연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lr</a:t>
            </a:r>
            <a:r>
              <a:rPr lang="en-US" altLang="ko-KR" dirty="0"/>
              <a:t> = 0.01 (</a:t>
            </a:r>
            <a:r>
              <a:rPr lang="ko-KR" altLang="en-US" dirty="0"/>
              <a:t>적절함</a:t>
            </a:r>
            <a:r>
              <a:rPr lang="en-US" altLang="ko-KR" dirty="0"/>
              <a:t>): </a:t>
            </a:r>
            <a:r>
              <a:rPr lang="ko-KR" altLang="en-US" dirty="0"/>
              <a:t>사람의 걸음으로 안정적으로 산을 내려갑니다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핵심 파라미터 </a:t>
            </a:r>
            <a:r>
              <a:rPr lang="en-US" altLang="ko-KR" sz="2300" dirty="0"/>
              <a:t>1: </a:t>
            </a:r>
            <a:r>
              <a:rPr lang="ko-KR" altLang="en-US" sz="2300" dirty="0" err="1"/>
              <a:t>학습률</a:t>
            </a:r>
            <a:r>
              <a:rPr lang="ko-KR" altLang="en-US" sz="2300" dirty="0"/>
              <a:t> </a:t>
            </a:r>
            <a:r>
              <a:rPr lang="en-US" altLang="ko-KR" sz="2300" dirty="0"/>
              <a:t>(</a:t>
            </a:r>
            <a:r>
              <a:rPr lang="en-US" altLang="ko-KR" sz="2300" dirty="0" err="1"/>
              <a:t>lr</a:t>
            </a:r>
            <a:r>
              <a:rPr lang="en-US" altLang="ko-KR" sz="23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823639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808"/>
            <a:ext cx="7200800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"</a:t>
            </a:r>
            <a:r>
              <a:rPr lang="ko-KR" altLang="en-US" dirty="0"/>
              <a:t>과거의 관성 유지 비율</a:t>
            </a:r>
            <a:r>
              <a:rPr lang="en-US" altLang="ko-KR" dirty="0"/>
              <a:t>“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 err="1"/>
              <a:t>방지턱</a:t>
            </a:r>
            <a:r>
              <a:rPr lang="en-US" altLang="ko-KR" dirty="0"/>
              <a:t>(Local Minima)</a:t>
            </a:r>
            <a:r>
              <a:rPr lang="ko-KR" altLang="en-US" dirty="0"/>
              <a:t>을 만났을 때</a:t>
            </a:r>
            <a:r>
              <a:rPr lang="en-US" altLang="ko-KR" dirty="0"/>
              <a:t>, </a:t>
            </a:r>
            <a:r>
              <a:rPr lang="ko-KR" altLang="en-US" dirty="0"/>
              <a:t>브레이크를 밟지 않고 기존에 달려오던 힘</a:t>
            </a:r>
            <a:r>
              <a:rPr lang="en-US" altLang="ko-KR" dirty="0"/>
              <a:t>(</a:t>
            </a:r>
            <a:r>
              <a:rPr lang="ko-KR" altLang="en-US" dirty="0"/>
              <a:t>관성</a:t>
            </a:r>
            <a:r>
              <a:rPr lang="en-US" altLang="ko-KR" dirty="0"/>
              <a:t>)</a:t>
            </a:r>
            <a:r>
              <a:rPr lang="ko-KR" altLang="en-US" dirty="0"/>
              <a:t>을 이용해 가뿐히 타고 넘어가는 원리입니다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momentum = 0.9 </a:t>
            </a:r>
            <a:r>
              <a:rPr lang="ko-KR" altLang="en-US" dirty="0"/>
              <a:t>의 의미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"</a:t>
            </a:r>
            <a:r>
              <a:rPr lang="ko-KR" altLang="en-US" dirty="0"/>
              <a:t>방금 전까지 달려오던 속도와 방향을 </a:t>
            </a:r>
            <a:r>
              <a:rPr lang="en-US" altLang="ko-KR" dirty="0"/>
              <a:t>90% </a:t>
            </a:r>
            <a:r>
              <a:rPr lang="ko-KR" altLang="en-US" dirty="0"/>
              <a:t>유지하고</a:t>
            </a:r>
            <a:r>
              <a:rPr lang="en-US" altLang="ko-KR" dirty="0"/>
              <a:t>, </a:t>
            </a:r>
            <a:r>
              <a:rPr lang="ko-KR" altLang="en-US" dirty="0"/>
              <a:t>현재 </a:t>
            </a:r>
            <a:r>
              <a:rPr lang="ko-KR" altLang="en-US" dirty="0" err="1"/>
              <a:t>발밑의</a:t>
            </a:r>
            <a:r>
              <a:rPr lang="ko-KR" altLang="en-US" dirty="0"/>
              <a:t> 새로운 경사는 </a:t>
            </a:r>
            <a:r>
              <a:rPr lang="en-US" altLang="ko-KR" dirty="0"/>
              <a:t>10%</a:t>
            </a:r>
            <a:r>
              <a:rPr lang="ko-KR" altLang="en-US" dirty="0"/>
              <a:t>만 반영하겠다</a:t>
            </a:r>
            <a:r>
              <a:rPr lang="en-US" altLang="ko-KR" dirty="0"/>
              <a:t>"</a:t>
            </a:r>
            <a:r>
              <a:rPr lang="ko-KR" altLang="en-US" dirty="0"/>
              <a:t>는 뜻으로 실무에서 널리 쓰이는 표준 수치입니다</a:t>
            </a:r>
            <a:r>
              <a:rPr lang="en-US" altLang="ko-KR" dirty="0"/>
              <a:t>.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핵심 파라미터 </a:t>
            </a:r>
            <a:r>
              <a:rPr lang="en-US" altLang="ko-KR" sz="2300" dirty="0"/>
              <a:t>2: </a:t>
            </a:r>
            <a:r>
              <a:rPr lang="ko-KR" altLang="en-US" sz="2300" dirty="0"/>
              <a:t>모멘텀 </a:t>
            </a:r>
            <a:r>
              <a:rPr lang="en-US" altLang="ko-KR" sz="2300" dirty="0"/>
              <a:t>(momentum)</a:t>
            </a:r>
          </a:p>
        </p:txBody>
      </p:sp>
    </p:spTree>
    <p:extLst>
      <p:ext uri="{BB962C8B-B14F-4D97-AF65-F5344CB8AC3E}">
        <p14:creationId xmlns:p14="http://schemas.microsoft.com/office/powerpoint/2010/main" val="3301157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3068960"/>
            <a:ext cx="8640960" cy="35283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/>
          <p:cNvSpPr/>
          <p:nvPr/>
        </p:nvSpPr>
        <p:spPr>
          <a:xfrm>
            <a:off x="2627784" y="10527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99792" y="2564904"/>
            <a:ext cx="38164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THANK</a:t>
            </a:r>
          </a:p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YOU</a:t>
            </a:r>
            <a:endParaRPr lang="ko-KR" altLang="en-US"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786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18092</TotalTime>
  <Words>1230</Words>
  <Application>Microsoft Office PowerPoint</Application>
  <PresentationFormat>화면 슬라이드 쇼(4:3)</PresentationFormat>
  <Paragraphs>143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HY헤드라인M</vt:lpstr>
      <vt:lpstr>맑은 고딕</vt:lpstr>
      <vt:lpstr>Arial</vt:lpstr>
      <vt:lpstr>Urbanist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minhee park</dc:creator>
  <cp:lastModifiedBy>병선 문</cp:lastModifiedBy>
  <cp:revision>167</cp:revision>
  <dcterms:created xsi:type="dcterms:W3CDTF">2016-11-03T20:47:04Z</dcterms:created>
  <dcterms:modified xsi:type="dcterms:W3CDTF">2026-05-19T15:24:07Z</dcterms:modified>
</cp:coreProperties>
</file>